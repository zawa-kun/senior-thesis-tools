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91" r:id="rId3"/>
    <p:sldId id="269" r:id="rId4"/>
    <p:sldId id="293" r:id="rId5"/>
    <p:sldId id="305" r:id="rId6"/>
    <p:sldId id="294" r:id="rId7"/>
    <p:sldId id="295" r:id="rId8"/>
    <p:sldId id="296" r:id="rId9"/>
    <p:sldId id="299" r:id="rId10"/>
    <p:sldId id="306" r:id="rId11"/>
    <p:sldId id="297" r:id="rId12"/>
    <p:sldId id="298" r:id="rId13"/>
    <p:sldId id="307" r:id="rId14"/>
    <p:sldId id="281" r:id="rId15"/>
    <p:sldId id="301" r:id="rId16"/>
    <p:sldId id="302" r:id="rId17"/>
    <p:sldId id="308" r:id="rId18"/>
    <p:sldId id="304" r:id="rId19"/>
  </p:sldIdLst>
  <p:sldSz cx="9144000" cy="5143500" type="screen16x9"/>
  <p:notesSz cx="6858000" cy="9144000"/>
  <p:embeddedFontLst>
    <p:embeddedFont>
      <p:font typeface="Abadi" panose="020B0604020104020204" pitchFamily="34" charset="0"/>
      <p:regular r:id="rId21"/>
      <p:bold r:id="rId22"/>
      <p:italic r:id="rId23"/>
      <p:boldItalic r:id="rId24"/>
    </p:embeddedFont>
    <p:embeddedFont>
      <p:font typeface="BIZ UDPゴシック" panose="020B0400000000000000" pitchFamily="50" charset="-128"/>
      <p:regular r:id="rId25"/>
      <p:bold r:id="rId26"/>
    </p:embeddedFont>
    <p:embeddedFont>
      <p:font typeface="Lato" panose="020F0502020204030203" pitchFamily="34" charset="0"/>
      <p:regular r:id="rId27"/>
      <p:bold r:id="rId28"/>
      <p:italic r:id="rId29"/>
      <p:boldItalic r:id="rId30"/>
    </p:embeddedFont>
    <p:embeddedFont>
      <p:font typeface="Raleway"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AE7FD8-7047-B799-FC5E-71D8FE942067}" name="柊 矢沢" initials="柊矢" userId="08f31ff36ec1290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5" autoAdjust="0"/>
    <p:restoredTop sz="75605" autoAdjust="0"/>
  </p:normalViewPr>
  <p:slideViewPr>
    <p:cSldViewPr snapToGrid="0">
      <p:cViewPr varScale="1">
        <p:scale>
          <a:sx n="101" d="100"/>
          <a:sy n="101" d="100"/>
        </p:scale>
        <p:origin x="1812"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microsoft.com/office/2018/10/relationships/authors" Target="authors.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dirty="0"/>
          </a:p>
        </p:txBody>
      </p:sp>
    </p:spTree>
  </p:cSld>
  <p:clrMap bg1="lt1" tx1="dk1" bg2="dk2" tx2="lt2" accent1="accent1" accent2="accent2" accent3="accent3" accent4="accent4" accent5="accent5" accent6="accent6" hlink="hlink" folHlink="folHlink"/>
  <p:notesStyle>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badi" panose="020F0502020204030204" pitchFamily="34" charset="0"/>
        <a:ea typeface="Abadi" panose="020F0502020204030204" pitchFamily="34" charset="0"/>
        <a:cs typeface="Arial"/>
        <a:sym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c6fa3c89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c6fa3c89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私は</a:t>
            </a:r>
            <a:endParaRPr lang="en-US" altLang="ja-JP" dirty="0"/>
          </a:p>
          <a:p>
            <a:pPr marL="0" lvl="0" indent="0" algn="l" rtl="0">
              <a:spcBef>
                <a:spcPts val="0"/>
              </a:spcBef>
              <a:spcAft>
                <a:spcPts val="0"/>
              </a:spcAft>
              <a:buNone/>
            </a:pPr>
            <a:endParaRPr lang="en-US" altLang="ja-JP" dirty="0"/>
          </a:p>
          <a:p>
            <a:pPr marL="0" lvl="0" indent="0" algn="l" rtl="0">
              <a:spcBef>
                <a:spcPts val="0"/>
              </a:spcBef>
              <a:spcAft>
                <a:spcPts val="0"/>
              </a:spcAft>
              <a:buNone/>
            </a:pPr>
            <a:r>
              <a:rPr lang="en-US" altLang="ja-JP" dirty="0"/>
              <a:t>【</a:t>
            </a:r>
            <a:r>
              <a:rPr lang="ja-JP" altLang="en-US" dirty="0"/>
              <a:t>スライド</a:t>
            </a:r>
            <a:r>
              <a:rPr lang="en-US" altLang="ja-JP" dirty="0"/>
              <a:t>】</a:t>
            </a:r>
          </a:p>
          <a:p>
            <a:pPr marL="0" lvl="0" indent="0" algn="l" rtl="0">
              <a:spcBef>
                <a:spcPts val="0"/>
              </a:spcBef>
              <a:spcAft>
                <a:spcPts val="0"/>
              </a:spcAft>
              <a:buNone/>
            </a:pPr>
            <a:endParaRPr lang="en-US" altLang="ja-JP" dirty="0"/>
          </a:p>
          <a:p>
            <a:pPr marL="0" lvl="0" indent="0" algn="l" rtl="0">
              <a:spcBef>
                <a:spcPts val="0"/>
              </a:spcBef>
              <a:spcAft>
                <a:spcPts val="0"/>
              </a:spcAft>
              <a:buNone/>
            </a:pPr>
            <a:r>
              <a:rPr lang="ja-JP" altLang="en-US" dirty="0"/>
              <a:t>というテーマで研究しました。</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4BFA5551-20FE-B1DC-D913-412858844156}"/>
            </a:ext>
          </a:extLst>
        </p:cNvPr>
        <p:cNvGrpSpPr/>
        <p:nvPr/>
      </p:nvGrpSpPr>
      <p:grpSpPr>
        <a:xfrm>
          <a:off x="0" y="0"/>
          <a:ext cx="0" cy="0"/>
          <a:chOff x="0" y="0"/>
          <a:chExt cx="0" cy="0"/>
        </a:xfrm>
      </p:grpSpPr>
      <p:sp>
        <p:nvSpPr>
          <p:cNvPr id="75" name="Google Shape;75;gc6fa3c898_0_5:notes">
            <a:extLst>
              <a:ext uri="{FF2B5EF4-FFF2-40B4-BE49-F238E27FC236}">
                <a16:creationId xmlns:a16="http://schemas.microsoft.com/office/drawing/2014/main" id="{188316A3-2E75-5420-97B7-540BD22255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c6fa3c898_0_5:notes">
            <a:extLst>
              <a:ext uri="{FF2B5EF4-FFF2-40B4-BE49-F238E27FC236}">
                <a16:creationId xmlns:a16="http://schemas.microsoft.com/office/drawing/2014/main" id="{B6F45371-0085-3953-B6C0-A8EEE6060E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発表の流れは</a:t>
            </a:r>
            <a:endParaRPr lang="en-US" altLang="ja-JP" dirty="0"/>
          </a:p>
          <a:p>
            <a:pPr marL="0" lvl="0" indent="0" algn="l" rtl="0">
              <a:spcBef>
                <a:spcPts val="0"/>
              </a:spcBef>
              <a:spcAft>
                <a:spcPts val="0"/>
              </a:spcAft>
              <a:buNone/>
            </a:pPr>
            <a:r>
              <a:rPr lang="en-US" altLang="ja-JP" dirty="0"/>
              <a:t>【</a:t>
            </a:r>
            <a:r>
              <a:rPr lang="ja-JP" altLang="en-US" dirty="0"/>
              <a:t>スライド</a:t>
            </a:r>
            <a:r>
              <a:rPr lang="en-US" altLang="ja-JP" dirty="0"/>
              <a:t>】</a:t>
            </a:r>
          </a:p>
          <a:p>
            <a:pPr marL="0" lvl="0" indent="0" algn="l" rtl="0">
              <a:spcBef>
                <a:spcPts val="0"/>
              </a:spcBef>
              <a:spcAft>
                <a:spcPts val="0"/>
              </a:spcAft>
              <a:buNone/>
            </a:pPr>
            <a:r>
              <a:rPr lang="ja-JP" altLang="en-US" dirty="0"/>
              <a:t>のようになっています。</a:t>
            </a:r>
            <a:endParaRPr lang="en-US" altLang="ja-JP" dirty="0"/>
          </a:p>
        </p:txBody>
      </p:sp>
    </p:spTree>
    <p:extLst>
      <p:ext uri="{BB962C8B-B14F-4D97-AF65-F5344CB8AC3E}">
        <p14:creationId xmlns:p14="http://schemas.microsoft.com/office/powerpoint/2010/main" val="1551205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75DCE79-4F04-33B1-BB4B-DEA403C1F5CB}"/>
            </a:ext>
          </a:extLst>
        </p:cNvPr>
        <p:cNvGrpSpPr/>
        <p:nvPr/>
      </p:nvGrpSpPr>
      <p:grpSpPr>
        <a:xfrm>
          <a:off x="0" y="0"/>
          <a:ext cx="0" cy="0"/>
          <a:chOff x="0" y="0"/>
          <a:chExt cx="0" cy="0"/>
        </a:xfrm>
      </p:grpSpPr>
      <p:sp>
        <p:nvSpPr>
          <p:cNvPr id="81" name="Google Shape;81;gc6fa3c898_0_10:notes">
            <a:extLst>
              <a:ext uri="{FF2B5EF4-FFF2-40B4-BE49-F238E27FC236}">
                <a16:creationId xmlns:a16="http://schemas.microsoft.com/office/drawing/2014/main" id="{D444D23B-C8F8-6721-3CC0-FEAD36638B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c6fa3c898_0_10:notes">
            <a:extLst>
              <a:ext uri="{FF2B5EF4-FFF2-40B4-BE49-F238E27FC236}">
                <a16:creationId xmlns:a16="http://schemas.microsoft.com/office/drawing/2014/main" id="{A1CFB9C2-0FDB-5F8B-4241-D9A4B44D1C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皆さんに翻訳を身近に感じていただくために翻訳の例をご紹介します。</a:t>
            </a:r>
            <a:endParaRPr lang="en-US" altLang="ja-JP" dirty="0"/>
          </a:p>
          <a:p>
            <a:pPr marL="0" lvl="0" indent="0" algn="l" rtl="0">
              <a:spcBef>
                <a:spcPts val="0"/>
              </a:spcBef>
              <a:spcAft>
                <a:spcPts val="0"/>
              </a:spcAft>
              <a:buNone/>
            </a:pPr>
            <a:endParaRPr lang="en-US" dirty="0"/>
          </a:p>
          <a:p>
            <a:pPr marL="0" lvl="0" indent="0" algn="l" rtl="0">
              <a:spcBef>
                <a:spcPts val="0"/>
              </a:spcBef>
              <a:spcAft>
                <a:spcPts val="0"/>
              </a:spcAft>
              <a:buNone/>
            </a:pPr>
            <a:r>
              <a:rPr lang="ja-JP" altLang="en-US" dirty="0"/>
              <a:t>「訳し方で読者の理解は変わる」ここに注目しながらイメージしていただければと思います。</a:t>
            </a:r>
            <a:endParaRPr lang="en-US" altLang="ja-JP" dirty="0"/>
          </a:p>
          <a:p>
            <a:pPr marL="0" lvl="0" indent="0" algn="l" rtl="0">
              <a:spcBef>
                <a:spcPts val="0"/>
              </a:spcBef>
              <a:spcAft>
                <a:spcPts val="0"/>
              </a:spcAft>
              <a:buNone/>
            </a:pPr>
            <a:endParaRPr lang="en-US" altLang="ja-JP" dirty="0"/>
          </a:p>
          <a:p>
            <a:pPr marL="0" lvl="0" indent="0" algn="l" rtl="0">
              <a:spcBef>
                <a:spcPts val="0"/>
              </a:spcBef>
              <a:spcAft>
                <a:spcPts val="0"/>
              </a:spcAft>
              <a:buNone/>
            </a:pPr>
            <a:r>
              <a:rPr lang="en-US" altLang="ja-JP" dirty="0"/>
              <a:t>【</a:t>
            </a:r>
            <a:r>
              <a:rPr lang="ja-JP" altLang="en-US" dirty="0"/>
              <a:t>スライド</a:t>
            </a:r>
            <a:r>
              <a:rPr lang="en-US" altLang="ja-JP" dirty="0"/>
              <a:t>】</a:t>
            </a:r>
          </a:p>
          <a:p>
            <a:pPr marL="0" lvl="0" indent="0" algn="l" rtl="0">
              <a:spcBef>
                <a:spcPts val="0"/>
              </a:spcBef>
              <a:spcAft>
                <a:spcPts val="0"/>
              </a:spcAft>
              <a:buNone/>
            </a:pPr>
            <a:endParaRPr lang="en-US" altLang="ja-JP" dirty="0"/>
          </a:p>
          <a:p>
            <a:pPr marL="0" lvl="0" indent="0" algn="l" rtl="0">
              <a:spcBef>
                <a:spcPts val="0"/>
              </a:spcBef>
              <a:spcAft>
                <a:spcPts val="0"/>
              </a:spcAft>
              <a:buNone/>
            </a:pPr>
            <a:endParaRPr lang="en-US" altLang="ja-JP" dirty="0"/>
          </a:p>
          <a:p>
            <a:pPr marL="0" lvl="0" indent="0" algn="l" rtl="0">
              <a:spcBef>
                <a:spcPts val="0"/>
              </a:spcBef>
              <a:spcAft>
                <a:spcPts val="0"/>
              </a:spcAft>
              <a:buNone/>
            </a:pPr>
            <a:endParaRPr lang="en-US" altLang="ja-JP" dirty="0"/>
          </a:p>
          <a:p>
            <a:pPr marL="0" lvl="0" indent="0" algn="l" rtl="0">
              <a:spcBef>
                <a:spcPts val="0"/>
              </a:spcBef>
              <a:spcAft>
                <a:spcPts val="0"/>
              </a:spcAft>
              <a:buNone/>
            </a:pPr>
            <a:endParaRPr lang="en-US" altLang="ja-JP"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845947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B0842E7-A759-FDB3-7099-BD0252B85974}"/>
            </a:ext>
          </a:extLst>
        </p:cNvPr>
        <p:cNvGrpSpPr/>
        <p:nvPr/>
      </p:nvGrpSpPr>
      <p:grpSpPr>
        <a:xfrm>
          <a:off x="0" y="0"/>
          <a:ext cx="0" cy="0"/>
          <a:chOff x="0" y="0"/>
          <a:chExt cx="0" cy="0"/>
        </a:xfrm>
      </p:grpSpPr>
      <p:sp>
        <p:nvSpPr>
          <p:cNvPr id="81" name="Google Shape;81;gc6fa3c898_0_10:notes">
            <a:extLst>
              <a:ext uri="{FF2B5EF4-FFF2-40B4-BE49-F238E27FC236}">
                <a16:creationId xmlns:a16="http://schemas.microsoft.com/office/drawing/2014/main" id="{0AAEF809-1CF9-DBD7-52D0-8A62FB3E8D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c6fa3c898_0_10:notes">
            <a:extLst>
              <a:ext uri="{FF2B5EF4-FFF2-40B4-BE49-F238E27FC236}">
                <a16:creationId xmlns:a16="http://schemas.microsoft.com/office/drawing/2014/main" id="{4B3A4B17-6FEF-BE71-DDF3-69604AB0FC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5759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AE18F868-7E68-C5C2-B91C-616FBF968084}"/>
            </a:ext>
          </a:extLst>
        </p:cNvPr>
        <p:cNvGrpSpPr/>
        <p:nvPr/>
      </p:nvGrpSpPr>
      <p:grpSpPr>
        <a:xfrm>
          <a:off x="0" y="0"/>
          <a:ext cx="0" cy="0"/>
          <a:chOff x="0" y="0"/>
          <a:chExt cx="0" cy="0"/>
        </a:xfrm>
      </p:grpSpPr>
      <p:sp>
        <p:nvSpPr>
          <p:cNvPr id="75" name="Google Shape;75;gc6fa3c898_0_5:notes">
            <a:extLst>
              <a:ext uri="{FF2B5EF4-FFF2-40B4-BE49-F238E27FC236}">
                <a16:creationId xmlns:a16="http://schemas.microsoft.com/office/drawing/2014/main" id="{D8378FDA-A055-E9BF-02B4-80CF5B6668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c6fa3c898_0_5:notes">
            <a:extLst>
              <a:ext uri="{FF2B5EF4-FFF2-40B4-BE49-F238E27FC236}">
                <a16:creationId xmlns:a16="http://schemas.microsoft.com/office/drawing/2014/main" id="{0A86EA61-7C0C-52EB-6DCE-00F17ECDE7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発表の流れは</a:t>
            </a:r>
            <a:endParaRPr lang="en-US" altLang="ja-JP" dirty="0"/>
          </a:p>
          <a:p>
            <a:pPr marL="0" lvl="0" indent="0" algn="l" rtl="0">
              <a:spcBef>
                <a:spcPts val="0"/>
              </a:spcBef>
              <a:spcAft>
                <a:spcPts val="0"/>
              </a:spcAft>
              <a:buNone/>
            </a:pPr>
            <a:r>
              <a:rPr lang="en-US" altLang="ja-JP" dirty="0"/>
              <a:t>【</a:t>
            </a:r>
            <a:r>
              <a:rPr lang="ja-JP" altLang="en-US" dirty="0"/>
              <a:t>スライド</a:t>
            </a:r>
            <a:r>
              <a:rPr lang="en-US" altLang="ja-JP" dirty="0"/>
              <a:t>】</a:t>
            </a:r>
          </a:p>
          <a:p>
            <a:pPr marL="0" lvl="0" indent="0" algn="l" rtl="0">
              <a:spcBef>
                <a:spcPts val="0"/>
              </a:spcBef>
              <a:spcAft>
                <a:spcPts val="0"/>
              </a:spcAft>
              <a:buNone/>
            </a:pPr>
            <a:r>
              <a:rPr lang="ja-JP" altLang="en-US" dirty="0"/>
              <a:t>のようになっています。</a:t>
            </a:r>
            <a:endParaRPr lang="en-US" altLang="ja-JP" dirty="0"/>
          </a:p>
        </p:txBody>
      </p:sp>
    </p:spTree>
    <p:extLst>
      <p:ext uri="{BB962C8B-B14F-4D97-AF65-F5344CB8AC3E}">
        <p14:creationId xmlns:p14="http://schemas.microsoft.com/office/powerpoint/2010/main" val="1639941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endParaRPr kumimoji="1" lang="ja-JP" altLang="en-US" dirty="0"/>
          </a:p>
        </p:txBody>
      </p:sp>
    </p:spTree>
    <p:extLst>
      <p:ext uri="{BB962C8B-B14F-4D97-AF65-F5344CB8AC3E}">
        <p14:creationId xmlns:p14="http://schemas.microsoft.com/office/powerpoint/2010/main" val="1395202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4AD5D-B9DF-3D20-A1FB-9174DB059E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B4B9D9-A12D-C2B2-2D69-3E7471F50BF3}"/>
              </a:ext>
            </a:extLst>
          </p:cNvPr>
          <p:cNvSpPr>
            <a:spLocks noGrp="1" noRot="1" noChangeAspect="1"/>
          </p:cNvSpPr>
          <p:nvPr>
            <p:ph type="sldImg"/>
          </p:nvPr>
        </p:nvSpPr>
        <p:spPr>
          <a:xfrm>
            <a:off x="381000" y="685800"/>
            <a:ext cx="6096000" cy="3429000"/>
          </a:xfrm>
        </p:spPr>
      </p:sp>
      <p:sp>
        <p:nvSpPr>
          <p:cNvPr id="3" name="ノート プレースホルダー 2">
            <a:extLst>
              <a:ext uri="{FF2B5EF4-FFF2-40B4-BE49-F238E27FC236}">
                <a16:creationId xmlns:a16="http://schemas.microsoft.com/office/drawing/2014/main" id="{01D7B26B-6E4E-CED7-0236-D253E4CB1E84}"/>
              </a:ext>
            </a:extLst>
          </p:cNvPr>
          <p:cNvSpPr>
            <a:spLocks noGrp="1"/>
          </p:cNvSpPr>
          <p:nvPr>
            <p:ph type="body" idx="1"/>
          </p:nvPr>
        </p:nvSpPr>
        <p:spPr/>
        <p:txBody>
          <a:bodyPr/>
          <a:lstStyle/>
          <a:p>
            <a:pPr marL="139700" indent="0">
              <a:buNone/>
            </a:pPr>
            <a:r>
              <a:rPr kumimoji="1" lang="ja-JP" altLang="en-US" dirty="0"/>
              <a:t>次に①で抽出した要素について、</a:t>
            </a:r>
            <a:endParaRPr kumimoji="1" lang="en-US" altLang="ja-JP" dirty="0"/>
          </a:p>
          <a:p>
            <a:pPr marL="139700" indent="0">
              <a:buNone/>
            </a:pPr>
            <a:endParaRPr kumimoji="1" lang="en-US" altLang="ja-JP" dirty="0"/>
          </a:p>
          <a:p>
            <a:pPr marL="139700" indent="0">
              <a:buNone/>
            </a:pPr>
            <a:r>
              <a:rPr kumimoji="1" lang="ja-JP" altLang="en-US" dirty="0"/>
              <a:t>原文から訳文にどう変換されたかを１０技法に分類します。</a:t>
            </a:r>
            <a:endParaRPr kumimoji="1" lang="en-US" altLang="ja-JP" dirty="0"/>
          </a:p>
          <a:p>
            <a:pPr marL="139700" indent="0">
              <a:buNone/>
            </a:pPr>
            <a:endParaRPr kumimoji="1" lang="en-US" altLang="ja-JP" dirty="0"/>
          </a:p>
          <a:p>
            <a:pPr marL="139700" indent="0">
              <a:buNone/>
            </a:pPr>
            <a:r>
              <a:rPr kumimoji="1" lang="ja-JP" altLang="en-US" dirty="0"/>
              <a:t>今回は主要な技法４つをご紹介します。</a:t>
            </a:r>
            <a:endParaRPr kumimoji="1" lang="en-US" altLang="ja-JP" dirty="0"/>
          </a:p>
          <a:p>
            <a:pPr marL="139700" indent="0">
              <a:buNone/>
            </a:pPr>
            <a:endParaRPr kumimoji="1" lang="en-US" altLang="ja-JP" dirty="0"/>
          </a:p>
          <a:p>
            <a:pPr marL="139700" indent="0">
              <a:buNone/>
            </a:pPr>
            <a:r>
              <a:rPr kumimoji="1" lang="en-US" altLang="ja-JP" dirty="0"/>
              <a:t>【</a:t>
            </a:r>
            <a:r>
              <a:rPr kumimoji="1" lang="ja-JP" altLang="en-US" dirty="0"/>
              <a:t>スライド</a:t>
            </a:r>
            <a:r>
              <a:rPr kumimoji="1" lang="en-US" altLang="ja-JP" dirty="0"/>
              <a:t>】</a:t>
            </a:r>
          </a:p>
          <a:p>
            <a:pPr marL="139700" indent="0">
              <a:buNone/>
            </a:pPr>
            <a:endParaRPr kumimoji="1" lang="en-US" altLang="ja-JP" dirty="0"/>
          </a:p>
          <a:p>
            <a:pPr marL="139700" indent="0">
              <a:buNone/>
            </a:pPr>
            <a:r>
              <a:rPr kumimoji="1" lang="ja-JP" altLang="en-US" dirty="0"/>
              <a:t>他の技法は手元の資料でご覧いただけますのでよければご覧ください。</a:t>
            </a:r>
            <a:endParaRPr kumimoji="1" lang="en-US" altLang="ja-JP" dirty="0"/>
          </a:p>
          <a:p>
            <a:pPr marL="139700" indent="0">
              <a:buNone/>
            </a:pPr>
            <a:endParaRPr kumimoji="1" lang="en-US" altLang="ja-JP" dirty="0"/>
          </a:p>
        </p:txBody>
      </p:sp>
    </p:spTree>
    <p:extLst>
      <p:ext uri="{BB962C8B-B14F-4D97-AF65-F5344CB8AC3E}">
        <p14:creationId xmlns:p14="http://schemas.microsoft.com/office/powerpoint/2010/main" val="1477610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1F04C-5CB2-4397-9ADC-8116526BBF3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666DC5F-7BAE-94DE-0752-9F73350E4812}"/>
              </a:ext>
            </a:extLst>
          </p:cNvPr>
          <p:cNvSpPr>
            <a:spLocks noGrp="1" noRot="1" noChangeAspect="1"/>
          </p:cNvSpPr>
          <p:nvPr>
            <p:ph type="sldImg"/>
          </p:nvPr>
        </p:nvSpPr>
        <p:spPr>
          <a:xfrm>
            <a:off x="381000" y="685800"/>
            <a:ext cx="6096000" cy="3429000"/>
          </a:xfrm>
        </p:spPr>
      </p:sp>
      <p:sp>
        <p:nvSpPr>
          <p:cNvPr id="3" name="ノート プレースホルダー 2">
            <a:extLst>
              <a:ext uri="{FF2B5EF4-FFF2-40B4-BE49-F238E27FC236}">
                <a16:creationId xmlns:a16="http://schemas.microsoft.com/office/drawing/2014/main" id="{500381FA-D071-9438-4B24-8A1C7853EF24}"/>
              </a:ext>
            </a:extLst>
          </p:cNvPr>
          <p:cNvSpPr>
            <a:spLocks noGrp="1"/>
          </p:cNvSpPr>
          <p:nvPr>
            <p:ph type="body" idx="1"/>
          </p:nvPr>
        </p:nvSpPr>
        <p:spPr/>
        <p:txBody>
          <a:bodyPr/>
          <a:lstStyle/>
          <a:p>
            <a:pPr marL="139700" indent="0">
              <a:buNone/>
            </a:pPr>
            <a:r>
              <a:rPr kumimoji="1" lang="ja-JP" altLang="en-US" dirty="0"/>
              <a:t>次にまた①で抽出したものに対して、</a:t>
            </a:r>
            <a:endParaRPr kumimoji="1" lang="en-US" altLang="ja-JP" dirty="0"/>
          </a:p>
          <a:p>
            <a:pPr marL="139700" indent="0">
              <a:buNone/>
            </a:pPr>
            <a:r>
              <a:rPr kumimoji="1" lang="ja-JP" altLang="en-US" dirty="0"/>
              <a:t>訳文のみを見て、その記述的特徴から読者の理解度を分類していきます。</a:t>
            </a:r>
            <a:endParaRPr kumimoji="1" lang="en-US" altLang="ja-JP" dirty="0"/>
          </a:p>
          <a:p>
            <a:pPr marL="139700" indent="0">
              <a:buNone/>
            </a:pPr>
            <a:endParaRPr kumimoji="1" lang="en-US" altLang="ja-JP" dirty="0"/>
          </a:p>
          <a:p>
            <a:pPr marL="139700" indent="0">
              <a:buNone/>
            </a:pPr>
            <a:r>
              <a:rPr kumimoji="1" lang="ja-JP" altLang="en-US" dirty="0"/>
              <a:t>その４段階の分類をご紹介します。</a:t>
            </a:r>
            <a:endParaRPr kumimoji="1" lang="en-US" altLang="ja-JP" dirty="0"/>
          </a:p>
          <a:p>
            <a:pPr marL="139700" indent="0">
              <a:buNone/>
            </a:pPr>
            <a:endParaRPr kumimoji="1" lang="en-US" altLang="ja-JP" dirty="0"/>
          </a:p>
          <a:p>
            <a:pPr marL="139700" indent="0">
              <a:buNone/>
            </a:pPr>
            <a:r>
              <a:rPr kumimoji="1" lang="en-US" altLang="ja-JP" dirty="0"/>
              <a:t>【</a:t>
            </a:r>
            <a:r>
              <a:rPr kumimoji="1" lang="ja-JP" altLang="en-US" dirty="0"/>
              <a:t>スライド</a:t>
            </a:r>
            <a:endParaRPr kumimoji="1" lang="en-US" altLang="ja-JP" dirty="0"/>
          </a:p>
          <a:p>
            <a:pPr marL="139700" indent="0">
              <a:buNone/>
            </a:pPr>
            <a:r>
              <a:rPr kumimoji="1" lang="ja-JP" altLang="en-US" dirty="0"/>
              <a:t>説明し方</a:t>
            </a:r>
            <a:endParaRPr kumimoji="1" lang="en-US" altLang="ja-JP" dirty="0"/>
          </a:p>
          <a:p>
            <a:pPr marL="139700" indent="0">
              <a:buNone/>
            </a:pPr>
            <a:r>
              <a:rPr kumimoji="1" lang="ja-JP" altLang="en-US" dirty="0"/>
              <a:t>・</a:t>
            </a:r>
            <a:r>
              <a:rPr kumimoji="1" lang="ja-JP" altLang="en-US" b="1" dirty="0"/>
              <a:t>読者の状態</a:t>
            </a:r>
            <a:r>
              <a:rPr kumimoji="1" lang="ja-JP" altLang="en-US" b="0" dirty="0"/>
              <a:t>が「認知不能」</a:t>
            </a:r>
            <a:r>
              <a:rPr kumimoji="1" lang="ja-JP" altLang="en-US" b="1" dirty="0"/>
              <a:t>になる</a:t>
            </a:r>
            <a:r>
              <a:rPr kumimoji="1" lang="ja-JP" altLang="en-US" b="0" dirty="0"/>
              <a:t>「</a:t>
            </a:r>
            <a:r>
              <a:rPr kumimoji="1" lang="en-US" altLang="ja-JP" b="0" dirty="0"/>
              <a:t>Denial</a:t>
            </a:r>
            <a:r>
              <a:rPr kumimoji="1" lang="ja-JP" altLang="en-US" b="0" dirty="0"/>
              <a:t>」</a:t>
            </a:r>
            <a:endParaRPr kumimoji="1" lang="en-US" altLang="ja-JP" b="0" dirty="0"/>
          </a:p>
          <a:p>
            <a:pPr marL="139700" indent="0">
              <a:buNone/>
            </a:pPr>
            <a:r>
              <a:rPr kumimoji="1" lang="en-US" altLang="ja-JP" dirty="0"/>
              <a:t>】</a:t>
            </a:r>
          </a:p>
          <a:p>
            <a:pPr marL="139700" indent="0">
              <a:buNone/>
            </a:pPr>
            <a:endParaRPr kumimoji="1" lang="en-US" altLang="ja-JP" dirty="0"/>
          </a:p>
          <a:p>
            <a:pPr marL="139700" indent="0">
              <a:buNone/>
            </a:pPr>
            <a:endParaRPr kumimoji="1" lang="en-US" altLang="ja-JP" dirty="0"/>
          </a:p>
          <a:p>
            <a:pPr marL="139700" indent="0">
              <a:buNone/>
            </a:pPr>
            <a:r>
              <a:rPr kumimoji="1" lang="ja-JP" altLang="en-US" dirty="0"/>
              <a:t>この４つの段階に分類を行います。</a:t>
            </a:r>
          </a:p>
        </p:txBody>
      </p:sp>
    </p:spTree>
    <p:extLst>
      <p:ext uri="{BB962C8B-B14F-4D97-AF65-F5344CB8AC3E}">
        <p14:creationId xmlns:p14="http://schemas.microsoft.com/office/powerpoint/2010/main" val="4030098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pPr marL="139700" indent="0">
              <a:buNone/>
            </a:pPr>
            <a:r>
              <a:rPr kumimoji="1" lang="ja-JP" altLang="en-US" dirty="0"/>
              <a:t>そしてこの二つの分類したものをクロス集計表と統計的分析で、相関性を探っていきます。</a:t>
            </a:r>
          </a:p>
        </p:txBody>
      </p:sp>
    </p:spTree>
    <p:extLst>
      <p:ext uri="{BB962C8B-B14F-4D97-AF65-F5344CB8AC3E}">
        <p14:creationId xmlns:p14="http://schemas.microsoft.com/office/powerpoint/2010/main" val="68385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3039ED46-8753-7882-515A-D1FCD14BAB74}"/>
            </a:ext>
          </a:extLst>
        </p:cNvPr>
        <p:cNvGrpSpPr/>
        <p:nvPr/>
      </p:nvGrpSpPr>
      <p:grpSpPr>
        <a:xfrm>
          <a:off x="0" y="0"/>
          <a:ext cx="0" cy="0"/>
          <a:chOff x="0" y="0"/>
          <a:chExt cx="0" cy="0"/>
        </a:xfrm>
      </p:grpSpPr>
      <p:sp>
        <p:nvSpPr>
          <p:cNvPr id="75" name="Google Shape;75;gc6fa3c898_0_5:notes">
            <a:extLst>
              <a:ext uri="{FF2B5EF4-FFF2-40B4-BE49-F238E27FC236}">
                <a16:creationId xmlns:a16="http://schemas.microsoft.com/office/drawing/2014/main" id="{9696207C-E5BB-05FE-9A61-CEB789433B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c6fa3c898_0_5:notes">
            <a:extLst>
              <a:ext uri="{FF2B5EF4-FFF2-40B4-BE49-F238E27FC236}">
                <a16:creationId xmlns:a16="http://schemas.microsoft.com/office/drawing/2014/main" id="{D073A8E6-6A21-16D1-E4D6-4035F97671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発表の流れは</a:t>
            </a:r>
            <a:endParaRPr lang="en-US" altLang="ja-JP" dirty="0"/>
          </a:p>
          <a:p>
            <a:pPr marL="0" lvl="0" indent="0" algn="l" rtl="0">
              <a:spcBef>
                <a:spcPts val="0"/>
              </a:spcBef>
              <a:spcAft>
                <a:spcPts val="0"/>
              </a:spcAft>
              <a:buNone/>
            </a:pPr>
            <a:r>
              <a:rPr lang="en-US" altLang="ja-JP" dirty="0"/>
              <a:t>【</a:t>
            </a:r>
            <a:r>
              <a:rPr lang="ja-JP" altLang="en-US" dirty="0"/>
              <a:t>スライド</a:t>
            </a:r>
            <a:r>
              <a:rPr lang="en-US" altLang="ja-JP" dirty="0"/>
              <a:t>】</a:t>
            </a:r>
          </a:p>
          <a:p>
            <a:pPr marL="0" lvl="0" indent="0" algn="l" rtl="0">
              <a:spcBef>
                <a:spcPts val="0"/>
              </a:spcBef>
              <a:spcAft>
                <a:spcPts val="0"/>
              </a:spcAft>
              <a:buNone/>
            </a:pPr>
            <a:r>
              <a:rPr lang="ja-JP" altLang="en-US" dirty="0"/>
              <a:t>のようになっています。</a:t>
            </a:r>
            <a:endParaRPr lang="en-US" altLang="ja-JP" dirty="0"/>
          </a:p>
        </p:txBody>
      </p:sp>
    </p:spTree>
    <p:extLst>
      <p:ext uri="{BB962C8B-B14F-4D97-AF65-F5344CB8AC3E}">
        <p14:creationId xmlns:p14="http://schemas.microsoft.com/office/powerpoint/2010/main" val="2978739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1F6ACC5A-65ED-8F24-6CFF-BC56B0824802}"/>
            </a:ext>
          </a:extLst>
        </p:cNvPr>
        <p:cNvGrpSpPr/>
        <p:nvPr/>
      </p:nvGrpSpPr>
      <p:grpSpPr>
        <a:xfrm>
          <a:off x="0" y="0"/>
          <a:ext cx="0" cy="0"/>
          <a:chOff x="0" y="0"/>
          <a:chExt cx="0" cy="0"/>
        </a:xfrm>
      </p:grpSpPr>
      <p:sp>
        <p:nvSpPr>
          <p:cNvPr id="112" name="Google Shape;112;gc6fa3c898_0_65:notes">
            <a:extLst>
              <a:ext uri="{FF2B5EF4-FFF2-40B4-BE49-F238E27FC236}">
                <a16:creationId xmlns:a16="http://schemas.microsoft.com/office/drawing/2014/main" id="{3A70857E-66D9-65B0-7E42-5D18600921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a3c898_0_65:notes">
            <a:extLst>
              <a:ext uri="{FF2B5EF4-FFF2-40B4-BE49-F238E27FC236}">
                <a16:creationId xmlns:a16="http://schemas.microsoft.com/office/drawing/2014/main" id="{4EE1971F-3ECD-3A99-C339-CC60AFC979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endParaRPr dirty="0"/>
          </a:p>
        </p:txBody>
      </p:sp>
    </p:spTree>
    <p:extLst>
      <p:ext uri="{BB962C8B-B14F-4D97-AF65-F5344CB8AC3E}">
        <p14:creationId xmlns:p14="http://schemas.microsoft.com/office/powerpoint/2010/main" val="1988785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177BDBB2-4DF8-AFEC-F671-0F3D353C5407}"/>
            </a:ext>
          </a:extLst>
        </p:cNvPr>
        <p:cNvGrpSpPr/>
        <p:nvPr/>
      </p:nvGrpSpPr>
      <p:grpSpPr>
        <a:xfrm>
          <a:off x="0" y="0"/>
          <a:ext cx="0" cy="0"/>
          <a:chOff x="0" y="0"/>
          <a:chExt cx="0" cy="0"/>
        </a:xfrm>
      </p:grpSpPr>
      <p:sp>
        <p:nvSpPr>
          <p:cNvPr id="112" name="Google Shape;112;gc6fa3c898_0_65:notes">
            <a:extLst>
              <a:ext uri="{FF2B5EF4-FFF2-40B4-BE49-F238E27FC236}">
                <a16:creationId xmlns:a16="http://schemas.microsoft.com/office/drawing/2014/main" id="{F5680508-0EAF-1722-0BCC-12938EE741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a3c898_0_65:notes">
            <a:extLst>
              <a:ext uri="{FF2B5EF4-FFF2-40B4-BE49-F238E27FC236}">
                <a16:creationId xmlns:a16="http://schemas.microsoft.com/office/drawing/2014/main" id="{F9B45D36-D67D-F813-FCC3-D73AB8FA2F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ja-JP" altLang="en-US" dirty="0"/>
              <a:t>次に本研究のメインとなる「技法</a:t>
            </a:r>
            <a:r>
              <a:rPr lang="en-US" altLang="ja-JP" dirty="0"/>
              <a:t>×DMIS</a:t>
            </a:r>
            <a:r>
              <a:rPr lang="ja-JP" altLang="en-US" dirty="0"/>
              <a:t>の対応関係」です。こちらは統計的分析をしたもので、相関が高いほど濃い赤になています。</a:t>
            </a:r>
            <a:endParaRPr lang="en-US" altLang="ja-JP" dirty="0"/>
          </a:p>
          <a:p>
            <a:pPr marL="0" lvl="0" indent="0" algn="l" rtl="0">
              <a:spcBef>
                <a:spcPts val="1200"/>
              </a:spcBef>
              <a:spcAft>
                <a:spcPts val="0"/>
              </a:spcAft>
              <a:buNone/>
            </a:pPr>
            <a:endParaRPr lang="en-US" dirty="0"/>
          </a:p>
          <a:p>
            <a:pPr marL="0" lvl="0" indent="0" algn="l" rtl="0">
              <a:spcBef>
                <a:spcPts val="1200"/>
              </a:spcBef>
              <a:spcAft>
                <a:spcPts val="0"/>
              </a:spcAft>
              <a:buNone/>
            </a:pPr>
            <a:r>
              <a:rPr lang="ja-JP" altLang="en-US" dirty="0"/>
              <a:t>主な対応関係は</a:t>
            </a:r>
            <a:endParaRPr lang="en-US" altLang="ja-JP" dirty="0"/>
          </a:p>
          <a:p>
            <a:pPr marL="0" lvl="0" indent="0" algn="l" rtl="0">
              <a:spcBef>
                <a:spcPts val="1200"/>
              </a:spcBef>
              <a:spcAft>
                <a:spcPts val="0"/>
              </a:spcAft>
              <a:buNone/>
            </a:pPr>
            <a:r>
              <a:rPr lang="en-US" altLang="ja-JP" dirty="0"/>
              <a:t>【</a:t>
            </a:r>
            <a:r>
              <a:rPr lang="ja-JP" altLang="en-US" dirty="0"/>
              <a:t>スライド</a:t>
            </a:r>
            <a:r>
              <a:rPr lang="en-US" altLang="ja-JP" dirty="0"/>
              <a:t>】</a:t>
            </a:r>
            <a:endParaRPr dirty="0"/>
          </a:p>
        </p:txBody>
      </p:sp>
    </p:spTree>
    <p:extLst>
      <p:ext uri="{BB962C8B-B14F-4D97-AF65-F5344CB8AC3E}">
        <p14:creationId xmlns:p14="http://schemas.microsoft.com/office/powerpoint/2010/main" val="4226147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345E78B2-E047-9C5B-5883-1A9FAF7CFFA5}"/>
            </a:ext>
          </a:extLst>
        </p:cNvPr>
        <p:cNvGrpSpPr/>
        <p:nvPr/>
      </p:nvGrpSpPr>
      <p:grpSpPr>
        <a:xfrm>
          <a:off x="0" y="0"/>
          <a:ext cx="0" cy="0"/>
          <a:chOff x="0" y="0"/>
          <a:chExt cx="0" cy="0"/>
        </a:xfrm>
      </p:grpSpPr>
      <p:sp>
        <p:nvSpPr>
          <p:cNvPr id="75" name="Google Shape;75;gc6fa3c898_0_5:notes">
            <a:extLst>
              <a:ext uri="{FF2B5EF4-FFF2-40B4-BE49-F238E27FC236}">
                <a16:creationId xmlns:a16="http://schemas.microsoft.com/office/drawing/2014/main" id="{8C00BE44-E509-E27E-DB02-E6ADBE8F32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c6fa3c898_0_5:notes">
            <a:extLst>
              <a:ext uri="{FF2B5EF4-FFF2-40B4-BE49-F238E27FC236}">
                <a16:creationId xmlns:a16="http://schemas.microsoft.com/office/drawing/2014/main" id="{19BF87AA-4187-7988-6582-F5CF3E37BE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では結果から得られた考察をお話していきます。</a:t>
            </a:r>
            <a:endParaRPr lang="en-US" altLang="ja-JP" dirty="0"/>
          </a:p>
        </p:txBody>
      </p:sp>
    </p:spTree>
    <p:extLst>
      <p:ext uri="{BB962C8B-B14F-4D97-AF65-F5344CB8AC3E}">
        <p14:creationId xmlns:p14="http://schemas.microsoft.com/office/powerpoint/2010/main" val="35151302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AEEC3909-9A74-D85C-BEC0-7BE92E460E8D}"/>
            </a:ext>
          </a:extLst>
        </p:cNvPr>
        <p:cNvGrpSpPr/>
        <p:nvPr/>
      </p:nvGrpSpPr>
      <p:grpSpPr>
        <a:xfrm>
          <a:off x="0" y="0"/>
          <a:ext cx="0" cy="0"/>
          <a:chOff x="0" y="0"/>
          <a:chExt cx="0" cy="0"/>
        </a:xfrm>
      </p:grpSpPr>
      <p:sp>
        <p:nvSpPr>
          <p:cNvPr id="112" name="Google Shape;112;gc6fa3c898_0_65:notes">
            <a:extLst>
              <a:ext uri="{FF2B5EF4-FFF2-40B4-BE49-F238E27FC236}">
                <a16:creationId xmlns:a16="http://schemas.microsoft.com/office/drawing/2014/main" id="{D20D2C30-06E1-BB67-9053-A82BBDC0CC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a3c898_0_65:notes">
            <a:extLst>
              <a:ext uri="{FF2B5EF4-FFF2-40B4-BE49-F238E27FC236}">
                <a16:creationId xmlns:a16="http://schemas.microsoft.com/office/drawing/2014/main" id="{E82E7A1F-EEF0-0546-E55C-AD098A1153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ja-JP" altLang="en-US" b="1" dirty="0"/>
              <a:t>まず考察一つ目は「翻訳フレームワーク」です。</a:t>
            </a:r>
            <a:endParaRPr lang="en-US" altLang="ja-JP" b="1" dirty="0"/>
          </a:p>
          <a:p>
            <a:pPr marL="0" lvl="0" indent="0" algn="l" rtl="0">
              <a:spcBef>
                <a:spcPts val="1200"/>
              </a:spcBef>
              <a:spcAft>
                <a:spcPts val="0"/>
              </a:spcAft>
              <a:buNone/>
            </a:pPr>
            <a:endParaRPr lang="en-US" altLang="ja-JP" dirty="0"/>
          </a:p>
          <a:p>
            <a:pPr marL="0" lvl="0" indent="0" algn="l" rtl="0">
              <a:spcBef>
                <a:spcPts val="1200"/>
              </a:spcBef>
              <a:spcAft>
                <a:spcPts val="0"/>
              </a:spcAft>
              <a:buNone/>
            </a:pPr>
            <a:r>
              <a:rPr lang="ja-JP" altLang="en-US" dirty="0"/>
              <a:t>結果から</a:t>
            </a:r>
            <a:endParaRPr lang="en-US" altLang="ja-JP" dirty="0"/>
          </a:p>
          <a:p>
            <a:pPr marL="0" lvl="0" indent="0" algn="l" rtl="0">
              <a:spcBef>
                <a:spcPts val="1200"/>
              </a:spcBef>
              <a:spcAft>
                <a:spcPts val="0"/>
              </a:spcAft>
              <a:buNone/>
            </a:pPr>
            <a:r>
              <a:rPr lang="ja-JP" altLang="en-US" dirty="0"/>
              <a:t>技法と読者の理解度に相関が見られた。</a:t>
            </a:r>
            <a:endParaRPr lang="en-US" altLang="ja-JP" dirty="0"/>
          </a:p>
          <a:p>
            <a:pPr marL="0" lvl="0" indent="0" algn="l" rtl="0">
              <a:spcBef>
                <a:spcPts val="1200"/>
              </a:spcBef>
              <a:spcAft>
                <a:spcPts val="0"/>
              </a:spcAft>
              <a:buNone/>
            </a:pPr>
            <a:r>
              <a:rPr lang="ja-JP" altLang="en-US" dirty="0"/>
              <a:t>という事は、</a:t>
            </a:r>
            <a:br>
              <a:rPr lang="en-US" altLang="ja-JP" dirty="0"/>
            </a:br>
            <a:r>
              <a:rPr lang="ja-JP" altLang="en-US" dirty="0"/>
              <a:t>読者の理解度を技法によって意図的に操れるという事が分かりました。</a:t>
            </a:r>
            <a:endParaRPr lang="en-US" altLang="ja-JP" dirty="0"/>
          </a:p>
          <a:p>
            <a:pPr marL="0" lvl="0" indent="0" algn="l" rtl="0">
              <a:spcBef>
                <a:spcPts val="1200"/>
              </a:spcBef>
              <a:spcAft>
                <a:spcPts val="0"/>
              </a:spcAft>
              <a:buNone/>
            </a:pPr>
            <a:endParaRPr lang="en-US" dirty="0"/>
          </a:p>
          <a:p>
            <a:pPr marL="0" lvl="0" indent="0" algn="l" rtl="0">
              <a:spcBef>
                <a:spcPts val="1200"/>
              </a:spcBef>
              <a:spcAft>
                <a:spcPts val="0"/>
              </a:spcAft>
              <a:buNone/>
            </a:pPr>
            <a:r>
              <a:rPr lang="ja-JP" altLang="en-US" dirty="0"/>
              <a:t>そこで本研究では、このような翻訳フレームワークを提唱します。</a:t>
            </a:r>
            <a:endParaRPr lang="en-US" altLang="ja-JP" dirty="0"/>
          </a:p>
          <a:p>
            <a:pPr marL="0" lvl="0" indent="0" algn="l" rtl="0">
              <a:spcBef>
                <a:spcPts val="1200"/>
              </a:spcBef>
              <a:spcAft>
                <a:spcPts val="0"/>
              </a:spcAft>
              <a:buNone/>
            </a:pPr>
            <a:endParaRPr lang="en-US" dirty="0"/>
          </a:p>
          <a:p>
            <a:pPr marL="0" lvl="0" indent="0" algn="l" rtl="0">
              <a:spcBef>
                <a:spcPts val="1200"/>
              </a:spcBef>
              <a:spcAft>
                <a:spcPts val="0"/>
              </a:spcAft>
              <a:buNone/>
            </a:pPr>
            <a:r>
              <a:rPr lang="en-US" altLang="ja-JP" dirty="0"/>
              <a:t>【</a:t>
            </a:r>
            <a:r>
              <a:rPr lang="ja-JP" altLang="en-US" dirty="0"/>
              <a:t>スライド</a:t>
            </a:r>
            <a:r>
              <a:rPr lang="en-US" altLang="ja-JP" dirty="0"/>
              <a:t>】</a:t>
            </a:r>
          </a:p>
          <a:p>
            <a:pPr marL="0" lvl="0" indent="0" algn="l" rtl="0">
              <a:spcBef>
                <a:spcPts val="1200"/>
              </a:spcBef>
              <a:spcAft>
                <a:spcPts val="0"/>
              </a:spcAft>
              <a:buNone/>
            </a:pPr>
            <a:endParaRPr lang="en-US" altLang="ja-JP" dirty="0"/>
          </a:p>
          <a:p>
            <a:pPr marL="0" lvl="0" indent="0" algn="l" rtl="0">
              <a:spcBef>
                <a:spcPts val="1200"/>
              </a:spcBef>
              <a:spcAft>
                <a:spcPts val="0"/>
              </a:spcAft>
              <a:buNone/>
            </a:pPr>
            <a:endParaRPr lang="en-US" altLang="ja-JP" dirty="0"/>
          </a:p>
          <a:p>
            <a:pPr marL="0" lvl="0" indent="0" algn="l" rtl="0">
              <a:spcBef>
                <a:spcPts val="1200"/>
              </a:spcBef>
              <a:spcAft>
                <a:spcPts val="0"/>
              </a:spcAft>
              <a:buNone/>
            </a:pPr>
            <a:r>
              <a:rPr lang="ja-JP" altLang="en-US" dirty="0"/>
              <a:t>これらの公式を使う事で誰もが、読者の異文化理解度を制御する翻訳が可能となります。</a:t>
            </a:r>
            <a:endParaRPr lang="en-US" altLang="ja-JP" dirty="0"/>
          </a:p>
          <a:p>
            <a:pPr marL="0" lvl="0" indent="0" algn="l" rtl="0">
              <a:spcBef>
                <a:spcPts val="1200"/>
              </a:spcBef>
              <a:spcAft>
                <a:spcPts val="0"/>
              </a:spcAft>
              <a:buNone/>
            </a:pPr>
            <a:endParaRPr lang="en-US" dirty="0"/>
          </a:p>
          <a:p>
            <a:pPr marL="0" lvl="0" indent="0" algn="l" rtl="0">
              <a:spcBef>
                <a:spcPts val="1200"/>
              </a:spcBef>
              <a:spcAft>
                <a:spcPts val="0"/>
              </a:spcAft>
              <a:buNone/>
            </a:pPr>
            <a:endParaRPr lang="en-US" dirty="0"/>
          </a:p>
          <a:p>
            <a:pPr marL="0" lvl="0" indent="0" algn="l" rtl="0">
              <a:spcBef>
                <a:spcPts val="1200"/>
              </a:spcBef>
              <a:spcAft>
                <a:spcPts val="0"/>
              </a:spcAft>
              <a:buNone/>
            </a:pPr>
            <a:endParaRPr lang="en-US" dirty="0"/>
          </a:p>
        </p:txBody>
      </p:sp>
    </p:spTree>
    <p:extLst>
      <p:ext uri="{BB962C8B-B14F-4D97-AF65-F5344CB8AC3E}">
        <p14:creationId xmlns:p14="http://schemas.microsoft.com/office/powerpoint/2010/main" val="4091110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847F84CC-58AB-691A-DE76-E6AC07147171}"/>
            </a:ext>
          </a:extLst>
        </p:cNvPr>
        <p:cNvGrpSpPr/>
        <p:nvPr/>
      </p:nvGrpSpPr>
      <p:grpSpPr>
        <a:xfrm>
          <a:off x="0" y="0"/>
          <a:ext cx="0" cy="0"/>
          <a:chOff x="0" y="0"/>
          <a:chExt cx="0" cy="0"/>
        </a:xfrm>
      </p:grpSpPr>
      <p:sp>
        <p:nvSpPr>
          <p:cNvPr id="112" name="Google Shape;112;gc6fa3c898_0_65:notes">
            <a:extLst>
              <a:ext uri="{FF2B5EF4-FFF2-40B4-BE49-F238E27FC236}">
                <a16:creationId xmlns:a16="http://schemas.microsoft.com/office/drawing/2014/main" id="{953BD5F2-A789-E45F-785D-1B7CA2BAC4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a3c898_0_65:notes">
            <a:extLst>
              <a:ext uri="{FF2B5EF4-FFF2-40B4-BE49-F238E27FC236}">
                <a16:creationId xmlns:a16="http://schemas.microsoft.com/office/drawing/2014/main" id="{FCAD06AD-1282-B834-2EE1-7958AA54B1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ja-JP" altLang="en-US" dirty="0"/>
              <a:t>２つ目の考察は　辞書における「等価の幻想」です。</a:t>
            </a:r>
            <a:endParaRPr lang="en-US" altLang="ja-JP" dirty="0"/>
          </a:p>
          <a:p>
            <a:pPr marL="0" lvl="0" indent="0" algn="l" rtl="0">
              <a:spcBef>
                <a:spcPts val="1200"/>
              </a:spcBef>
              <a:spcAft>
                <a:spcPts val="0"/>
              </a:spcAft>
              <a:buNone/>
            </a:pPr>
            <a:endParaRPr lang="en-US" altLang="ja-JP" dirty="0"/>
          </a:p>
          <a:p>
            <a:pPr marL="0" lvl="0" indent="0" algn="l" rtl="0">
              <a:spcBef>
                <a:spcPts val="1200"/>
              </a:spcBef>
              <a:spcAft>
                <a:spcPts val="0"/>
              </a:spcAft>
              <a:buNone/>
            </a:pPr>
            <a:r>
              <a:rPr lang="ja-JP" altLang="en-US" dirty="0"/>
              <a:t>これは</a:t>
            </a:r>
            <a:r>
              <a:rPr lang="en-US" altLang="ja-JP" dirty="0" err="1"/>
              <a:t>EstablishedEquivalent</a:t>
            </a:r>
            <a:r>
              <a:rPr lang="ja-JP" altLang="en-US" dirty="0"/>
              <a:t>の９８％が</a:t>
            </a:r>
            <a:r>
              <a:rPr lang="en-US" altLang="ja-JP" dirty="0"/>
              <a:t>Minimization</a:t>
            </a:r>
            <a:r>
              <a:rPr lang="ja-JP" altLang="en-US" dirty="0"/>
              <a:t>と対応していたことからも分かるように、</a:t>
            </a:r>
            <a:endParaRPr lang="en-US" altLang="ja-JP" dirty="0"/>
          </a:p>
          <a:p>
            <a:pPr marL="0" lvl="0" indent="0" algn="l" rtl="0">
              <a:spcBef>
                <a:spcPts val="1200"/>
              </a:spcBef>
              <a:spcAft>
                <a:spcPts val="0"/>
              </a:spcAft>
              <a:buNone/>
            </a:pPr>
            <a:endParaRPr lang="en-US" altLang="ja-JP" dirty="0"/>
          </a:p>
          <a:p>
            <a:pPr marL="0" lvl="0" indent="0" algn="l" rtl="0">
              <a:spcBef>
                <a:spcPts val="1200"/>
              </a:spcBef>
              <a:spcAft>
                <a:spcPts val="0"/>
              </a:spcAft>
              <a:buNone/>
            </a:pPr>
            <a:endParaRPr lang="en-US" altLang="ja-JP" dirty="0"/>
          </a:p>
          <a:p>
            <a:pPr marL="0" lvl="0" indent="0" algn="l" rtl="0">
              <a:spcBef>
                <a:spcPts val="1200"/>
              </a:spcBef>
              <a:spcAft>
                <a:spcPts val="0"/>
              </a:spcAft>
              <a:buNone/>
            </a:pPr>
            <a:r>
              <a:rPr lang="en-US" altLang="ja-JP" dirty="0"/>
              <a:t>【</a:t>
            </a:r>
            <a:r>
              <a:rPr lang="ja-JP" altLang="en-US" dirty="0"/>
              <a:t>本文</a:t>
            </a:r>
            <a:r>
              <a:rPr lang="en-US" altLang="ja-JP" dirty="0"/>
              <a:t>】</a:t>
            </a:r>
          </a:p>
        </p:txBody>
      </p:sp>
    </p:spTree>
    <p:extLst>
      <p:ext uri="{BB962C8B-B14F-4D97-AF65-F5344CB8AC3E}">
        <p14:creationId xmlns:p14="http://schemas.microsoft.com/office/powerpoint/2010/main" val="380844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48BFB1C5-CA05-C682-459D-89A44A1E5A84}"/>
            </a:ext>
          </a:extLst>
        </p:cNvPr>
        <p:cNvGrpSpPr/>
        <p:nvPr/>
      </p:nvGrpSpPr>
      <p:grpSpPr>
        <a:xfrm>
          <a:off x="0" y="0"/>
          <a:ext cx="0" cy="0"/>
          <a:chOff x="0" y="0"/>
          <a:chExt cx="0" cy="0"/>
        </a:xfrm>
      </p:grpSpPr>
      <p:sp>
        <p:nvSpPr>
          <p:cNvPr id="112" name="Google Shape;112;gc6fa3c898_0_65:notes">
            <a:extLst>
              <a:ext uri="{FF2B5EF4-FFF2-40B4-BE49-F238E27FC236}">
                <a16:creationId xmlns:a16="http://schemas.microsoft.com/office/drawing/2014/main" id="{3270B211-DA6E-64D3-7098-EA42343BA5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a3c898_0_65:notes">
            <a:extLst>
              <a:ext uri="{FF2B5EF4-FFF2-40B4-BE49-F238E27FC236}">
                <a16:creationId xmlns:a16="http://schemas.microsoft.com/office/drawing/2014/main" id="{01CD12E0-5279-698B-B120-24205A1FC9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ja-JP" altLang="en-US" dirty="0"/>
              <a:t>辞書における「等価の幻想」という事で。</a:t>
            </a:r>
            <a:endParaRPr lang="en-US" altLang="ja-JP" dirty="0"/>
          </a:p>
          <a:p>
            <a:pPr marL="0" lvl="0" indent="0" algn="l" rtl="0">
              <a:spcBef>
                <a:spcPts val="1200"/>
              </a:spcBef>
              <a:spcAft>
                <a:spcPts val="0"/>
              </a:spcAft>
              <a:buNone/>
            </a:pPr>
            <a:endParaRPr lang="en-US" dirty="0"/>
          </a:p>
          <a:p>
            <a:pPr marL="0" lvl="0" indent="0" algn="l" rtl="0">
              <a:spcBef>
                <a:spcPts val="1200"/>
              </a:spcBef>
              <a:spcAft>
                <a:spcPts val="0"/>
              </a:spcAft>
              <a:buNone/>
            </a:pPr>
            <a:r>
              <a:rPr lang="ja-JP" altLang="en-US" dirty="0"/>
              <a:t>辞書的な「等価」（</a:t>
            </a:r>
            <a:r>
              <a:rPr lang="en-US" altLang="ja-JP" dirty="0"/>
              <a:t>Established</a:t>
            </a:r>
            <a:r>
              <a:rPr lang="ja-JP" altLang="en-US" dirty="0"/>
              <a:t> </a:t>
            </a:r>
            <a:r>
              <a:rPr lang="en-US" altLang="ja-JP" dirty="0"/>
              <a:t>equivalent</a:t>
            </a:r>
            <a:r>
              <a:rPr lang="ja-JP" altLang="en-US" dirty="0"/>
              <a:t>）は等価ではない。</a:t>
            </a:r>
            <a:endParaRPr lang="en-US" altLang="ja-JP" dirty="0"/>
          </a:p>
        </p:txBody>
      </p:sp>
    </p:spTree>
    <p:extLst>
      <p:ext uri="{BB962C8B-B14F-4D97-AF65-F5344CB8AC3E}">
        <p14:creationId xmlns:p14="http://schemas.microsoft.com/office/powerpoint/2010/main" val="23230789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CBBC9BD9-8E82-928E-5D38-632D97B28D6D}"/>
            </a:ext>
          </a:extLst>
        </p:cNvPr>
        <p:cNvGrpSpPr/>
        <p:nvPr/>
      </p:nvGrpSpPr>
      <p:grpSpPr>
        <a:xfrm>
          <a:off x="0" y="0"/>
          <a:ext cx="0" cy="0"/>
          <a:chOff x="0" y="0"/>
          <a:chExt cx="0" cy="0"/>
        </a:xfrm>
      </p:grpSpPr>
      <p:sp>
        <p:nvSpPr>
          <p:cNvPr id="75" name="Google Shape;75;gc6fa3c898_0_5:notes">
            <a:extLst>
              <a:ext uri="{FF2B5EF4-FFF2-40B4-BE49-F238E27FC236}">
                <a16:creationId xmlns:a16="http://schemas.microsoft.com/office/drawing/2014/main" id="{3FC4C279-0A1C-B355-3EE4-3B5552BCA7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c6fa3c898_0_5:notes">
            <a:extLst>
              <a:ext uri="{FF2B5EF4-FFF2-40B4-BE49-F238E27FC236}">
                <a16:creationId xmlns:a16="http://schemas.microsoft.com/office/drawing/2014/main" id="{E57EE1F9-5D8F-E762-DEAC-85AAD13DFC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t>では結果から得られた考察をお話していきます。</a:t>
            </a:r>
            <a:endParaRPr lang="en-US" altLang="ja-JP" dirty="0"/>
          </a:p>
        </p:txBody>
      </p:sp>
    </p:spTree>
    <p:extLst>
      <p:ext uri="{BB962C8B-B14F-4D97-AF65-F5344CB8AC3E}">
        <p14:creationId xmlns:p14="http://schemas.microsoft.com/office/powerpoint/2010/main" val="620504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18BFD497-33AE-D560-7EEE-67974EB45FB4}"/>
            </a:ext>
          </a:extLst>
        </p:cNvPr>
        <p:cNvGrpSpPr/>
        <p:nvPr/>
      </p:nvGrpSpPr>
      <p:grpSpPr>
        <a:xfrm>
          <a:off x="0" y="0"/>
          <a:ext cx="0" cy="0"/>
          <a:chOff x="0" y="0"/>
          <a:chExt cx="0" cy="0"/>
        </a:xfrm>
      </p:grpSpPr>
      <p:sp>
        <p:nvSpPr>
          <p:cNvPr id="112" name="Google Shape;112;gc6fa3c898_0_65:notes">
            <a:extLst>
              <a:ext uri="{FF2B5EF4-FFF2-40B4-BE49-F238E27FC236}">
                <a16:creationId xmlns:a16="http://schemas.microsoft.com/office/drawing/2014/main" id="{DFF1BBAC-70E0-2524-3727-6D736A84DC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6fa3c898_0_65:notes">
            <a:extLst>
              <a:ext uri="{FF2B5EF4-FFF2-40B4-BE49-F238E27FC236}">
                <a16:creationId xmlns:a16="http://schemas.microsoft.com/office/drawing/2014/main" id="{B558070D-E636-0726-5D3D-EFB2513F40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ja-JP" altLang="en-US" dirty="0"/>
              <a:t>辞書における「等価の幻想」という事で。</a:t>
            </a:r>
            <a:endParaRPr lang="en-US" altLang="ja-JP" dirty="0"/>
          </a:p>
          <a:p>
            <a:pPr marL="0" lvl="0" indent="0" algn="l" rtl="0">
              <a:spcBef>
                <a:spcPts val="1200"/>
              </a:spcBef>
              <a:spcAft>
                <a:spcPts val="0"/>
              </a:spcAft>
              <a:buNone/>
            </a:pPr>
            <a:endParaRPr lang="en-US" dirty="0"/>
          </a:p>
          <a:p>
            <a:pPr marL="0" lvl="0" indent="0" algn="l" rtl="0">
              <a:spcBef>
                <a:spcPts val="1200"/>
              </a:spcBef>
              <a:spcAft>
                <a:spcPts val="0"/>
              </a:spcAft>
              <a:buNone/>
            </a:pPr>
            <a:r>
              <a:rPr lang="ja-JP" altLang="en-US" dirty="0"/>
              <a:t>辞書的な「等価」（</a:t>
            </a:r>
            <a:r>
              <a:rPr lang="en-US" altLang="ja-JP" dirty="0"/>
              <a:t>Established</a:t>
            </a:r>
            <a:r>
              <a:rPr lang="ja-JP" altLang="en-US" dirty="0"/>
              <a:t> </a:t>
            </a:r>
            <a:r>
              <a:rPr lang="en-US" altLang="ja-JP" dirty="0"/>
              <a:t>equivalent</a:t>
            </a:r>
            <a:r>
              <a:rPr lang="ja-JP" altLang="en-US" dirty="0"/>
              <a:t>）は等価ではない。</a:t>
            </a:r>
            <a:endParaRPr lang="en-US" altLang="ja-JP" dirty="0"/>
          </a:p>
        </p:txBody>
      </p:sp>
    </p:spTree>
    <p:extLst>
      <p:ext uri="{BB962C8B-B14F-4D97-AF65-F5344CB8AC3E}">
        <p14:creationId xmlns:p14="http://schemas.microsoft.com/office/powerpoint/2010/main" val="516451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w="38100" cap="flat" cmpd="sng">
            <a:solidFill>
              <a:schemeClr val="lt1"/>
            </a:solidFill>
            <a:prstDash val="solid"/>
            <a:round/>
            <a:headEnd type="none" w="sm" len="sm"/>
            <a:tailEnd type="none" w="sm" len="sm"/>
          </a:ln>
        </p:spPr>
      </p:cxnSp>
      <p:cxnSp>
        <p:nvCxnSpPr>
          <p:cNvPr id="11" name="Google Shape;11;p2"/>
          <p:cNvCxnSpPr/>
          <p:nvPr/>
        </p:nvCxnSpPr>
        <p:spPr>
          <a:xfrm>
            <a:off x="2477724" y="4740000"/>
            <a:ext cx="6244200" cy="0"/>
          </a:xfrm>
          <a:prstGeom prst="straightConnector1">
            <a:avLst/>
          </a:prstGeom>
          <a:noFill/>
          <a:ln w="19050" cap="flat" cmpd="sng">
            <a:solidFill>
              <a:schemeClr val="lt1"/>
            </a:solidFill>
            <a:prstDash val="solid"/>
            <a:round/>
            <a:headEnd type="none" w="sm" len="sm"/>
            <a:tailEnd type="none" w="sm" len="sm"/>
          </a:ln>
        </p:spPr>
      </p:cxnSp>
      <p:cxnSp>
        <p:nvCxnSpPr>
          <p:cNvPr id="12" name="Google Shape;12;p2"/>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13" name="Google Shape;13;p2"/>
          <p:cNvSpPr txBox="1">
            <a:spLocks noGrp="1"/>
          </p:cNvSpPr>
          <p:nvPr>
            <p:ph type="ctrTitle"/>
          </p:nvPr>
        </p:nvSpPr>
        <p:spPr>
          <a:xfrm>
            <a:off x="2371725" y="630225"/>
            <a:ext cx="6331500" cy="1542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4800"/>
              <a:buNone/>
              <a:defRPr sz="4800">
                <a:solidFill>
                  <a:schemeClr val="lt1"/>
                </a:solidFill>
                <a:latin typeface="Abadi" panose="020B0604020104020204" pitchFamily="34" charset="0"/>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dirty="0"/>
          </a:p>
        </p:txBody>
      </p:sp>
      <p:sp>
        <p:nvSpPr>
          <p:cNvPr id="14" name="Google Shape;14;p2"/>
          <p:cNvSpPr txBox="1">
            <a:spLocks noGrp="1"/>
          </p:cNvSpPr>
          <p:nvPr>
            <p:ph type="subTitle" idx="1"/>
          </p:nvPr>
        </p:nvSpPr>
        <p:spPr>
          <a:xfrm>
            <a:off x="2390267" y="3238450"/>
            <a:ext cx="6331500" cy="1241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lt1"/>
              </a:buClr>
              <a:buSzPts val="1800"/>
              <a:buNone/>
              <a:defRPr>
                <a:solidFill>
                  <a:schemeClr val="lt1"/>
                </a:solidFill>
                <a:latin typeface="Abadi" panose="020B0604020104020204" pitchFamily="34" charset="0"/>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dirty="0"/>
          </a:p>
        </p:txBody>
      </p:sp>
      <p:sp>
        <p:nvSpPr>
          <p:cNvPr id="15" name="Google Shape;15;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p4"/>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p4"/>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25" name="Google Shape;25;p4"/>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Abadi" panose="020B0604020104020204" pitchFamily="34" charset="0"/>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26" name="Google Shape;26;p4"/>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atin typeface="Abadi" panose="020B0604020104020204" pitchFamily="34" charset="0"/>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dirty="0"/>
          </a:p>
        </p:txBody>
      </p:sp>
      <p:sp>
        <p:nvSpPr>
          <p:cNvPr id="27" name="Google Shape;27;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30" name="Google Shape;30;p5"/>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31" name="Google Shape;31;p5"/>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32" name="Google Shape;32;p5"/>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Abadi" panose="020B0604020104020204" pitchFamily="34" charset="0"/>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33" name="Google Shape;33;p5"/>
          <p:cNvSpPr txBox="1">
            <a:spLocks noGrp="1"/>
          </p:cNvSpPr>
          <p:nvPr>
            <p:ph type="body" idx="1"/>
          </p:nvPr>
        </p:nvSpPr>
        <p:spPr>
          <a:xfrm>
            <a:off x="2400303" y="1602675"/>
            <a:ext cx="3071400" cy="3002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atin typeface="Abadi" panose="020B0604020104020204" pitchFamily="34" charset="0"/>
              </a:defRPr>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dirty="0"/>
          </a:p>
        </p:txBody>
      </p:sp>
      <p:sp>
        <p:nvSpPr>
          <p:cNvPr id="34" name="Google Shape;34;p5"/>
          <p:cNvSpPr txBox="1">
            <a:spLocks noGrp="1"/>
          </p:cNvSpPr>
          <p:nvPr>
            <p:ph type="body" idx="2"/>
          </p:nvPr>
        </p:nvSpPr>
        <p:spPr>
          <a:xfrm>
            <a:off x="5650572" y="1602675"/>
            <a:ext cx="3071400" cy="3002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atin typeface="Abadi" panose="020B0604020104020204" pitchFamily="34" charset="0"/>
              </a:defRPr>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dirty="0"/>
          </a:p>
        </p:txBody>
      </p:sp>
      <p:sp>
        <p:nvSpPr>
          <p:cNvPr id="35" name="Google Shape;35;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41" name="Google Shape;41;p7"/>
          <p:cNvSpPr txBox="1">
            <a:spLocks noGrp="1"/>
          </p:cNvSpPr>
          <p:nvPr>
            <p:ph type="title"/>
          </p:nvPr>
        </p:nvSpPr>
        <p:spPr>
          <a:xfrm>
            <a:off x="319500" y="936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atin typeface="Abadi" panose="020B0604020104020204" pitchFamily="34" charset="0"/>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dirty="0"/>
          </a:p>
        </p:txBody>
      </p:sp>
      <p:sp>
        <p:nvSpPr>
          <p:cNvPr id="42" name="Google Shape;42;p7"/>
          <p:cNvSpPr txBox="1">
            <a:spLocks noGrp="1"/>
          </p:cNvSpPr>
          <p:nvPr>
            <p:ph type="body" idx="1"/>
          </p:nvPr>
        </p:nvSpPr>
        <p:spPr>
          <a:xfrm>
            <a:off x="319500" y="1846804"/>
            <a:ext cx="2808000" cy="2806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atin typeface="Abadi" panose="020B0604020104020204" pitchFamily="34" charset="0"/>
              </a:defRPr>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dirty="0"/>
          </a:p>
        </p:txBody>
      </p:sp>
      <p:sp>
        <p:nvSpPr>
          <p:cNvPr id="43" name="Google Shape;4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a:spLocks noGrp="1"/>
          </p:cNvSpPr>
          <p:nvPr>
            <p:ph type="title"/>
          </p:nvPr>
        </p:nvSpPr>
        <p:spPr>
          <a:xfrm>
            <a:off x="283103" y="712141"/>
            <a:ext cx="6244200" cy="38355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latin typeface="Abadi" panose="020B0604020104020204" pitchFamily="34" charset="0"/>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dirty="0"/>
          </a:p>
        </p:txBody>
      </p:sp>
      <p:sp>
        <p:nvSpPr>
          <p:cNvPr id="47" name="Google Shape;47;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badi" panose="020F0502020204030204" pitchFamily="34" charset="0"/>
            </a:endParaRPr>
          </a:p>
        </p:txBody>
      </p:sp>
      <p:cxnSp>
        <p:nvCxnSpPr>
          <p:cNvPr id="50" name="Google Shape;5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51" name="Google Shape;51;p9"/>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1"/>
              </a:buClr>
              <a:buSzPts val="3600"/>
              <a:buNone/>
              <a:defRPr sz="3600">
                <a:solidFill>
                  <a:schemeClr val="dk1"/>
                </a:solidFill>
                <a:latin typeface="Abadi" panose="020B0604020104020204" pitchFamily="34" charset="0"/>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a:endParaRPr dirty="0"/>
          </a:p>
        </p:txBody>
      </p:sp>
      <p:sp>
        <p:nvSpPr>
          <p:cNvPr id="52" name="Google Shape;52;p9"/>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atin typeface="Abadi" panose="020B0604020104020204" pitchFamily="34" charset="0"/>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dirty="0"/>
          </a:p>
        </p:txBody>
      </p:sp>
      <p:sp>
        <p:nvSpPr>
          <p:cNvPr id="53" name="Google Shape;5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latin typeface="Abadi" panose="020B0604020104020204" pitchFamily="34" charset="0"/>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dirty="0"/>
          </a:p>
        </p:txBody>
      </p:sp>
      <p:sp>
        <p:nvSpPr>
          <p:cNvPr id="54" name="Google Shape;54;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57" name="Google Shape;57;p10"/>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58" name="Google Shape;58;p10"/>
          <p:cNvSpPr txBox="1">
            <a:spLocks noGrp="1"/>
          </p:cNvSpPr>
          <p:nvPr>
            <p:ph type="body" idx="1"/>
          </p:nvPr>
        </p:nvSpPr>
        <p:spPr>
          <a:xfrm>
            <a:off x="328017" y="4226025"/>
            <a:ext cx="8388600" cy="3936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atin typeface="Abadi" panose="020B0604020104020204" pitchFamily="34" charset="0"/>
              </a:defRPr>
            </a:lvl1pPr>
          </a:lstStyle>
          <a:p>
            <a:endParaRPr dirty="0"/>
          </a:p>
        </p:txBody>
      </p:sp>
      <p:sp>
        <p:nvSpPr>
          <p:cNvPr id="59" name="Google Shape;59;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62" name="Google Shape;62;p11"/>
          <p:cNvCxnSpPr/>
          <p:nvPr/>
        </p:nvCxnSpPr>
        <p:spPr>
          <a:xfrm>
            <a:off x="425200" y="415650"/>
            <a:ext cx="8296800" cy="0"/>
          </a:xfrm>
          <a:prstGeom prst="straightConnector1">
            <a:avLst/>
          </a:prstGeom>
          <a:noFill/>
          <a:ln w="38100" cap="flat" cmpd="sng">
            <a:solidFill>
              <a:schemeClr val="dk2"/>
            </a:solidFill>
            <a:prstDash val="solid"/>
            <a:round/>
            <a:headEnd type="none" w="sm" len="sm"/>
            <a:tailEnd type="none" w="sm" len="sm"/>
          </a:ln>
        </p:spPr>
      </p:cxnSp>
      <p:sp>
        <p:nvSpPr>
          <p:cNvPr id="63" name="Google Shape;63;p11"/>
          <p:cNvSpPr txBox="1">
            <a:spLocks noGrp="1"/>
          </p:cNvSpPr>
          <p:nvPr>
            <p:ph type="title" hasCustomPrompt="1"/>
          </p:nvPr>
        </p:nvSpPr>
        <p:spPr>
          <a:xfrm>
            <a:off x="853950" y="1304850"/>
            <a:ext cx="74361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9600"/>
              <a:buFont typeface="Lato"/>
              <a:buNone/>
              <a:defRPr sz="9600">
                <a:solidFill>
                  <a:schemeClr val="dk1"/>
                </a:solidFill>
                <a:latin typeface="Abadi" panose="020B0604020104020204" pitchFamily="34" charset="0"/>
                <a:ea typeface="Abadi" panose="020B0604020104020204" pitchFamily="34" charset="0"/>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rPr dirty="0"/>
              <a:t>xx%</a:t>
            </a:r>
          </a:p>
        </p:txBody>
      </p:sp>
      <p:sp>
        <p:nvSpPr>
          <p:cNvPr id="64" name="Google Shape;64;p11"/>
          <p:cNvSpPr txBox="1">
            <a:spLocks noGrp="1"/>
          </p:cNvSpPr>
          <p:nvPr>
            <p:ph type="body" idx="1"/>
          </p:nvPr>
        </p:nvSpPr>
        <p:spPr>
          <a:xfrm>
            <a:off x="853950" y="2919450"/>
            <a:ext cx="74361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atin typeface="Abadi" panose="020B0604020104020204" pitchFamily="34" charset="0"/>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dirty="0"/>
          </a:p>
        </p:txBody>
      </p:sp>
      <p:sp>
        <p:nvSpPr>
          <p:cNvPr id="65" name="Google Shape;65;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altLang="ja" smtClean="0"/>
              <a:pPr/>
              <a:t>‹#›</a:t>
            </a:fld>
            <a:endParaRPr lang="ja"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US" altLang="ja" smtClean="0"/>
              <a:pPr/>
              <a:t>‹#›</a:t>
            </a:fld>
            <a:endParaRPr lang="ja"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wiss-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400250" y="575950"/>
            <a:ext cx="6321600" cy="635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dirty="0"/>
          </a:p>
        </p:txBody>
      </p:sp>
      <p:sp>
        <p:nvSpPr>
          <p:cNvPr id="7" name="Google Shape;7;p1"/>
          <p:cNvSpPr txBox="1">
            <a:spLocks noGrp="1"/>
          </p:cNvSpPr>
          <p:nvPr>
            <p:ph type="body" idx="1"/>
          </p:nvPr>
        </p:nvSpPr>
        <p:spPr>
          <a:xfrm>
            <a:off x="2410112" y="1595776"/>
            <a:ext cx="6321600" cy="3002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a:endParaRPr dirty="0"/>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Abadi" panose="020B0604020104020204" pitchFamily="34" charset="0"/>
                <a:ea typeface="Abadi" panose="020B0604020104020204" pitchFamily="34" charset="0"/>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fld id="{00000000-1234-1234-1234-123412341234}" type="slidenum">
              <a:rPr lang="en-US" altLang="ja" smtClean="0"/>
              <a:pPr/>
              <a:t>‹#›</a:t>
            </a:fld>
            <a:endParaRPr lang="ja" altLang="en-US" dirty="0"/>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badi" panose="020B0604020104020204" pitchFamily="34" charset="0"/>
          <a:ea typeface="Abadi" panose="020B0604020104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badi" panose="020B0604020104020204" pitchFamily="34" charset="0"/>
          <a:ea typeface="Abadi" panose="020B0604020104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3"/>
          <p:cNvSpPr txBox="1">
            <a:spLocks noGrp="1"/>
          </p:cNvSpPr>
          <p:nvPr>
            <p:ph type="ctrTitle"/>
          </p:nvPr>
        </p:nvSpPr>
        <p:spPr>
          <a:xfrm>
            <a:off x="125100" y="1559753"/>
            <a:ext cx="8893800" cy="1695175"/>
          </a:xfrm>
          <a:prstGeom prst="rect">
            <a:avLst/>
          </a:prstGeom>
        </p:spPr>
        <p:txBody>
          <a:bodyPr spcFirstLastPara="1" wrap="square" lIns="91425" tIns="91425" rIns="91425" bIns="91425" anchor="t" anchorCtr="0">
            <a:noAutofit/>
          </a:bodyPr>
          <a:lstStyle/>
          <a:p>
            <a:pPr lvl="0" algn="ctr"/>
            <a:r>
              <a:rPr lang="ja-JP" altLang="en-US" sz="3200" dirty="0"/>
              <a:t>異文化感受性発達モデル（</a:t>
            </a:r>
            <a:r>
              <a:rPr lang="en-US" altLang="ja-JP" sz="3200" dirty="0"/>
              <a:t>DMIS</a:t>
            </a:r>
            <a:r>
              <a:rPr lang="ja-JP" altLang="en-US" sz="3200" dirty="0"/>
              <a:t>）と翻訳技法を接続するモデルの構築</a:t>
            </a:r>
            <a:br>
              <a:rPr lang="en-US" altLang="ja-JP" sz="4000" dirty="0"/>
            </a:br>
            <a:r>
              <a:rPr lang="ja-JP" altLang="en-US" sz="2800" dirty="0"/>
              <a:t>～夏目漱石</a:t>
            </a:r>
            <a:r>
              <a:rPr lang="en-US" altLang="ja-JP" sz="2800" dirty="0"/>
              <a:t>『</a:t>
            </a:r>
            <a:r>
              <a:rPr lang="ja-JP" altLang="en-US" sz="2800" dirty="0"/>
              <a:t>こころ</a:t>
            </a:r>
            <a:r>
              <a:rPr lang="en-US" altLang="ja-JP" sz="2800" dirty="0"/>
              <a:t>』</a:t>
            </a:r>
            <a:r>
              <a:rPr lang="ja-JP" altLang="en-US" sz="2800" dirty="0"/>
              <a:t>英訳を対象に～</a:t>
            </a:r>
            <a:endParaRPr sz="2800" dirty="0">
              <a:latin typeface="BIZ UDPゴシック" panose="020B0400000000000000" pitchFamily="50" charset="-128"/>
              <a:ea typeface="BIZ UDPゴシック" panose="020B0400000000000000" pitchFamily="50" charset="-128"/>
            </a:endParaRPr>
          </a:p>
        </p:txBody>
      </p:sp>
      <p:sp>
        <p:nvSpPr>
          <p:cNvPr id="73" name="Google Shape;73;p13"/>
          <p:cNvSpPr txBox="1">
            <a:spLocks noGrp="1"/>
          </p:cNvSpPr>
          <p:nvPr>
            <p:ph type="subTitle" idx="1"/>
          </p:nvPr>
        </p:nvSpPr>
        <p:spPr>
          <a:xfrm>
            <a:off x="6715538" y="4227525"/>
            <a:ext cx="2303362" cy="45355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ja" dirty="0">
                <a:latin typeface="BIZ UDPゴシック" panose="020B0400000000000000" pitchFamily="50" charset="-128"/>
                <a:ea typeface="BIZ UDPゴシック" panose="020B0400000000000000" pitchFamily="50" charset="-128"/>
              </a:rPr>
              <a:t>J2200156 矢沢柊</a:t>
            </a:r>
            <a:endParaRPr dirty="0">
              <a:latin typeface="BIZ UDPゴシック" panose="020B0400000000000000" pitchFamily="50" charset="-128"/>
              <a:ea typeface="BIZ UDPゴシック" panose="020B0400000000000000" pitchFamily="50"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
          <a:extLst>
            <a:ext uri="{FF2B5EF4-FFF2-40B4-BE49-F238E27FC236}">
              <a16:creationId xmlns:a16="http://schemas.microsoft.com/office/drawing/2014/main" id="{43B28012-0329-41E9-4169-EE9EFD543708}"/>
            </a:ext>
          </a:extLst>
        </p:cNvPr>
        <p:cNvGrpSpPr/>
        <p:nvPr/>
      </p:nvGrpSpPr>
      <p:grpSpPr>
        <a:xfrm>
          <a:off x="0" y="0"/>
          <a:ext cx="0" cy="0"/>
          <a:chOff x="0" y="0"/>
          <a:chExt cx="0" cy="0"/>
        </a:xfrm>
      </p:grpSpPr>
      <p:sp>
        <p:nvSpPr>
          <p:cNvPr id="78" name="Google Shape;78;p14">
            <a:extLst>
              <a:ext uri="{FF2B5EF4-FFF2-40B4-BE49-F238E27FC236}">
                <a16:creationId xmlns:a16="http://schemas.microsoft.com/office/drawing/2014/main" id="{5F4A9311-CAA3-ED31-8130-383ACD4AB263}"/>
              </a:ext>
            </a:extLst>
          </p:cNvPr>
          <p:cNvSpPr txBox="1">
            <a:spLocks noGrp="1"/>
          </p:cNvSpPr>
          <p:nvPr>
            <p:ph type="title"/>
          </p:nvPr>
        </p:nvSpPr>
        <p:spPr>
          <a:xfrm>
            <a:off x="265500" y="1912650"/>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dirty="0">
                <a:latin typeface="BIZ UDPゴシック" panose="020B0400000000000000" pitchFamily="50" charset="-128"/>
                <a:ea typeface="BIZ UDPゴシック" panose="020B0400000000000000" pitchFamily="50" charset="-128"/>
              </a:rPr>
              <a:t>流れ</a:t>
            </a:r>
            <a:endParaRPr dirty="0">
              <a:latin typeface="BIZ UDPゴシック" panose="020B0400000000000000" pitchFamily="50" charset="-128"/>
              <a:ea typeface="BIZ UDPゴシック" panose="020B0400000000000000" pitchFamily="50" charset="-128"/>
            </a:endParaRPr>
          </a:p>
        </p:txBody>
      </p:sp>
      <p:sp>
        <p:nvSpPr>
          <p:cNvPr id="79" name="Google Shape;79;p14">
            <a:extLst>
              <a:ext uri="{FF2B5EF4-FFF2-40B4-BE49-F238E27FC236}">
                <a16:creationId xmlns:a16="http://schemas.microsoft.com/office/drawing/2014/main" id="{3462B9C2-56D2-5E1C-B285-F6D574B9E108}"/>
              </a:ext>
            </a:extLst>
          </p:cNvPr>
          <p:cNvSpPr txBox="1">
            <a:spLocks noGrp="1"/>
          </p:cNvSpPr>
          <p:nvPr>
            <p:ph type="body" idx="2"/>
          </p:nvPr>
        </p:nvSpPr>
        <p:spPr>
          <a:xfrm>
            <a:off x="4476750" y="724200"/>
            <a:ext cx="4755000" cy="3695100"/>
          </a:xfrm>
          <a:prstGeom prst="rect">
            <a:avLst/>
          </a:prstGeom>
        </p:spPr>
        <p:txBody>
          <a:bodyPr spcFirstLastPara="1" wrap="square" lIns="91425" tIns="91425" rIns="91425" bIns="91425" anchor="ctr" anchorCtr="0">
            <a:noAutofit/>
          </a:bodyPr>
          <a:lstStyle/>
          <a:p>
            <a:pPr marL="133350" lvl="0" indent="0">
              <a:buSzPts val="1500"/>
              <a:buNone/>
            </a:pPr>
            <a:r>
              <a:rPr lang="ja-JP" altLang="en-US" sz="1600" b="1" dirty="0">
                <a:latin typeface="BIZ UDPゴシック" panose="020B0400000000000000" pitchFamily="50" charset="-128"/>
                <a:ea typeface="BIZ UDPゴシック" panose="020B0400000000000000" pitchFamily="50" charset="-128"/>
              </a:rPr>
              <a:t>１．  翻訳の例： 訳し方で読者の理解は変わる</a:t>
            </a:r>
            <a:endParaRPr lang="en-US" altLang="ja-JP" sz="1600" b="1"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dirty="0">
                <a:latin typeface="BIZ UDPゴシック" panose="020B0400000000000000" pitchFamily="50" charset="-128"/>
                <a:ea typeface="BIZ UDPゴシック" panose="020B0400000000000000" pitchFamily="50" charset="-128"/>
              </a:rPr>
              <a:t>２</a:t>
            </a:r>
            <a:r>
              <a:rPr lang="en-US" altLang="ja-JP" sz="1600" b="1" dirty="0">
                <a:latin typeface="BIZ UDPゴシック" panose="020B0400000000000000" pitchFamily="50" charset="-128"/>
                <a:ea typeface="BIZ UDPゴシック" panose="020B0400000000000000" pitchFamily="50" charset="-128"/>
              </a:rPr>
              <a:t>.</a:t>
            </a:r>
            <a:r>
              <a:rPr lang="ja-JP" altLang="en-US" sz="1600" b="1" dirty="0">
                <a:latin typeface="BIZ UDPゴシック" panose="020B0400000000000000" pitchFamily="50" charset="-128"/>
                <a:ea typeface="BIZ UDPゴシック" panose="020B0400000000000000" pitchFamily="50" charset="-128"/>
              </a:rPr>
              <a:t>  研究目的</a:t>
            </a:r>
            <a:endParaRPr lang="en-US" altLang="ja-JP" sz="1600" b="1" dirty="0">
              <a:latin typeface="BIZ UDPゴシック" panose="020B0400000000000000" pitchFamily="50" charset="-128"/>
              <a:ea typeface="BIZ UDPゴシック" panose="020B0400000000000000" pitchFamily="50" charset="-128"/>
            </a:endParaRPr>
          </a:p>
          <a:p>
            <a:pPr marL="133350" lvl="0" indent="0">
              <a:buSzPts val="1500"/>
              <a:buNone/>
            </a:pPr>
            <a:r>
              <a:rPr lang="en-US" sz="1600" b="1" dirty="0">
                <a:latin typeface="BIZ UDPゴシック" panose="020B0400000000000000" pitchFamily="50" charset="-128"/>
                <a:ea typeface="BIZ UDPゴシック" panose="020B0400000000000000" pitchFamily="50" charset="-128"/>
              </a:rPr>
              <a:t>3.</a:t>
            </a:r>
            <a:r>
              <a:rPr lang="ja-JP" altLang="en-US" sz="1600" b="1" dirty="0">
                <a:latin typeface="BIZ UDPゴシック" panose="020B0400000000000000" pitchFamily="50" charset="-128"/>
                <a:ea typeface="BIZ UDPゴシック" panose="020B0400000000000000" pitchFamily="50" charset="-128"/>
              </a:rPr>
              <a:t>  分析方法</a:t>
            </a:r>
            <a:endParaRPr lang="en-US" altLang="ja-JP" sz="1600" b="1" dirty="0">
              <a:latin typeface="BIZ UDPゴシック" panose="020B0400000000000000" pitchFamily="50" charset="-128"/>
              <a:ea typeface="BIZ UDPゴシック" panose="020B0400000000000000" pitchFamily="50" charset="-128"/>
            </a:endParaRPr>
          </a:p>
          <a:p>
            <a:pPr marL="133350" lvl="0" indent="0">
              <a:buSzPts val="1500"/>
              <a:buNone/>
            </a:pPr>
            <a:r>
              <a:rPr lang="en-US" sz="1600" b="1" dirty="0">
                <a:latin typeface="BIZ UDPゴシック" panose="020B0400000000000000" pitchFamily="50" charset="-128"/>
                <a:ea typeface="BIZ UDPゴシック" panose="020B0400000000000000" pitchFamily="50" charset="-128"/>
              </a:rPr>
              <a:t>4.</a:t>
            </a:r>
            <a:r>
              <a:rPr lang="ja-JP" altLang="en-US" sz="1600" b="1" dirty="0">
                <a:latin typeface="BIZ UDPゴシック" panose="020B0400000000000000" pitchFamily="50" charset="-128"/>
                <a:ea typeface="BIZ UDPゴシック" panose="020B0400000000000000" pitchFamily="50" charset="-128"/>
              </a:rPr>
              <a:t> </a:t>
            </a:r>
            <a:r>
              <a:rPr lang="en-US" sz="1600" b="1" dirty="0">
                <a:latin typeface="BIZ UDPゴシック" panose="020B0400000000000000" pitchFamily="50" charset="-128"/>
                <a:ea typeface="BIZ UDPゴシック" panose="020B0400000000000000" pitchFamily="50" charset="-128"/>
              </a:rPr>
              <a:t> </a:t>
            </a:r>
            <a:r>
              <a:rPr lang="ja-JP" altLang="en-US" sz="1600" b="1" dirty="0">
                <a:latin typeface="BIZ UDPゴシック" panose="020B0400000000000000" pitchFamily="50" charset="-128"/>
                <a:ea typeface="BIZ UDPゴシック" panose="020B0400000000000000" pitchFamily="50" charset="-128"/>
              </a:rPr>
              <a:t>分析結果（全体傾向と相関分析結果）</a:t>
            </a:r>
            <a:endParaRPr lang="en-US" altLang="ja-JP" sz="1600" b="1"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dirty="0">
                <a:latin typeface="BIZ UDPゴシック" panose="020B0400000000000000" pitchFamily="50" charset="-128"/>
                <a:ea typeface="BIZ UDPゴシック" panose="020B0400000000000000" pitchFamily="50" charset="-128"/>
              </a:rPr>
              <a:t>５</a:t>
            </a:r>
            <a:r>
              <a:rPr lang="en-US" altLang="ja-JP" sz="1600" b="1" dirty="0">
                <a:latin typeface="BIZ UDPゴシック" panose="020B0400000000000000" pitchFamily="50" charset="-128"/>
                <a:ea typeface="BIZ UDPゴシック" panose="020B0400000000000000" pitchFamily="50" charset="-128"/>
              </a:rPr>
              <a:t>.</a:t>
            </a:r>
            <a:r>
              <a:rPr lang="ja-JP" altLang="en-US" sz="1600" b="1" dirty="0">
                <a:latin typeface="BIZ UDPゴシック" panose="020B0400000000000000" pitchFamily="50" charset="-128"/>
                <a:ea typeface="BIZ UDPゴシック" panose="020B0400000000000000" pitchFamily="50" charset="-128"/>
              </a:rPr>
              <a:t>  考察</a:t>
            </a:r>
            <a:endParaRPr lang="en-US" altLang="ja-JP" sz="1600" b="1"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dirty="0">
                <a:latin typeface="BIZ UDPゴシック" panose="020B0400000000000000" pitchFamily="50" charset="-128"/>
                <a:ea typeface="BIZ UDPゴシック" panose="020B0400000000000000" pitchFamily="50" charset="-128"/>
              </a:rPr>
              <a:t>６． 結論 ・ 今後の課題</a:t>
            </a:r>
            <a:endParaRPr lang="en-US" altLang="ja-JP" sz="1600" b="1"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03389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15B88074-6ED1-B2E5-4FFD-1DFFB2AC9BF4}"/>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03F42F39-3506-A8C1-8114-011698C5F954}"/>
              </a:ext>
            </a:extLst>
          </p:cNvPr>
          <p:cNvSpPr txBox="1">
            <a:spLocks noGrp="1"/>
          </p:cNvSpPr>
          <p:nvPr>
            <p:ph type="title"/>
          </p:nvPr>
        </p:nvSpPr>
        <p:spPr>
          <a:xfrm>
            <a:off x="0" y="396483"/>
            <a:ext cx="85656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latin typeface="BIZ UDPゴシック" panose="020B0400000000000000" pitchFamily="50" charset="-128"/>
                <a:ea typeface="BIZ UDPゴシック" panose="020B0400000000000000" pitchFamily="50" charset="-128"/>
              </a:rPr>
              <a:t>翻訳の例：訳し方で読者の理解は変わる</a:t>
            </a:r>
            <a:endParaRPr dirty="0">
              <a:latin typeface="BIZ UDPゴシック" panose="020B0400000000000000" pitchFamily="50" charset="-128"/>
              <a:ea typeface="BIZ UDPゴシック" panose="020B0400000000000000" pitchFamily="50" charset="-128"/>
            </a:endParaRPr>
          </a:p>
        </p:txBody>
      </p:sp>
      <p:sp>
        <p:nvSpPr>
          <p:cNvPr id="4" name="テキスト プレースホルダー 3">
            <a:extLst>
              <a:ext uri="{FF2B5EF4-FFF2-40B4-BE49-F238E27FC236}">
                <a16:creationId xmlns:a16="http://schemas.microsoft.com/office/drawing/2014/main" id="{0523E8ED-DE83-E7D5-BABE-BE931A8C7293}"/>
              </a:ext>
            </a:extLst>
          </p:cNvPr>
          <p:cNvSpPr>
            <a:spLocks noGrp="1"/>
          </p:cNvSpPr>
          <p:nvPr>
            <p:ph type="body" idx="2"/>
          </p:nvPr>
        </p:nvSpPr>
        <p:spPr>
          <a:xfrm>
            <a:off x="-80386" y="1085390"/>
            <a:ext cx="5049201" cy="522508"/>
          </a:xfrm>
        </p:spPr>
        <p:txBody>
          <a:bodyPr/>
          <a:lstStyle/>
          <a:p>
            <a:pPr marL="139700" indent="0">
              <a:buNone/>
            </a:pPr>
            <a:r>
              <a:rPr lang="ja-JP" altLang="en-US" sz="1800" dirty="0"/>
              <a:t>具体例</a:t>
            </a:r>
            <a:r>
              <a:rPr lang="ja-JP" altLang="en-US" sz="1800" b="1" dirty="0"/>
              <a:t>「先生」</a:t>
            </a:r>
            <a:r>
              <a:rPr lang="ja-JP" altLang="en-US" sz="1800" dirty="0"/>
              <a:t>（夏目漱石</a:t>
            </a:r>
            <a:r>
              <a:rPr lang="en-US" altLang="ja-JP" sz="1800" dirty="0"/>
              <a:t>『</a:t>
            </a:r>
            <a:r>
              <a:rPr lang="ja-JP" altLang="en-US" sz="1800" dirty="0"/>
              <a:t>こころ</a:t>
            </a:r>
            <a:r>
              <a:rPr lang="en-US" altLang="ja-JP" sz="1800" dirty="0"/>
              <a:t>』</a:t>
            </a:r>
            <a:r>
              <a:rPr lang="ja-JP" altLang="en-US" sz="1800" dirty="0"/>
              <a:t>）</a:t>
            </a:r>
            <a:endParaRPr lang="en-US" altLang="ja-JP" sz="1800" dirty="0"/>
          </a:p>
          <a:p>
            <a:pPr marL="139700" indent="0">
              <a:buNone/>
            </a:pPr>
            <a:endParaRPr lang="en-US" altLang="ja-JP" sz="1800" dirty="0"/>
          </a:p>
          <a:p>
            <a:pPr marL="139700" indent="0">
              <a:buNone/>
            </a:pPr>
            <a:endParaRPr lang="en-US" altLang="ja-JP" dirty="0"/>
          </a:p>
          <a:p>
            <a:pPr marL="139700" indent="0">
              <a:buNone/>
            </a:pPr>
            <a:endParaRPr lang="ja-JP" altLang="en-US" dirty="0"/>
          </a:p>
        </p:txBody>
      </p:sp>
      <p:sp>
        <p:nvSpPr>
          <p:cNvPr id="8" name="テキスト プレースホルダー 3">
            <a:extLst>
              <a:ext uri="{FF2B5EF4-FFF2-40B4-BE49-F238E27FC236}">
                <a16:creationId xmlns:a16="http://schemas.microsoft.com/office/drawing/2014/main" id="{0CF76D43-11BB-D58D-9FFE-A3E78462631E}"/>
              </a:ext>
            </a:extLst>
          </p:cNvPr>
          <p:cNvSpPr txBox="1">
            <a:spLocks/>
          </p:cNvSpPr>
          <p:nvPr/>
        </p:nvSpPr>
        <p:spPr>
          <a:xfrm>
            <a:off x="40384" y="4055893"/>
            <a:ext cx="9103616" cy="5965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139700" indent="0">
              <a:buNone/>
            </a:pPr>
            <a:r>
              <a:rPr lang="ja-JP" altLang="en-US" sz="2000" dirty="0">
                <a:solidFill>
                  <a:schemeClr val="tx1"/>
                </a:solidFill>
                <a:latin typeface="+mj-lt"/>
              </a:rPr>
              <a:t>同じ原文でも、訳し方で読者の理解は変わる👈</a:t>
            </a:r>
            <a:r>
              <a:rPr lang="ja-JP" altLang="en-US" sz="2000" dirty="0">
                <a:solidFill>
                  <a:schemeClr val="bg2"/>
                </a:solidFill>
              </a:rPr>
              <a:t>ここに法則性があるのでは？</a:t>
            </a:r>
            <a:endParaRPr lang="en-US" altLang="ja-JP" sz="2000" dirty="0">
              <a:solidFill>
                <a:schemeClr val="tx1"/>
              </a:solidFill>
              <a:latin typeface="+mj-lt"/>
            </a:endParaRPr>
          </a:p>
        </p:txBody>
      </p:sp>
      <p:sp>
        <p:nvSpPr>
          <p:cNvPr id="12" name="テキスト プレースホルダー 3">
            <a:extLst>
              <a:ext uri="{FF2B5EF4-FFF2-40B4-BE49-F238E27FC236}">
                <a16:creationId xmlns:a16="http://schemas.microsoft.com/office/drawing/2014/main" id="{38683138-3F7B-6E00-C223-0BFBA33FDB85}"/>
              </a:ext>
            </a:extLst>
          </p:cNvPr>
          <p:cNvSpPr txBox="1">
            <a:spLocks/>
          </p:cNvSpPr>
          <p:nvPr/>
        </p:nvSpPr>
        <p:spPr>
          <a:xfrm>
            <a:off x="207034" y="1873372"/>
            <a:ext cx="8754610" cy="20516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139700" indent="0">
              <a:buFont typeface="Lato"/>
              <a:buNone/>
            </a:pPr>
            <a:r>
              <a:rPr lang="ja-JP" altLang="en-US" sz="1800" b="1" dirty="0"/>
              <a:t>“</a:t>
            </a:r>
            <a:r>
              <a:rPr lang="en-US" altLang="ja-JP" sz="1800" b="1" dirty="0"/>
              <a:t>Teacher”</a:t>
            </a:r>
          </a:p>
          <a:p>
            <a:pPr marL="139700" indent="0">
              <a:buFont typeface="Lato"/>
              <a:buNone/>
            </a:pPr>
            <a:r>
              <a:rPr lang="ja-JP" altLang="en-US" sz="1800" dirty="0"/>
              <a:t>　　⇒読者は「自文化の学校の先生」を想像</a:t>
            </a:r>
            <a:endParaRPr lang="en-US" altLang="ja-JP" sz="1800" dirty="0"/>
          </a:p>
          <a:p>
            <a:pPr marL="139700" indent="0">
              <a:buFont typeface="Lato"/>
              <a:buNone/>
            </a:pPr>
            <a:r>
              <a:rPr lang="en-US" altLang="ja-JP" sz="1800" b="1" dirty="0"/>
              <a:t>“Sensei”</a:t>
            </a:r>
          </a:p>
          <a:p>
            <a:pPr marL="139700" indent="0">
              <a:buFont typeface="Lato"/>
              <a:buNone/>
            </a:pPr>
            <a:r>
              <a:rPr lang="ja-JP" altLang="en-US" sz="1800" dirty="0"/>
              <a:t>　　⇒「自文化にはない“</a:t>
            </a:r>
            <a:r>
              <a:rPr lang="en-US" altLang="ja-JP" sz="1800" dirty="0"/>
              <a:t>Sensei</a:t>
            </a:r>
            <a:r>
              <a:rPr lang="ja-JP" altLang="en-US" sz="1800" dirty="0"/>
              <a:t>”という存在」を認識</a:t>
            </a:r>
            <a:endParaRPr lang="en-US" altLang="ja-JP" sz="1800" dirty="0"/>
          </a:p>
          <a:p>
            <a:pPr marL="139700" indent="0">
              <a:buNone/>
            </a:pPr>
            <a:r>
              <a:rPr lang="en-US" altLang="ja-JP" sz="1800" b="1" dirty="0"/>
              <a:t>“Sensei</a:t>
            </a:r>
            <a:r>
              <a:rPr lang="ja-JP" altLang="en-US" sz="1800" b="1" dirty="0"/>
              <a:t>”＋</a:t>
            </a:r>
            <a:r>
              <a:rPr lang="ja-JP" altLang="en-US" sz="1500" dirty="0"/>
              <a:t>注釈（</a:t>
            </a:r>
            <a:r>
              <a:rPr lang="en-US" altLang="ja-JP" sz="1500" dirty="0"/>
              <a:t>Unlike the English “Teacher,” this term suggests a spiritual or intellectual guide.</a:t>
            </a:r>
            <a:r>
              <a:rPr lang="ja-JP" altLang="en-US" sz="1500" dirty="0"/>
              <a:t>）</a:t>
            </a:r>
            <a:endParaRPr lang="en-US" altLang="ja-JP" sz="1500" dirty="0"/>
          </a:p>
          <a:p>
            <a:pPr marL="139700" indent="0">
              <a:buNone/>
            </a:pPr>
            <a:r>
              <a:rPr lang="ja-JP" altLang="en-US" sz="1500" dirty="0"/>
              <a:t>　　 </a:t>
            </a:r>
            <a:r>
              <a:rPr lang="ja-JP" altLang="en-US" sz="1800" dirty="0"/>
              <a:t>⇒自文化には無い存在であり、その存在はどんなものなのかを理解</a:t>
            </a:r>
            <a:endParaRPr lang="en-US" altLang="ja-JP" dirty="0"/>
          </a:p>
        </p:txBody>
      </p:sp>
      <p:sp>
        <p:nvSpPr>
          <p:cNvPr id="2" name="テキスト プレースホルダー 3">
            <a:extLst>
              <a:ext uri="{FF2B5EF4-FFF2-40B4-BE49-F238E27FC236}">
                <a16:creationId xmlns:a16="http://schemas.microsoft.com/office/drawing/2014/main" id="{54ACAE35-9F12-AE28-68B1-8BB1C801197E}"/>
              </a:ext>
            </a:extLst>
          </p:cNvPr>
          <p:cNvSpPr txBox="1">
            <a:spLocks/>
          </p:cNvSpPr>
          <p:nvPr/>
        </p:nvSpPr>
        <p:spPr>
          <a:xfrm>
            <a:off x="-181155" y="1518915"/>
            <a:ext cx="1337094" cy="52250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139700" indent="0">
              <a:buFont typeface="Lato"/>
              <a:buNone/>
            </a:pPr>
            <a:r>
              <a:rPr lang="en-US" altLang="ja-JP" sz="1800" dirty="0"/>
              <a:t>【</a:t>
            </a:r>
            <a:r>
              <a:rPr lang="ja-JP" altLang="en-US" sz="1800" dirty="0"/>
              <a:t>英訳</a:t>
            </a:r>
            <a:r>
              <a:rPr lang="en-US" altLang="ja-JP" sz="1800" dirty="0"/>
              <a:t>】</a:t>
            </a:r>
          </a:p>
          <a:p>
            <a:pPr marL="139700" indent="0">
              <a:buFont typeface="Lato"/>
              <a:buNone/>
            </a:pPr>
            <a:endParaRPr lang="en-US" altLang="ja-JP" dirty="0"/>
          </a:p>
          <a:p>
            <a:pPr marL="139700" indent="0">
              <a:buFont typeface="Lato"/>
              <a:buNone/>
            </a:pPr>
            <a:endParaRPr lang="ja-JP" altLang="en-US" dirty="0"/>
          </a:p>
        </p:txBody>
      </p:sp>
    </p:spTree>
    <p:extLst>
      <p:ext uri="{BB962C8B-B14F-4D97-AF65-F5344CB8AC3E}">
        <p14:creationId xmlns:p14="http://schemas.microsoft.com/office/powerpoint/2010/main" val="292693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477945BF-4B87-F45D-2922-D7453BEA1E12}"/>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25953CEA-1CF0-9EFB-4EF3-9DA9ADFAD38A}"/>
              </a:ext>
            </a:extLst>
          </p:cNvPr>
          <p:cNvSpPr txBox="1">
            <a:spLocks noGrp="1"/>
          </p:cNvSpPr>
          <p:nvPr>
            <p:ph type="title"/>
          </p:nvPr>
        </p:nvSpPr>
        <p:spPr>
          <a:xfrm>
            <a:off x="113966" y="448950"/>
            <a:ext cx="85656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latin typeface="BIZ UDPゴシック" panose="020B0400000000000000" pitchFamily="50" charset="-128"/>
                <a:ea typeface="BIZ UDPゴシック" panose="020B0400000000000000" pitchFamily="50" charset="-128"/>
              </a:rPr>
              <a:t>研究目的</a:t>
            </a:r>
            <a:endParaRPr dirty="0">
              <a:latin typeface="BIZ UDPゴシック" panose="020B0400000000000000" pitchFamily="50" charset="-128"/>
              <a:ea typeface="BIZ UDPゴシック" panose="020B0400000000000000" pitchFamily="50" charset="-128"/>
            </a:endParaRPr>
          </a:p>
        </p:txBody>
      </p:sp>
      <p:sp>
        <p:nvSpPr>
          <p:cNvPr id="14" name="テキスト プレースホルダー 3">
            <a:extLst>
              <a:ext uri="{FF2B5EF4-FFF2-40B4-BE49-F238E27FC236}">
                <a16:creationId xmlns:a16="http://schemas.microsoft.com/office/drawing/2014/main" id="{9314C9E2-143A-CF35-7E19-768EEA3112C4}"/>
              </a:ext>
            </a:extLst>
          </p:cNvPr>
          <p:cNvSpPr txBox="1">
            <a:spLocks/>
          </p:cNvSpPr>
          <p:nvPr/>
        </p:nvSpPr>
        <p:spPr>
          <a:xfrm>
            <a:off x="0" y="1331530"/>
            <a:ext cx="8904465" cy="15055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139700" indent="0">
              <a:buFont typeface="Lato"/>
              <a:buNone/>
            </a:pPr>
            <a:r>
              <a:rPr lang="ja-JP" altLang="en-US" sz="2400" b="1" u="sng" dirty="0">
                <a:solidFill>
                  <a:schemeClr val="tx1"/>
                </a:solidFill>
              </a:rPr>
              <a:t>翻訳技法</a:t>
            </a:r>
            <a:r>
              <a:rPr lang="ja-JP" altLang="en-US" sz="2400" b="1" dirty="0">
                <a:solidFill>
                  <a:schemeClr val="bg2"/>
                </a:solidFill>
              </a:rPr>
              <a:t>の選択が</a:t>
            </a:r>
            <a:r>
              <a:rPr lang="ja-JP" altLang="en-US" sz="2400" b="1" u="sng" dirty="0">
                <a:solidFill>
                  <a:schemeClr val="tx1"/>
                </a:solidFill>
              </a:rPr>
              <a:t>読者の異文化理解</a:t>
            </a:r>
            <a:r>
              <a:rPr lang="ja-JP" altLang="en-US" sz="2400" b="1" dirty="0">
                <a:solidFill>
                  <a:schemeClr val="bg2"/>
                </a:solidFill>
              </a:rPr>
              <a:t>に</a:t>
            </a:r>
            <a:endParaRPr lang="en-US" altLang="ja-JP" sz="2400" b="1" dirty="0">
              <a:solidFill>
                <a:schemeClr val="bg2"/>
              </a:solidFill>
            </a:endParaRPr>
          </a:p>
          <a:p>
            <a:pPr marL="139700" indent="0">
              <a:buFont typeface="Lato"/>
              <a:buNone/>
            </a:pPr>
            <a:r>
              <a:rPr lang="en-US" altLang="ja-JP" sz="2400" b="1" dirty="0">
                <a:solidFill>
                  <a:schemeClr val="tx1"/>
                </a:solidFill>
              </a:rPr>
              <a:t>		</a:t>
            </a:r>
            <a:r>
              <a:rPr lang="ja-JP" altLang="en-US" sz="2400" b="1" dirty="0">
                <a:solidFill>
                  <a:schemeClr val="bg2"/>
                </a:solidFill>
              </a:rPr>
              <a:t>どんな影響を与えているのかを明らかにすること</a:t>
            </a:r>
            <a:endParaRPr lang="en-US" altLang="ja-JP" sz="2400" b="1" dirty="0">
              <a:solidFill>
                <a:schemeClr val="bg2"/>
              </a:solidFill>
            </a:endParaRPr>
          </a:p>
        </p:txBody>
      </p:sp>
      <p:sp>
        <p:nvSpPr>
          <p:cNvPr id="15" name="テキスト プレースホルダー 3">
            <a:extLst>
              <a:ext uri="{FF2B5EF4-FFF2-40B4-BE49-F238E27FC236}">
                <a16:creationId xmlns:a16="http://schemas.microsoft.com/office/drawing/2014/main" id="{B44BBC38-A14D-70F1-68EF-AB0E7FF0C3E4}"/>
              </a:ext>
            </a:extLst>
          </p:cNvPr>
          <p:cNvSpPr txBox="1">
            <a:spLocks/>
          </p:cNvSpPr>
          <p:nvPr/>
        </p:nvSpPr>
        <p:spPr>
          <a:xfrm>
            <a:off x="69682" y="2647508"/>
            <a:ext cx="7476578" cy="4367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139700" indent="0">
              <a:buFont typeface="Lato"/>
              <a:buNone/>
            </a:pPr>
            <a:r>
              <a:rPr lang="ja-JP" altLang="en-US" sz="1800" dirty="0">
                <a:solidFill>
                  <a:schemeClr val="bg2"/>
                </a:solidFill>
              </a:rPr>
              <a:t>具体的には文化的要素（ある文化圏にのみ存在する言葉）について</a:t>
            </a:r>
            <a:br>
              <a:rPr lang="en-US" altLang="ja-JP" sz="1800" dirty="0">
                <a:solidFill>
                  <a:schemeClr val="bg2"/>
                </a:solidFill>
              </a:rPr>
            </a:br>
            <a:endParaRPr lang="en-US" altLang="ja-JP" sz="1800" dirty="0">
              <a:solidFill>
                <a:schemeClr val="bg2"/>
              </a:solidFill>
            </a:endParaRPr>
          </a:p>
        </p:txBody>
      </p:sp>
      <p:sp>
        <p:nvSpPr>
          <p:cNvPr id="16" name="テキスト プレースホルダー 3">
            <a:extLst>
              <a:ext uri="{FF2B5EF4-FFF2-40B4-BE49-F238E27FC236}">
                <a16:creationId xmlns:a16="http://schemas.microsoft.com/office/drawing/2014/main" id="{1B149D1E-8B47-EDEB-6FD1-9181A521CCBA}"/>
              </a:ext>
            </a:extLst>
          </p:cNvPr>
          <p:cNvSpPr txBox="1">
            <a:spLocks/>
          </p:cNvSpPr>
          <p:nvPr/>
        </p:nvSpPr>
        <p:spPr>
          <a:xfrm>
            <a:off x="1532283" y="3129213"/>
            <a:ext cx="6079433" cy="10616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139700" indent="0" algn="ctr">
              <a:buFont typeface="Lato"/>
              <a:buNone/>
            </a:pPr>
            <a:r>
              <a:rPr lang="ja-JP" altLang="en-US" sz="1800" u="sng" dirty="0">
                <a:solidFill>
                  <a:schemeClr val="tx1"/>
                </a:solidFill>
              </a:rPr>
              <a:t>翻訳技法</a:t>
            </a:r>
            <a:r>
              <a:rPr lang="ja-JP" altLang="en-US" sz="1800" dirty="0">
                <a:solidFill>
                  <a:schemeClr val="tx1"/>
                </a:solidFill>
              </a:rPr>
              <a:t>（</a:t>
            </a:r>
            <a:r>
              <a:rPr lang="en-US" altLang="ja-JP" sz="1800" dirty="0">
                <a:solidFill>
                  <a:schemeClr val="tx1"/>
                </a:solidFill>
              </a:rPr>
              <a:t>10</a:t>
            </a:r>
            <a:r>
              <a:rPr lang="ja-JP" altLang="en-US" sz="1800" dirty="0">
                <a:solidFill>
                  <a:schemeClr val="tx1"/>
                </a:solidFill>
              </a:rPr>
              <a:t>種類）</a:t>
            </a:r>
            <a:endParaRPr lang="en-US" altLang="ja-JP" sz="1800" dirty="0">
              <a:solidFill>
                <a:schemeClr val="tx1"/>
              </a:solidFill>
            </a:endParaRPr>
          </a:p>
          <a:p>
            <a:pPr marL="139700" indent="0" algn="ctr">
              <a:buFont typeface="Lato"/>
              <a:buNone/>
            </a:pPr>
            <a:r>
              <a:rPr lang="en-US" altLang="ja-JP" sz="1800" dirty="0">
                <a:solidFill>
                  <a:schemeClr val="bg2"/>
                </a:solidFill>
              </a:rPr>
              <a:t>×</a:t>
            </a:r>
            <a:r>
              <a:rPr lang="ja-JP" altLang="en-US" sz="1800" dirty="0">
                <a:solidFill>
                  <a:schemeClr val="bg2"/>
                </a:solidFill>
              </a:rPr>
              <a:t>  </a:t>
            </a:r>
            <a:endParaRPr lang="en-US" altLang="ja-JP" sz="1800" dirty="0">
              <a:solidFill>
                <a:schemeClr val="bg2"/>
              </a:solidFill>
            </a:endParaRPr>
          </a:p>
          <a:p>
            <a:pPr marL="139700" indent="0" algn="ctr">
              <a:buFont typeface="Lato"/>
              <a:buNone/>
            </a:pPr>
            <a:r>
              <a:rPr lang="ja-JP" altLang="en-US" sz="1800" u="sng" dirty="0">
                <a:solidFill>
                  <a:schemeClr val="tx1"/>
                </a:solidFill>
              </a:rPr>
              <a:t>読者の異文化理解度</a:t>
            </a:r>
            <a:r>
              <a:rPr lang="ja-JP" altLang="en-US" sz="1800" dirty="0">
                <a:solidFill>
                  <a:schemeClr val="tx1"/>
                </a:solidFill>
              </a:rPr>
              <a:t>（４段階）</a:t>
            </a:r>
            <a:endParaRPr lang="en-US" altLang="ja-JP" sz="1800" dirty="0">
              <a:solidFill>
                <a:schemeClr val="bg2"/>
              </a:solidFill>
            </a:endParaRPr>
          </a:p>
        </p:txBody>
      </p:sp>
      <p:sp>
        <p:nvSpPr>
          <p:cNvPr id="17" name="テキスト プレースホルダー 3">
            <a:extLst>
              <a:ext uri="{FF2B5EF4-FFF2-40B4-BE49-F238E27FC236}">
                <a16:creationId xmlns:a16="http://schemas.microsoft.com/office/drawing/2014/main" id="{C579967E-491D-9340-B663-69467D2C665E}"/>
              </a:ext>
            </a:extLst>
          </p:cNvPr>
          <p:cNvSpPr txBox="1">
            <a:spLocks/>
          </p:cNvSpPr>
          <p:nvPr/>
        </p:nvSpPr>
        <p:spPr>
          <a:xfrm>
            <a:off x="5110722" y="4262976"/>
            <a:ext cx="3568844" cy="44001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139700" indent="0">
              <a:buFont typeface="Lato"/>
              <a:buNone/>
            </a:pPr>
            <a:r>
              <a:rPr lang="ja-JP" altLang="en-US" sz="1800" dirty="0">
                <a:solidFill>
                  <a:schemeClr val="bg2"/>
                </a:solidFill>
              </a:rPr>
              <a:t>の対応関係を明らかにすること</a:t>
            </a:r>
            <a:endParaRPr lang="en-US" altLang="ja-JP" sz="1800" dirty="0">
              <a:solidFill>
                <a:schemeClr val="bg2"/>
              </a:solidFill>
            </a:endParaRPr>
          </a:p>
        </p:txBody>
      </p:sp>
    </p:spTree>
    <p:extLst>
      <p:ext uri="{BB962C8B-B14F-4D97-AF65-F5344CB8AC3E}">
        <p14:creationId xmlns:p14="http://schemas.microsoft.com/office/powerpoint/2010/main" val="600840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4146076-5B41-0ADF-3548-819F2CE67972}"/>
            </a:ext>
          </a:extLst>
        </p:cNvPr>
        <p:cNvGrpSpPr/>
        <p:nvPr/>
      </p:nvGrpSpPr>
      <p:grpSpPr>
        <a:xfrm>
          <a:off x="0" y="0"/>
          <a:ext cx="0" cy="0"/>
          <a:chOff x="0" y="0"/>
          <a:chExt cx="0" cy="0"/>
        </a:xfrm>
      </p:grpSpPr>
      <p:sp>
        <p:nvSpPr>
          <p:cNvPr id="78" name="Google Shape;78;p14">
            <a:extLst>
              <a:ext uri="{FF2B5EF4-FFF2-40B4-BE49-F238E27FC236}">
                <a16:creationId xmlns:a16="http://schemas.microsoft.com/office/drawing/2014/main" id="{DA446E15-8976-02D5-D87B-87D38E2543CA}"/>
              </a:ext>
            </a:extLst>
          </p:cNvPr>
          <p:cNvSpPr txBox="1">
            <a:spLocks noGrp="1"/>
          </p:cNvSpPr>
          <p:nvPr>
            <p:ph type="title"/>
          </p:nvPr>
        </p:nvSpPr>
        <p:spPr>
          <a:xfrm>
            <a:off x="265500" y="1912650"/>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dirty="0">
                <a:latin typeface="BIZ UDPゴシック" panose="020B0400000000000000" pitchFamily="50" charset="-128"/>
                <a:ea typeface="BIZ UDPゴシック" panose="020B0400000000000000" pitchFamily="50" charset="-128"/>
              </a:rPr>
              <a:t>流れ</a:t>
            </a:r>
            <a:endParaRPr dirty="0">
              <a:latin typeface="BIZ UDPゴシック" panose="020B0400000000000000" pitchFamily="50" charset="-128"/>
              <a:ea typeface="BIZ UDPゴシック" panose="020B0400000000000000" pitchFamily="50" charset="-128"/>
            </a:endParaRPr>
          </a:p>
        </p:txBody>
      </p:sp>
      <p:sp>
        <p:nvSpPr>
          <p:cNvPr id="79" name="Google Shape;79;p14">
            <a:extLst>
              <a:ext uri="{FF2B5EF4-FFF2-40B4-BE49-F238E27FC236}">
                <a16:creationId xmlns:a16="http://schemas.microsoft.com/office/drawing/2014/main" id="{ED145555-A90A-E869-6794-960A18A234C8}"/>
              </a:ext>
            </a:extLst>
          </p:cNvPr>
          <p:cNvSpPr txBox="1">
            <a:spLocks noGrp="1"/>
          </p:cNvSpPr>
          <p:nvPr>
            <p:ph type="body" idx="2"/>
          </p:nvPr>
        </p:nvSpPr>
        <p:spPr>
          <a:xfrm>
            <a:off x="4476750" y="724200"/>
            <a:ext cx="4755000" cy="3695100"/>
          </a:xfrm>
          <a:prstGeom prst="rect">
            <a:avLst/>
          </a:prstGeom>
        </p:spPr>
        <p:txBody>
          <a:bodyPr spcFirstLastPara="1" wrap="square" lIns="91425" tIns="91425" rIns="91425" bIns="91425" anchor="ctr" anchorCtr="0">
            <a:noAutofit/>
          </a:bodyPr>
          <a:lstStyle/>
          <a:p>
            <a:pPr marL="133350" lvl="0" indent="0">
              <a:buSzPts val="1500"/>
              <a:buNone/>
            </a:pPr>
            <a:r>
              <a:rPr lang="ja-JP" altLang="en-US" sz="1600" b="1" strike="sngStrike" dirty="0">
                <a:latin typeface="BIZ UDPゴシック" panose="020B0400000000000000" pitchFamily="50" charset="-128"/>
                <a:ea typeface="BIZ UDPゴシック" panose="020B0400000000000000" pitchFamily="50" charset="-128"/>
              </a:rPr>
              <a:t>１．  翻訳の例： 訳し方で読者の理解は変わる</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strike="sngStrike" dirty="0">
                <a:latin typeface="BIZ UDPゴシック" panose="020B0400000000000000" pitchFamily="50" charset="-128"/>
                <a:ea typeface="BIZ UDPゴシック" panose="020B0400000000000000" pitchFamily="50" charset="-128"/>
              </a:rPr>
              <a:t>２</a:t>
            </a:r>
            <a:r>
              <a:rPr lang="en-US" altLang="ja-JP" sz="1600" b="1" strike="sngStrike" dirty="0">
                <a:latin typeface="BIZ UDPゴシック" panose="020B0400000000000000" pitchFamily="50" charset="-128"/>
                <a:ea typeface="BIZ UDPゴシック" panose="020B0400000000000000" pitchFamily="50" charset="-128"/>
              </a:rPr>
              <a:t>.</a:t>
            </a:r>
            <a:r>
              <a:rPr lang="ja-JP" altLang="en-US" sz="1600" b="1" strike="sngStrike" dirty="0">
                <a:latin typeface="BIZ UDPゴシック" panose="020B0400000000000000" pitchFamily="50" charset="-128"/>
                <a:ea typeface="BIZ UDPゴシック" panose="020B0400000000000000" pitchFamily="50" charset="-128"/>
              </a:rPr>
              <a:t>  研究目的</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en-US" sz="1600" b="1" dirty="0">
                <a:latin typeface="BIZ UDPゴシック" panose="020B0400000000000000" pitchFamily="50" charset="-128"/>
                <a:ea typeface="BIZ UDPゴシック" panose="020B0400000000000000" pitchFamily="50" charset="-128"/>
              </a:rPr>
              <a:t>3.</a:t>
            </a:r>
            <a:r>
              <a:rPr lang="ja-JP" altLang="en-US" sz="1600" b="1" dirty="0">
                <a:latin typeface="BIZ UDPゴシック" panose="020B0400000000000000" pitchFamily="50" charset="-128"/>
                <a:ea typeface="BIZ UDPゴシック" panose="020B0400000000000000" pitchFamily="50" charset="-128"/>
              </a:rPr>
              <a:t>  分析方法</a:t>
            </a:r>
            <a:endParaRPr lang="en-US" altLang="ja-JP" sz="1600" b="1" dirty="0">
              <a:latin typeface="BIZ UDPゴシック" panose="020B0400000000000000" pitchFamily="50" charset="-128"/>
              <a:ea typeface="BIZ UDPゴシック" panose="020B0400000000000000" pitchFamily="50" charset="-128"/>
            </a:endParaRPr>
          </a:p>
          <a:p>
            <a:pPr marL="133350" lvl="0" indent="0">
              <a:buSzPts val="1500"/>
              <a:buNone/>
            </a:pPr>
            <a:r>
              <a:rPr lang="en-US" sz="1600" b="1" dirty="0">
                <a:latin typeface="BIZ UDPゴシック" panose="020B0400000000000000" pitchFamily="50" charset="-128"/>
                <a:ea typeface="BIZ UDPゴシック" panose="020B0400000000000000" pitchFamily="50" charset="-128"/>
              </a:rPr>
              <a:t>4.</a:t>
            </a:r>
            <a:r>
              <a:rPr lang="ja-JP" altLang="en-US" sz="1600" b="1" dirty="0">
                <a:latin typeface="BIZ UDPゴシック" panose="020B0400000000000000" pitchFamily="50" charset="-128"/>
                <a:ea typeface="BIZ UDPゴシック" panose="020B0400000000000000" pitchFamily="50" charset="-128"/>
              </a:rPr>
              <a:t> </a:t>
            </a:r>
            <a:r>
              <a:rPr lang="en-US" sz="1600" b="1" dirty="0">
                <a:latin typeface="BIZ UDPゴシック" panose="020B0400000000000000" pitchFamily="50" charset="-128"/>
                <a:ea typeface="BIZ UDPゴシック" panose="020B0400000000000000" pitchFamily="50" charset="-128"/>
              </a:rPr>
              <a:t> </a:t>
            </a:r>
            <a:r>
              <a:rPr lang="ja-JP" altLang="en-US" sz="1600" b="1" dirty="0">
                <a:latin typeface="BIZ UDPゴシック" panose="020B0400000000000000" pitchFamily="50" charset="-128"/>
                <a:ea typeface="BIZ UDPゴシック" panose="020B0400000000000000" pitchFamily="50" charset="-128"/>
              </a:rPr>
              <a:t>分析結果（全体傾向と相関分析結果）</a:t>
            </a:r>
            <a:endParaRPr lang="en-US" altLang="ja-JP" sz="1600" b="1"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dirty="0">
                <a:latin typeface="BIZ UDPゴシック" panose="020B0400000000000000" pitchFamily="50" charset="-128"/>
                <a:ea typeface="BIZ UDPゴシック" panose="020B0400000000000000" pitchFamily="50" charset="-128"/>
              </a:rPr>
              <a:t>５</a:t>
            </a:r>
            <a:r>
              <a:rPr lang="en-US" altLang="ja-JP" sz="1600" b="1" dirty="0">
                <a:latin typeface="BIZ UDPゴシック" panose="020B0400000000000000" pitchFamily="50" charset="-128"/>
                <a:ea typeface="BIZ UDPゴシック" panose="020B0400000000000000" pitchFamily="50" charset="-128"/>
              </a:rPr>
              <a:t>.</a:t>
            </a:r>
            <a:r>
              <a:rPr lang="ja-JP" altLang="en-US" sz="1600" b="1" dirty="0">
                <a:latin typeface="BIZ UDPゴシック" panose="020B0400000000000000" pitchFamily="50" charset="-128"/>
                <a:ea typeface="BIZ UDPゴシック" panose="020B0400000000000000" pitchFamily="50" charset="-128"/>
              </a:rPr>
              <a:t>  考察</a:t>
            </a:r>
            <a:endParaRPr lang="en-US" altLang="ja-JP" sz="1600" b="1"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dirty="0">
                <a:latin typeface="BIZ UDPゴシック" panose="020B0400000000000000" pitchFamily="50" charset="-128"/>
                <a:ea typeface="BIZ UDPゴシック" panose="020B0400000000000000" pitchFamily="50" charset="-128"/>
              </a:rPr>
              <a:t>６． 結論 ・ 今後の課題</a:t>
            </a:r>
            <a:endParaRPr lang="en-US" altLang="ja-JP" sz="1600" b="1"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505344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742E80A-761F-473A-ECCB-C0F28B3595D6}"/>
              </a:ext>
            </a:extLst>
          </p:cNvPr>
          <p:cNvSpPr>
            <a:spLocks noGrp="1"/>
          </p:cNvSpPr>
          <p:nvPr>
            <p:ph type="title"/>
          </p:nvPr>
        </p:nvSpPr>
        <p:spPr>
          <a:xfrm>
            <a:off x="180729" y="520700"/>
            <a:ext cx="8721850" cy="576350"/>
          </a:xfrm>
        </p:spPr>
        <p:txBody>
          <a:bodyPr/>
          <a:lstStyle/>
          <a:p>
            <a:r>
              <a:rPr lang="ja-JP" altLang="en-US" dirty="0">
                <a:latin typeface="BIZ UDPゴシック" panose="020B0400000000000000" pitchFamily="50" charset="-128"/>
                <a:ea typeface="BIZ UDPゴシック" panose="020B0400000000000000" pitchFamily="50" charset="-128"/>
              </a:rPr>
              <a:t>分析方法①：文化的要素の抽出 </a:t>
            </a:r>
            <a:r>
              <a:rPr lang="ja-JP" altLang="en-US" sz="2000" dirty="0">
                <a:latin typeface="BIZ UDPゴシック" panose="020B0400000000000000" pitchFamily="50" charset="-128"/>
                <a:ea typeface="BIZ UDPゴシック" panose="020B0400000000000000" pitchFamily="50" charset="-128"/>
              </a:rPr>
              <a:t>（</a:t>
            </a:r>
            <a:r>
              <a:rPr lang="en-US" altLang="ja-JP" sz="2000" dirty="0">
                <a:latin typeface="BIZ UDPゴシック" panose="020B0400000000000000" pitchFamily="50" charset="-128"/>
                <a:ea typeface="BIZ UDPゴシック" panose="020B0400000000000000" pitchFamily="50" charset="-128"/>
              </a:rPr>
              <a:t>Newmark</a:t>
            </a:r>
            <a:r>
              <a:rPr lang="ja-JP" altLang="en-US" sz="2000" dirty="0">
                <a:latin typeface="BIZ UDPゴシック" panose="020B0400000000000000" pitchFamily="50" charset="-128"/>
                <a:ea typeface="BIZ UDPゴシック" panose="020B0400000000000000" pitchFamily="50" charset="-128"/>
              </a:rPr>
              <a:t>の再定義）</a:t>
            </a:r>
          </a:p>
        </p:txBody>
      </p:sp>
      <p:sp>
        <p:nvSpPr>
          <p:cNvPr id="11" name="Google Shape;116;p20">
            <a:extLst>
              <a:ext uri="{FF2B5EF4-FFF2-40B4-BE49-F238E27FC236}">
                <a16:creationId xmlns:a16="http://schemas.microsoft.com/office/drawing/2014/main" id="{C41EDE79-40E7-3860-4C0C-CACF2D8A0152}"/>
              </a:ext>
            </a:extLst>
          </p:cNvPr>
          <p:cNvSpPr txBox="1">
            <a:spLocks/>
          </p:cNvSpPr>
          <p:nvPr/>
        </p:nvSpPr>
        <p:spPr>
          <a:xfrm>
            <a:off x="180728" y="1132205"/>
            <a:ext cx="6821205" cy="12000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buFont typeface="Lato"/>
              <a:buNone/>
            </a:pPr>
            <a:r>
              <a:rPr lang="ja-JP" altLang="en-US" sz="1600" b="1" dirty="0">
                <a:solidFill>
                  <a:srgbClr val="000000"/>
                </a:solidFill>
                <a:latin typeface="BIZ UDPゴシック" panose="020B0400000000000000" pitchFamily="50" charset="-128"/>
                <a:ea typeface="BIZ UDPゴシック" panose="020B0400000000000000" pitchFamily="50" charset="-128"/>
              </a:rPr>
              <a:t>● 分析対象</a:t>
            </a:r>
            <a:endParaRPr lang="en-US" altLang="ja-JP" sz="1600" b="1" dirty="0">
              <a:solidFill>
                <a:srgbClr val="000000"/>
              </a:solidFill>
              <a:latin typeface="BIZ UDPゴシック" panose="020B0400000000000000" pitchFamily="50" charset="-128"/>
              <a:ea typeface="BIZ UDPゴシック" panose="020B0400000000000000" pitchFamily="50" charset="-128"/>
            </a:endParaRPr>
          </a:p>
          <a:p>
            <a:pPr marL="0" indent="0">
              <a:buFont typeface="Lato"/>
              <a:buNone/>
            </a:pPr>
            <a:r>
              <a:rPr lang="ja-JP" altLang="en-US" sz="1600" b="1" dirty="0">
                <a:solidFill>
                  <a:srgbClr val="000000"/>
                </a:solidFill>
                <a:latin typeface="BIZ UDPゴシック" panose="020B0400000000000000" pitchFamily="50" charset="-128"/>
                <a:ea typeface="BIZ UDPゴシック" panose="020B0400000000000000" pitchFamily="50" charset="-128"/>
              </a:rPr>
              <a:t>　　　原文：  </a:t>
            </a:r>
            <a:r>
              <a:rPr lang="ja-JP" altLang="en-US" sz="1600" dirty="0">
                <a:solidFill>
                  <a:srgbClr val="000000"/>
                </a:solidFill>
                <a:latin typeface="BIZ UDPゴシック" panose="020B0400000000000000" pitchFamily="50" charset="-128"/>
                <a:ea typeface="BIZ UDPゴシック" panose="020B0400000000000000" pitchFamily="50" charset="-128"/>
              </a:rPr>
              <a:t>夏目漱石  </a:t>
            </a:r>
            <a:r>
              <a:rPr lang="en-US" altLang="ja-JP" sz="1600" dirty="0">
                <a:solidFill>
                  <a:srgbClr val="000000"/>
                </a:solidFill>
                <a:latin typeface="BIZ UDPゴシック" panose="020B0400000000000000" pitchFamily="50" charset="-128"/>
                <a:ea typeface="BIZ UDPゴシック" panose="020B0400000000000000" pitchFamily="50" charset="-128"/>
              </a:rPr>
              <a:t>『</a:t>
            </a:r>
            <a:r>
              <a:rPr lang="ja-JP" altLang="en-US" sz="1600" dirty="0">
                <a:solidFill>
                  <a:srgbClr val="000000"/>
                </a:solidFill>
                <a:latin typeface="BIZ UDPゴシック" panose="020B0400000000000000" pitchFamily="50" charset="-128"/>
                <a:ea typeface="BIZ UDPゴシック" panose="020B0400000000000000" pitchFamily="50" charset="-128"/>
              </a:rPr>
              <a:t>こころ</a:t>
            </a:r>
            <a:r>
              <a:rPr lang="en-US" altLang="ja-JP" sz="1600" dirty="0">
                <a:solidFill>
                  <a:srgbClr val="000000"/>
                </a:solidFill>
                <a:latin typeface="BIZ UDPゴシック" panose="020B0400000000000000" pitchFamily="50" charset="-128"/>
                <a:ea typeface="BIZ UDPゴシック" panose="020B0400000000000000" pitchFamily="50" charset="-128"/>
              </a:rPr>
              <a:t>』</a:t>
            </a:r>
            <a:r>
              <a:rPr lang="ja-JP" altLang="en-US" sz="1600" dirty="0">
                <a:solidFill>
                  <a:srgbClr val="000000"/>
                </a:solidFill>
                <a:latin typeface="BIZ UDPゴシック" panose="020B0400000000000000" pitchFamily="50" charset="-128"/>
                <a:ea typeface="BIZ UDPゴシック" panose="020B0400000000000000" pitchFamily="50" charset="-128"/>
              </a:rPr>
              <a:t> 第一部 「先生と私」</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a:p>
            <a:pPr marL="0" indent="0">
              <a:buFont typeface="Lato"/>
              <a:buNone/>
            </a:pPr>
            <a:r>
              <a:rPr lang="ja-JP" altLang="en-US" sz="1600" dirty="0">
                <a:solidFill>
                  <a:srgbClr val="000000"/>
                </a:solidFill>
                <a:latin typeface="BIZ UDPゴシック" panose="020B0400000000000000" pitchFamily="50" charset="-128"/>
                <a:ea typeface="BIZ UDPゴシック" panose="020B0400000000000000" pitchFamily="50" charset="-128"/>
              </a:rPr>
              <a:t>　　　</a:t>
            </a:r>
            <a:r>
              <a:rPr lang="ja-JP" altLang="en-US" sz="1600" b="1" dirty="0">
                <a:solidFill>
                  <a:srgbClr val="000000"/>
                </a:solidFill>
                <a:latin typeface="BIZ UDPゴシック" panose="020B0400000000000000" pitchFamily="50" charset="-128"/>
                <a:ea typeface="BIZ UDPゴシック" panose="020B0400000000000000" pitchFamily="50" charset="-128"/>
              </a:rPr>
              <a:t>英訳：  </a:t>
            </a:r>
            <a:r>
              <a:rPr lang="ja-JP" altLang="en-US" sz="1600" dirty="0">
                <a:solidFill>
                  <a:srgbClr val="000000"/>
                </a:solidFill>
                <a:latin typeface="BIZ UDPゴシック" panose="020B0400000000000000" pitchFamily="50" charset="-128"/>
                <a:ea typeface="BIZ UDPゴシック" panose="020B0400000000000000" pitchFamily="50" charset="-128"/>
              </a:rPr>
              <a:t>近藤いね子 </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a:p>
            <a:pPr marL="0" indent="0">
              <a:buFont typeface="Lato"/>
              <a:buNone/>
            </a:pPr>
            <a:r>
              <a:rPr lang="en-US" altLang="ja-JP" sz="1600" dirty="0">
                <a:solidFill>
                  <a:srgbClr val="000000"/>
                </a:solidFill>
                <a:latin typeface="BIZ UDPゴシック" panose="020B0400000000000000" pitchFamily="50" charset="-128"/>
                <a:ea typeface="BIZ UDPゴシック" panose="020B0400000000000000" pitchFamily="50" charset="-128"/>
              </a:rPr>
              <a:t>	  Edwin</a:t>
            </a:r>
            <a:r>
              <a:rPr lang="ja-JP" altLang="en-US" sz="1600" dirty="0">
                <a:solidFill>
                  <a:srgbClr val="000000"/>
                </a:solidFill>
                <a:latin typeface="BIZ UDPゴシック" panose="020B0400000000000000" pitchFamily="50" charset="-128"/>
                <a:ea typeface="BIZ UDPゴシック" panose="020B0400000000000000" pitchFamily="50" charset="-128"/>
              </a:rPr>
              <a:t>・</a:t>
            </a:r>
            <a:r>
              <a:rPr lang="en-US" altLang="ja-JP" sz="1600" dirty="0">
                <a:solidFill>
                  <a:srgbClr val="000000"/>
                </a:solidFill>
                <a:latin typeface="BIZ UDPゴシック" panose="020B0400000000000000" pitchFamily="50" charset="-128"/>
                <a:ea typeface="BIZ UDPゴシック" panose="020B0400000000000000" pitchFamily="50" charset="-128"/>
              </a:rPr>
              <a:t>McClellan</a:t>
            </a:r>
          </a:p>
        </p:txBody>
      </p:sp>
      <p:sp>
        <p:nvSpPr>
          <p:cNvPr id="15" name="Google Shape;116;p20">
            <a:extLst>
              <a:ext uri="{FF2B5EF4-FFF2-40B4-BE49-F238E27FC236}">
                <a16:creationId xmlns:a16="http://schemas.microsoft.com/office/drawing/2014/main" id="{48E19976-DE6F-970C-BE65-6E3FDED07C1E}"/>
              </a:ext>
            </a:extLst>
          </p:cNvPr>
          <p:cNvSpPr txBox="1">
            <a:spLocks/>
          </p:cNvSpPr>
          <p:nvPr/>
        </p:nvSpPr>
        <p:spPr>
          <a:xfrm>
            <a:off x="180728" y="2419106"/>
            <a:ext cx="8548404" cy="10606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buFont typeface="Lato"/>
              <a:buNone/>
            </a:pPr>
            <a:r>
              <a:rPr lang="ja-JP" altLang="en-US" sz="1600" b="1" dirty="0">
                <a:solidFill>
                  <a:srgbClr val="000000"/>
                </a:solidFill>
                <a:latin typeface="BIZ UDPゴシック" panose="020B0400000000000000" pitchFamily="50" charset="-128"/>
                <a:ea typeface="BIZ UDPゴシック" panose="020B0400000000000000" pitchFamily="50" charset="-128"/>
              </a:rPr>
              <a:t>● 抽出基準</a:t>
            </a:r>
            <a:endParaRPr lang="en-US" altLang="ja-JP" sz="1600" b="1" dirty="0">
              <a:solidFill>
                <a:srgbClr val="000000"/>
              </a:solidFill>
              <a:latin typeface="BIZ UDPゴシック" panose="020B0400000000000000" pitchFamily="50" charset="-128"/>
              <a:ea typeface="BIZ UDPゴシック" panose="020B0400000000000000" pitchFamily="50" charset="-128"/>
            </a:endParaRPr>
          </a:p>
          <a:p>
            <a:pPr marL="0" indent="0">
              <a:buFont typeface="Lato"/>
              <a:buNone/>
            </a:pPr>
            <a:r>
              <a:rPr lang="ja-JP" altLang="en-US" sz="1600" dirty="0">
                <a:solidFill>
                  <a:srgbClr val="000000"/>
                </a:solidFill>
                <a:latin typeface="BIZ UDPゴシック" panose="020B0400000000000000" pitchFamily="50" charset="-128"/>
                <a:ea typeface="BIZ UDPゴシック" panose="020B0400000000000000" pitchFamily="50" charset="-128"/>
              </a:rPr>
              <a:t>　　 </a:t>
            </a:r>
            <a:r>
              <a:rPr lang="ja-JP" altLang="en-US" sz="1600" b="1" dirty="0">
                <a:solidFill>
                  <a:schemeClr val="tx1"/>
                </a:solidFill>
                <a:latin typeface="BIZ UDPゴシック" panose="020B0400000000000000" pitchFamily="50" charset="-128"/>
                <a:ea typeface="BIZ UDPゴシック" panose="020B0400000000000000" pitchFamily="50" charset="-128"/>
              </a:rPr>
              <a:t>物質文化</a:t>
            </a:r>
            <a:r>
              <a:rPr lang="ja-JP" altLang="en-US" sz="1600" dirty="0">
                <a:solidFill>
                  <a:srgbClr val="000000"/>
                </a:solidFill>
                <a:latin typeface="BIZ UDPゴシック" panose="020B0400000000000000" pitchFamily="50" charset="-128"/>
                <a:ea typeface="BIZ UDPゴシック" panose="020B0400000000000000" pitchFamily="50" charset="-128"/>
              </a:rPr>
              <a:t>や</a:t>
            </a:r>
            <a:r>
              <a:rPr lang="ja-JP" altLang="en-US" sz="1600" b="1" dirty="0">
                <a:solidFill>
                  <a:schemeClr val="tx1"/>
                </a:solidFill>
                <a:latin typeface="BIZ UDPゴシック" panose="020B0400000000000000" pitchFamily="50" charset="-128"/>
                <a:ea typeface="BIZ UDPゴシック" panose="020B0400000000000000" pitchFamily="50" charset="-128"/>
              </a:rPr>
              <a:t>日本特有の言語表現</a:t>
            </a:r>
            <a:r>
              <a:rPr lang="ja-JP" altLang="en-US" sz="1600" dirty="0">
                <a:solidFill>
                  <a:srgbClr val="000000"/>
                </a:solidFill>
                <a:latin typeface="BIZ UDPゴシック" panose="020B0400000000000000" pitchFamily="50" charset="-128"/>
                <a:ea typeface="BIZ UDPゴシック" panose="020B0400000000000000" pitchFamily="50" charset="-128"/>
              </a:rPr>
              <a:t>を中心に単語で抽出</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a:p>
            <a:pPr marL="0" indent="0">
              <a:buFont typeface="Lato"/>
              <a:buNone/>
            </a:pPr>
            <a:r>
              <a:rPr lang="en-US" altLang="ja-JP" sz="1600" dirty="0">
                <a:solidFill>
                  <a:srgbClr val="000000"/>
                </a:solidFill>
                <a:latin typeface="BIZ UDPゴシック" panose="020B0400000000000000" pitchFamily="50" charset="-128"/>
                <a:ea typeface="BIZ UDPゴシック" panose="020B0400000000000000" pitchFamily="50" charset="-128"/>
              </a:rPr>
              <a:t>			</a:t>
            </a:r>
            <a:r>
              <a:rPr lang="ja-JP" altLang="en-US" sz="1600" dirty="0">
                <a:solidFill>
                  <a:srgbClr val="000000"/>
                </a:solidFill>
                <a:latin typeface="BIZ UDPゴシック" panose="020B0400000000000000" pitchFamily="50" charset="-128"/>
                <a:ea typeface="BIZ UDPゴシック" panose="020B0400000000000000" pitchFamily="50" charset="-128"/>
              </a:rPr>
              <a:t>例）浴衣、炬燵、書生、天罰、煙草を飲む等</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p:txBody>
      </p:sp>
      <p:sp>
        <p:nvSpPr>
          <p:cNvPr id="16" name="Google Shape;116;p20">
            <a:extLst>
              <a:ext uri="{FF2B5EF4-FFF2-40B4-BE49-F238E27FC236}">
                <a16:creationId xmlns:a16="http://schemas.microsoft.com/office/drawing/2014/main" id="{56CF327E-6020-C92F-A3AB-7A88F8471D15}"/>
              </a:ext>
            </a:extLst>
          </p:cNvPr>
          <p:cNvSpPr txBox="1">
            <a:spLocks/>
          </p:cNvSpPr>
          <p:nvPr/>
        </p:nvSpPr>
        <p:spPr>
          <a:xfrm>
            <a:off x="180728" y="3545098"/>
            <a:ext cx="8548404" cy="9323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buFont typeface="Lato"/>
              <a:buNone/>
            </a:pPr>
            <a:r>
              <a:rPr lang="ja-JP" altLang="en-US" sz="1600" b="1" dirty="0">
                <a:solidFill>
                  <a:srgbClr val="000000"/>
                </a:solidFill>
                <a:latin typeface="BIZ UDPゴシック" panose="020B0400000000000000" pitchFamily="50" charset="-128"/>
                <a:ea typeface="BIZ UDPゴシック" panose="020B0400000000000000" pitchFamily="50" charset="-128"/>
              </a:rPr>
              <a:t>● 抽出データ規模</a:t>
            </a:r>
            <a:endParaRPr lang="en-US" altLang="ja-JP" sz="1600" b="1" dirty="0">
              <a:solidFill>
                <a:srgbClr val="000000"/>
              </a:solidFill>
              <a:latin typeface="BIZ UDPゴシック" panose="020B0400000000000000" pitchFamily="50" charset="-128"/>
              <a:ea typeface="BIZ UDPゴシック" panose="020B0400000000000000" pitchFamily="50" charset="-128"/>
            </a:endParaRPr>
          </a:p>
          <a:p>
            <a:pPr marL="0" indent="0">
              <a:buFont typeface="Lato"/>
              <a:buNone/>
            </a:pPr>
            <a:r>
              <a:rPr lang="ja-JP" altLang="en-US" sz="1600" b="1" dirty="0">
                <a:solidFill>
                  <a:srgbClr val="000000"/>
                </a:solidFill>
                <a:latin typeface="BIZ UDPゴシック" panose="020B0400000000000000" pitchFamily="50" charset="-128"/>
                <a:ea typeface="BIZ UDPゴシック" panose="020B0400000000000000" pitchFamily="50" charset="-128"/>
              </a:rPr>
              <a:t>　　</a:t>
            </a:r>
            <a:r>
              <a:rPr lang="ja-JP" altLang="en-US" sz="1600" dirty="0">
                <a:solidFill>
                  <a:srgbClr val="000000"/>
                </a:solidFill>
                <a:latin typeface="BIZ UDPゴシック" panose="020B0400000000000000" pitchFamily="50" charset="-128"/>
                <a:ea typeface="BIZ UDPゴシック" panose="020B0400000000000000" pitchFamily="50" charset="-128"/>
              </a:rPr>
              <a:t>抽出数： </a:t>
            </a:r>
            <a:r>
              <a:rPr lang="ja-JP" altLang="en-US" sz="1600" dirty="0">
                <a:solidFill>
                  <a:schemeClr val="tx1"/>
                </a:solidFill>
                <a:latin typeface="BIZ UDPゴシック" panose="020B0400000000000000" pitchFamily="50" charset="-128"/>
                <a:ea typeface="BIZ UDPゴシック" panose="020B0400000000000000" pitchFamily="50" charset="-128"/>
              </a:rPr>
              <a:t>１５２</a:t>
            </a:r>
            <a:r>
              <a:rPr lang="ja-JP" altLang="en-US" sz="1600" b="1" dirty="0">
                <a:solidFill>
                  <a:schemeClr val="tx1"/>
                </a:solidFill>
                <a:latin typeface="BIZ UDPゴシック" panose="020B0400000000000000" pitchFamily="50" charset="-128"/>
                <a:ea typeface="BIZ UDPゴシック" panose="020B0400000000000000" pitchFamily="50" charset="-128"/>
              </a:rPr>
              <a:t> </a:t>
            </a:r>
            <a:r>
              <a:rPr lang="ja-JP" altLang="en-US" sz="1600" dirty="0">
                <a:solidFill>
                  <a:srgbClr val="000000"/>
                </a:solidFill>
                <a:latin typeface="BIZ UDPゴシック" panose="020B0400000000000000" pitchFamily="50" charset="-128"/>
                <a:ea typeface="BIZ UDPゴシック" panose="020B0400000000000000" pitchFamily="50" charset="-128"/>
              </a:rPr>
              <a:t>件</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a:p>
            <a:pPr marL="0" indent="0">
              <a:buFont typeface="Lato"/>
              <a:buNone/>
            </a:pPr>
            <a:r>
              <a:rPr lang="ja-JP" altLang="en-US" sz="1600" dirty="0">
                <a:solidFill>
                  <a:srgbClr val="000000"/>
                </a:solidFill>
                <a:latin typeface="BIZ UDPゴシック" panose="020B0400000000000000" pitchFamily="50" charset="-128"/>
                <a:ea typeface="BIZ UDPゴシック" panose="020B0400000000000000" pitchFamily="50" charset="-128"/>
              </a:rPr>
              <a:t>　　分析総数： </a:t>
            </a:r>
            <a:r>
              <a:rPr lang="ja-JP" altLang="en-US" sz="1600" b="1" dirty="0">
                <a:solidFill>
                  <a:schemeClr val="tx1"/>
                </a:solidFill>
                <a:latin typeface="BIZ UDPゴシック" panose="020B0400000000000000" pitchFamily="50" charset="-128"/>
                <a:ea typeface="BIZ UDPゴシック" panose="020B0400000000000000" pitchFamily="50" charset="-128"/>
              </a:rPr>
              <a:t>３０４ </a:t>
            </a:r>
            <a:r>
              <a:rPr lang="ja-JP" altLang="en-US" sz="1600" dirty="0">
                <a:solidFill>
                  <a:srgbClr val="000000"/>
                </a:solidFill>
                <a:latin typeface="BIZ UDPゴシック" panose="020B0400000000000000" pitchFamily="50" charset="-128"/>
                <a:ea typeface="BIZ UDPゴシック" panose="020B0400000000000000" pitchFamily="50" charset="-128"/>
              </a:rPr>
              <a:t>事例（翻訳者２名分）</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825705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09075-1A4D-AEA0-E4A3-383A615BD703}"/>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E844-1199-34F0-E5F0-3B22657FA9A6}"/>
              </a:ext>
            </a:extLst>
          </p:cNvPr>
          <p:cNvSpPr>
            <a:spLocks noGrp="1"/>
          </p:cNvSpPr>
          <p:nvPr>
            <p:ph type="title"/>
          </p:nvPr>
        </p:nvSpPr>
        <p:spPr>
          <a:xfrm>
            <a:off x="180729" y="520700"/>
            <a:ext cx="8721850" cy="576350"/>
          </a:xfrm>
        </p:spPr>
        <p:txBody>
          <a:bodyPr/>
          <a:lstStyle/>
          <a:p>
            <a:r>
              <a:rPr lang="ja-JP" altLang="en-US" dirty="0">
                <a:latin typeface="BIZ UDPゴシック" panose="020B0400000000000000" pitchFamily="50" charset="-128"/>
                <a:ea typeface="BIZ UDPゴシック" panose="020B0400000000000000" pitchFamily="50" charset="-128"/>
              </a:rPr>
              <a:t>分析方法②：翻訳技法</a:t>
            </a:r>
            <a:r>
              <a:rPr lang="ja-JP" altLang="en-US" sz="2000" dirty="0">
                <a:latin typeface="BIZ UDPゴシック" panose="020B0400000000000000" pitchFamily="50" charset="-128"/>
                <a:ea typeface="BIZ UDPゴシック" panose="020B0400000000000000" pitchFamily="50" charset="-128"/>
              </a:rPr>
              <a:t>（</a:t>
            </a:r>
            <a:r>
              <a:rPr lang="en-US" altLang="ja-JP" sz="2000" dirty="0">
                <a:latin typeface="BIZ UDPゴシック" panose="020B0400000000000000" pitchFamily="50" charset="-128"/>
                <a:ea typeface="BIZ UDPゴシック" panose="020B0400000000000000" pitchFamily="50" charset="-128"/>
              </a:rPr>
              <a:t>Molina</a:t>
            </a:r>
            <a:r>
              <a:rPr lang="ja-JP" altLang="en-US" sz="2000" dirty="0">
                <a:latin typeface="BIZ UDPゴシック" panose="020B0400000000000000" pitchFamily="50" charset="-128"/>
                <a:ea typeface="BIZ UDPゴシック" panose="020B0400000000000000" pitchFamily="50" charset="-128"/>
              </a:rPr>
              <a:t>＆</a:t>
            </a:r>
            <a:r>
              <a:rPr lang="en-US" altLang="ja-JP" sz="2000" dirty="0">
                <a:latin typeface="BIZ UDPゴシック" panose="020B0400000000000000" pitchFamily="50" charset="-128"/>
                <a:ea typeface="BIZ UDPゴシック" panose="020B0400000000000000" pitchFamily="50" charset="-128"/>
              </a:rPr>
              <a:t>Albir</a:t>
            </a:r>
            <a:r>
              <a:rPr lang="ja-JP" altLang="en-US" sz="2000" dirty="0">
                <a:latin typeface="BIZ UDPゴシック" panose="020B0400000000000000" pitchFamily="50" charset="-128"/>
                <a:ea typeface="BIZ UDPゴシック" panose="020B0400000000000000" pitchFamily="50" charset="-128"/>
              </a:rPr>
              <a:t>の再定義）</a:t>
            </a:r>
          </a:p>
        </p:txBody>
      </p:sp>
      <p:sp>
        <p:nvSpPr>
          <p:cNvPr id="11" name="Google Shape;116;p20">
            <a:extLst>
              <a:ext uri="{FF2B5EF4-FFF2-40B4-BE49-F238E27FC236}">
                <a16:creationId xmlns:a16="http://schemas.microsoft.com/office/drawing/2014/main" id="{C7641718-07AF-D212-10A3-D1303400F4EB}"/>
              </a:ext>
            </a:extLst>
          </p:cNvPr>
          <p:cNvSpPr txBox="1">
            <a:spLocks/>
          </p:cNvSpPr>
          <p:nvPr/>
        </p:nvSpPr>
        <p:spPr>
          <a:xfrm>
            <a:off x="241421" y="1131718"/>
            <a:ext cx="6591007" cy="3930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buFont typeface="Lato"/>
              <a:buNone/>
            </a:pPr>
            <a:r>
              <a:rPr lang="ja-JP" altLang="en-US" sz="1800" dirty="0">
                <a:solidFill>
                  <a:schemeClr val="bg2"/>
                </a:solidFill>
                <a:latin typeface="BIZ UDPゴシック" panose="020B0400000000000000" pitchFamily="50" charset="-128"/>
                <a:ea typeface="BIZ UDPゴシック" panose="020B0400000000000000" pitchFamily="50" charset="-128"/>
              </a:rPr>
              <a:t>原文から訳文にどう変換されたかを</a:t>
            </a:r>
            <a:r>
              <a:rPr lang="ja-JP" altLang="en-US" sz="1800" dirty="0">
                <a:solidFill>
                  <a:schemeClr val="tx1"/>
                </a:solidFill>
                <a:latin typeface="BIZ UDPゴシック" panose="020B0400000000000000" pitchFamily="50" charset="-128"/>
                <a:ea typeface="BIZ UDPゴシック" panose="020B0400000000000000" pitchFamily="50" charset="-128"/>
              </a:rPr>
              <a:t>１０技法</a:t>
            </a:r>
            <a:r>
              <a:rPr lang="ja-JP" altLang="en-US" sz="1800" dirty="0">
                <a:solidFill>
                  <a:schemeClr val="bg2"/>
                </a:solidFill>
                <a:latin typeface="BIZ UDPゴシック" panose="020B0400000000000000" pitchFamily="50" charset="-128"/>
                <a:ea typeface="BIZ UDPゴシック" panose="020B0400000000000000" pitchFamily="50" charset="-128"/>
              </a:rPr>
              <a:t>に</a:t>
            </a:r>
            <a:r>
              <a:rPr lang="ja-JP" altLang="en-US" sz="1800" dirty="0">
                <a:solidFill>
                  <a:srgbClr val="000000"/>
                </a:solidFill>
                <a:latin typeface="BIZ UDPゴシック" panose="020B0400000000000000" pitchFamily="50" charset="-128"/>
                <a:ea typeface="BIZ UDPゴシック" panose="020B0400000000000000" pitchFamily="50" charset="-128"/>
              </a:rPr>
              <a:t>分類。</a:t>
            </a:r>
            <a:endParaRPr lang="en-US" altLang="ja-JP" sz="1800" dirty="0">
              <a:solidFill>
                <a:srgbClr val="000000"/>
              </a:solidFill>
              <a:latin typeface="BIZ UDPゴシック" panose="020B0400000000000000" pitchFamily="50" charset="-128"/>
              <a:ea typeface="BIZ UDPゴシック" panose="020B0400000000000000" pitchFamily="50" charset="-128"/>
            </a:endParaRPr>
          </a:p>
          <a:p>
            <a:pPr marL="0" indent="0">
              <a:buFont typeface="Lato"/>
              <a:buNone/>
            </a:pPr>
            <a:r>
              <a:rPr lang="ja-JP" altLang="en-US" sz="1800" dirty="0">
                <a:solidFill>
                  <a:srgbClr val="000000"/>
                </a:solidFill>
                <a:latin typeface="BIZ UDPゴシック" panose="020B0400000000000000" pitchFamily="50" charset="-128"/>
                <a:ea typeface="BIZ UDPゴシック" panose="020B0400000000000000" pitchFamily="50" charset="-128"/>
              </a:rPr>
              <a:t> </a:t>
            </a:r>
            <a:endParaRPr lang="en-US" altLang="ja-JP" sz="1800" dirty="0">
              <a:solidFill>
                <a:srgbClr val="000000"/>
              </a:solidFill>
              <a:latin typeface="BIZ UDPゴシック" panose="020B0400000000000000" pitchFamily="50" charset="-128"/>
              <a:ea typeface="BIZ UDPゴシック" panose="020B0400000000000000" pitchFamily="50" charset="-128"/>
            </a:endParaRPr>
          </a:p>
          <a:p>
            <a:pPr marL="0" indent="0">
              <a:buFont typeface="Lato"/>
              <a:buNone/>
            </a:pPr>
            <a:endParaRPr lang="en-US" altLang="ja-JP" sz="1800" dirty="0">
              <a:solidFill>
                <a:srgbClr val="000000"/>
              </a:solidFill>
              <a:latin typeface="BIZ UDPゴシック" panose="020B0400000000000000" pitchFamily="50" charset="-128"/>
              <a:ea typeface="BIZ UDPゴシック" panose="020B0400000000000000" pitchFamily="50" charset="-128"/>
            </a:endParaRPr>
          </a:p>
        </p:txBody>
      </p:sp>
      <p:sp>
        <p:nvSpPr>
          <p:cNvPr id="2" name="Google Shape;116;p20">
            <a:extLst>
              <a:ext uri="{FF2B5EF4-FFF2-40B4-BE49-F238E27FC236}">
                <a16:creationId xmlns:a16="http://schemas.microsoft.com/office/drawing/2014/main" id="{1BAD28DC-898B-C108-BCA4-D3FC7CA10118}"/>
              </a:ext>
            </a:extLst>
          </p:cNvPr>
          <p:cNvSpPr txBox="1">
            <a:spLocks/>
          </p:cNvSpPr>
          <p:nvPr/>
        </p:nvSpPr>
        <p:spPr>
          <a:xfrm>
            <a:off x="241421" y="1524801"/>
            <a:ext cx="9144000" cy="15536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lnSpc>
                <a:spcPct val="150000"/>
              </a:lnSpc>
              <a:buFont typeface="Lato"/>
              <a:buNone/>
            </a:pPr>
            <a:r>
              <a:rPr lang="ja-JP" altLang="en-US" sz="1600" b="1" dirty="0">
                <a:solidFill>
                  <a:srgbClr val="000000"/>
                </a:solidFill>
                <a:latin typeface="BIZ UDPゴシック" panose="020B0400000000000000" pitchFamily="50" charset="-128"/>
                <a:ea typeface="BIZ UDPゴシック" panose="020B0400000000000000" pitchFamily="50" charset="-128"/>
              </a:rPr>
              <a:t>●</a:t>
            </a:r>
            <a:r>
              <a:rPr lang="en-US" altLang="ja-JP" sz="1600" b="1" dirty="0">
                <a:solidFill>
                  <a:srgbClr val="000000"/>
                </a:solidFill>
                <a:latin typeface="BIZ UDPゴシック" panose="020B0400000000000000" pitchFamily="50" charset="-128"/>
                <a:ea typeface="BIZ UDPゴシック" panose="020B0400000000000000" pitchFamily="50" charset="-128"/>
              </a:rPr>
              <a:t>Borrowing</a:t>
            </a:r>
            <a:r>
              <a:rPr lang="ja-JP" altLang="en-US" sz="1600" dirty="0">
                <a:solidFill>
                  <a:srgbClr val="000000"/>
                </a:solidFill>
                <a:latin typeface="BIZ UDPゴシック" panose="020B0400000000000000" pitchFamily="50" charset="-128"/>
                <a:ea typeface="BIZ UDPゴシック" panose="020B0400000000000000" pitchFamily="50" charset="-128"/>
              </a:rPr>
              <a:t>　　原文の語句をそのまま音訳。補足説明はなし。　　例） 五銭 ⇒ </a:t>
            </a:r>
            <a:r>
              <a:rPr lang="en-US" altLang="ja-JP" sz="1600" i="1" dirty="0">
                <a:solidFill>
                  <a:srgbClr val="000000"/>
                </a:solidFill>
                <a:latin typeface="BIZ UDPゴシック" panose="020B0400000000000000" pitchFamily="50" charset="-128"/>
                <a:ea typeface="BIZ UDPゴシック" panose="020B0400000000000000" pitchFamily="50" charset="-128"/>
              </a:rPr>
              <a:t>five </a:t>
            </a:r>
            <a:r>
              <a:rPr lang="en-US" altLang="ja-JP" sz="1600" i="1" dirty="0" err="1">
                <a:solidFill>
                  <a:srgbClr val="000000"/>
                </a:solidFill>
                <a:latin typeface="BIZ UDPゴシック" panose="020B0400000000000000" pitchFamily="50" charset="-128"/>
                <a:ea typeface="BIZ UDPゴシック" panose="020B0400000000000000" pitchFamily="50" charset="-128"/>
              </a:rPr>
              <a:t>sen</a:t>
            </a:r>
            <a:endParaRPr lang="en-US" altLang="ja-JP" sz="1600" i="1" dirty="0">
              <a:solidFill>
                <a:srgbClr val="000000"/>
              </a:solidFill>
              <a:latin typeface="BIZ UDPゴシック" panose="020B0400000000000000" pitchFamily="50" charset="-128"/>
              <a:ea typeface="BIZ UDPゴシック" panose="020B0400000000000000" pitchFamily="50" charset="-128"/>
            </a:endParaRPr>
          </a:p>
          <a:p>
            <a:pPr marL="0" indent="0">
              <a:lnSpc>
                <a:spcPct val="150000"/>
              </a:lnSpc>
              <a:buFont typeface="Lato"/>
              <a:buNone/>
            </a:pPr>
            <a:r>
              <a:rPr lang="ja-JP" altLang="en-US" sz="1600" b="1" dirty="0">
                <a:solidFill>
                  <a:srgbClr val="000000"/>
                </a:solidFill>
                <a:latin typeface="BIZ UDPゴシック" panose="020B0400000000000000" pitchFamily="50" charset="-128"/>
                <a:ea typeface="BIZ UDPゴシック" panose="020B0400000000000000" pitchFamily="50" charset="-128"/>
              </a:rPr>
              <a:t>●</a:t>
            </a:r>
            <a:r>
              <a:rPr lang="en-US" altLang="ja-JP" sz="1600" b="1" dirty="0">
                <a:solidFill>
                  <a:srgbClr val="000000"/>
                </a:solidFill>
                <a:latin typeface="BIZ UDPゴシック" panose="020B0400000000000000" pitchFamily="50" charset="-128"/>
                <a:ea typeface="BIZ UDPゴシック" panose="020B0400000000000000" pitchFamily="50" charset="-128"/>
              </a:rPr>
              <a:t>Amplification</a:t>
            </a:r>
            <a:r>
              <a:rPr lang="ja-JP" altLang="en-US" sz="1600" dirty="0">
                <a:solidFill>
                  <a:srgbClr val="000000"/>
                </a:solidFill>
                <a:latin typeface="BIZ UDPゴシック" panose="020B0400000000000000" pitchFamily="50" charset="-128"/>
                <a:ea typeface="BIZ UDPゴシック" panose="020B0400000000000000" pitchFamily="50" charset="-128"/>
              </a:rPr>
              <a:t>　音訳に加え、加筆注釈。　　例） 袴 ⇒ </a:t>
            </a:r>
            <a:r>
              <a:rPr lang="en-US" altLang="ja-JP" sz="1600" i="1" dirty="0">
                <a:solidFill>
                  <a:srgbClr val="000000"/>
                </a:solidFill>
                <a:latin typeface="BIZ UDPゴシック" panose="020B0400000000000000" pitchFamily="50" charset="-128"/>
                <a:ea typeface="BIZ UDPゴシック" panose="020B0400000000000000" pitchFamily="50" charset="-128"/>
              </a:rPr>
              <a:t>hakama</a:t>
            </a:r>
            <a:r>
              <a:rPr lang="en-US" altLang="ja-JP" sz="1600" dirty="0">
                <a:solidFill>
                  <a:srgbClr val="000000"/>
                </a:solidFill>
                <a:latin typeface="BIZ UDPゴシック" panose="020B0400000000000000" pitchFamily="50" charset="-128"/>
                <a:ea typeface="BIZ UDPゴシック" panose="020B0400000000000000" pitchFamily="50" charset="-128"/>
              </a:rPr>
              <a:t> + </a:t>
            </a:r>
            <a:r>
              <a:rPr lang="ja-JP" altLang="en-US" sz="1600" dirty="0">
                <a:solidFill>
                  <a:srgbClr val="000000"/>
                </a:solidFill>
                <a:latin typeface="BIZ UDPゴシック" panose="020B0400000000000000" pitchFamily="50" charset="-128"/>
                <a:ea typeface="BIZ UDPゴシック" panose="020B0400000000000000" pitchFamily="50" charset="-128"/>
              </a:rPr>
              <a:t>脚注</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a:p>
            <a:pPr marL="0" indent="0">
              <a:lnSpc>
                <a:spcPct val="150000"/>
              </a:lnSpc>
              <a:buFont typeface="Lato"/>
              <a:buNone/>
            </a:pPr>
            <a:r>
              <a:rPr lang="ja-JP" altLang="en-US" sz="1600" b="1" dirty="0">
                <a:solidFill>
                  <a:srgbClr val="000000"/>
                </a:solidFill>
                <a:latin typeface="BIZ UDPゴシック" panose="020B0400000000000000" pitchFamily="50" charset="-128"/>
                <a:ea typeface="BIZ UDPゴシック" panose="020B0400000000000000" pitchFamily="50" charset="-128"/>
              </a:rPr>
              <a:t>●</a:t>
            </a:r>
            <a:r>
              <a:rPr lang="en-US" altLang="ja-JP" sz="1600" b="1" dirty="0">
                <a:solidFill>
                  <a:srgbClr val="000000"/>
                </a:solidFill>
                <a:latin typeface="BIZ UDPゴシック" panose="020B0400000000000000" pitchFamily="50" charset="-128"/>
                <a:ea typeface="BIZ UDPゴシック" panose="020B0400000000000000" pitchFamily="50" charset="-128"/>
              </a:rPr>
              <a:t>Established</a:t>
            </a:r>
            <a:r>
              <a:rPr lang="ja-JP" altLang="en-US" sz="1600" b="1" dirty="0">
                <a:solidFill>
                  <a:srgbClr val="000000"/>
                </a:solidFill>
                <a:latin typeface="BIZ UDPゴシック" panose="020B0400000000000000" pitchFamily="50" charset="-128"/>
                <a:ea typeface="BIZ UDPゴシック" panose="020B0400000000000000" pitchFamily="50" charset="-128"/>
              </a:rPr>
              <a:t> </a:t>
            </a:r>
            <a:r>
              <a:rPr lang="en-US" altLang="ja-JP" sz="1600" b="1" dirty="0">
                <a:solidFill>
                  <a:srgbClr val="000000"/>
                </a:solidFill>
                <a:latin typeface="BIZ UDPゴシック" panose="020B0400000000000000" pitchFamily="50" charset="-128"/>
                <a:ea typeface="BIZ UDPゴシック" panose="020B0400000000000000" pitchFamily="50" charset="-128"/>
              </a:rPr>
              <a:t>equivalent</a:t>
            </a:r>
            <a:r>
              <a:rPr lang="ja-JP" altLang="en-US" sz="1600" b="1" dirty="0">
                <a:solidFill>
                  <a:srgbClr val="000000"/>
                </a:solidFill>
                <a:latin typeface="BIZ UDPゴシック" panose="020B0400000000000000" pitchFamily="50" charset="-128"/>
                <a:ea typeface="BIZ UDPゴシック" panose="020B0400000000000000" pitchFamily="50" charset="-128"/>
              </a:rPr>
              <a:t>　</a:t>
            </a:r>
            <a:r>
              <a:rPr lang="ja-JP" altLang="en-US" sz="1600" dirty="0">
                <a:solidFill>
                  <a:srgbClr val="000000"/>
                </a:solidFill>
                <a:latin typeface="BIZ UDPゴシック" panose="020B0400000000000000" pitchFamily="50" charset="-128"/>
                <a:ea typeface="BIZ UDPゴシック" panose="020B0400000000000000" pitchFamily="50" charset="-128"/>
              </a:rPr>
              <a:t>辞書に載ってる対訳に変換　　例） お気の毒 ⇒ </a:t>
            </a:r>
            <a:r>
              <a:rPr lang="en-US" altLang="ja-JP" sz="1600" i="1" dirty="0">
                <a:solidFill>
                  <a:srgbClr val="000000"/>
                </a:solidFill>
                <a:latin typeface="BIZ UDPゴシック" panose="020B0400000000000000" pitchFamily="50" charset="-128"/>
                <a:ea typeface="BIZ UDPゴシック" panose="020B0400000000000000" pitchFamily="50" charset="-128"/>
              </a:rPr>
              <a:t>sorry for you</a:t>
            </a:r>
          </a:p>
          <a:p>
            <a:pPr marL="0" indent="0">
              <a:lnSpc>
                <a:spcPct val="150000"/>
              </a:lnSpc>
              <a:buFont typeface="Lato"/>
              <a:buNone/>
            </a:pPr>
            <a:r>
              <a:rPr lang="ja-JP" altLang="en-US" sz="1600" b="1" dirty="0">
                <a:solidFill>
                  <a:srgbClr val="000000"/>
                </a:solidFill>
                <a:latin typeface="BIZ UDPゴシック" panose="020B0400000000000000" pitchFamily="50" charset="-128"/>
                <a:ea typeface="BIZ UDPゴシック" panose="020B0400000000000000" pitchFamily="50" charset="-128"/>
              </a:rPr>
              <a:t>●</a:t>
            </a:r>
            <a:r>
              <a:rPr lang="en-US" altLang="ja-JP" sz="1600" b="1" dirty="0">
                <a:solidFill>
                  <a:srgbClr val="000000"/>
                </a:solidFill>
                <a:latin typeface="BIZ UDPゴシック" panose="020B0400000000000000" pitchFamily="50" charset="-128"/>
                <a:ea typeface="BIZ UDPゴシック" panose="020B0400000000000000" pitchFamily="50" charset="-128"/>
              </a:rPr>
              <a:t>Reduction</a:t>
            </a:r>
            <a:r>
              <a:rPr lang="ja-JP" altLang="en-US" sz="1600" dirty="0">
                <a:solidFill>
                  <a:srgbClr val="000000"/>
                </a:solidFill>
                <a:latin typeface="BIZ UDPゴシック" panose="020B0400000000000000" pitchFamily="50" charset="-128"/>
                <a:ea typeface="BIZ UDPゴシック" panose="020B0400000000000000" pitchFamily="50" charset="-128"/>
              </a:rPr>
              <a:t>　原語の情報を全て削除          例）香車（きょうしゃ） ⇒ 削除</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p:txBody>
      </p:sp>
      <p:sp>
        <p:nvSpPr>
          <p:cNvPr id="3" name="Google Shape;116;p20">
            <a:extLst>
              <a:ext uri="{FF2B5EF4-FFF2-40B4-BE49-F238E27FC236}">
                <a16:creationId xmlns:a16="http://schemas.microsoft.com/office/drawing/2014/main" id="{EB9C8630-4303-3CEC-BDC7-59F78BC2766C}"/>
              </a:ext>
            </a:extLst>
          </p:cNvPr>
          <p:cNvSpPr txBox="1">
            <a:spLocks/>
          </p:cNvSpPr>
          <p:nvPr/>
        </p:nvSpPr>
        <p:spPr>
          <a:xfrm>
            <a:off x="362192" y="3098801"/>
            <a:ext cx="8170185" cy="15239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lnSpc>
                <a:spcPct val="150000"/>
              </a:lnSpc>
              <a:buFont typeface="Lato"/>
              <a:buNone/>
            </a:pPr>
            <a:r>
              <a:rPr lang="ja-JP" altLang="en-US" dirty="0">
                <a:solidFill>
                  <a:srgbClr val="000000"/>
                </a:solidFill>
                <a:latin typeface="BIZ UDPゴシック" panose="020B0400000000000000" pitchFamily="50" charset="-128"/>
                <a:ea typeface="BIZ UDPゴシック" panose="020B0400000000000000" pitchFamily="50" charset="-128"/>
              </a:rPr>
              <a:t>その他の技法（６種）</a:t>
            </a:r>
            <a:endParaRPr lang="en-US" altLang="ja-JP" dirty="0">
              <a:solidFill>
                <a:srgbClr val="000000"/>
              </a:solidFill>
              <a:latin typeface="BIZ UDPゴシック" panose="020B0400000000000000" pitchFamily="50" charset="-128"/>
              <a:ea typeface="BIZ UDPゴシック" panose="020B0400000000000000" pitchFamily="50" charset="-128"/>
            </a:endParaRPr>
          </a:p>
          <a:p>
            <a:pPr marL="0" indent="0">
              <a:lnSpc>
                <a:spcPct val="150000"/>
              </a:lnSpc>
              <a:buNone/>
            </a:pPr>
            <a:r>
              <a:rPr lang="en-US" altLang="ja-JP" b="1" dirty="0">
                <a:highlight>
                  <a:srgbClr val="C0C0C0"/>
                </a:highlight>
              </a:rPr>
              <a:t>Calque</a:t>
            </a:r>
            <a:r>
              <a:rPr lang="ja-JP" altLang="en-US" dirty="0"/>
              <a:t>（統語的に不自然な逐次訳）</a:t>
            </a:r>
            <a:r>
              <a:rPr lang="en-US" altLang="ja-JP" b="1" dirty="0">
                <a:highlight>
                  <a:srgbClr val="C0C0C0"/>
                </a:highlight>
              </a:rPr>
              <a:t>Literal</a:t>
            </a:r>
            <a:r>
              <a:rPr lang="ja-JP" altLang="en-US" b="1" dirty="0">
                <a:highlight>
                  <a:srgbClr val="C0C0C0"/>
                </a:highlight>
              </a:rPr>
              <a:t> </a:t>
            </a:r>
            <a:r>
              <a:rPr lang="en-US" altLang="ja-JP" b="1" dirty="0">
                <a:highlight>
                  <a:srgbClr val="C0C0C0"/>
                </a:highlight>
              </a:rPr>
              <a:t>translation</a:t>
            </a:r>
            <a:r>
              <a:rPr lang="ja-JP" altLang="en-US" dirty="0"/>
              <a:t>（統語的に自然な逐次訳）</a:t>
            </a:r>
            <a:r>
              <a:rPr lang="en-US" altLang="ja-JP" b="1" dirty="0">
                <a:highlight>
                  <a:srgbClr val="C0C0C0"/>
                </a:highlight>
              </a:rPr>
              <a:t>Generalization</a:t>
            </a:r>
            <a:r>
              <a:rPr lang="ja-JP" altLang="en-US" dirty="0"/>
              <a:t>（上位概念に変換）</a:t>
            </a:r>
            <a:r>
              <a:rPr lang="en-US" altLang="ja-JP" b="1" dirty="0">
                <a:highlight>
                  <a:srgbClr val="C0C0C0"/>
                </a:highlight>
              </a:rPr>
              <a:t>Particularization</a:t>
            </a:r>
            <a:r>
              <a:rPr lang="ja-JP" altLang="en-US" dirty="0"/>
              <a:t>（下位概念に変換）</a:t>
            </a:r>
            <a:r>
              <a:rPr lang="en-US" altLang="ja-JP" b="1" dirty="0">
                <a:highlight>
                  <a:srgbClr val="C0C0C0"/>
                </a:highlight>
              </a:rPr>
              <a:t>Description</a:t>
            </a:r>
            <a:r>
              <a:rPr lang="ja-JP" altLang="en-US" dirty="0"/>
              <a:t>（形態や機能の説明に置き換え）</a:t>
            </a:r>
            <a:r>
              <a:rPr lang="en-US" altLang="ja-JP" b="1" dirty="0">
                <a:highlight>
                  <a:srgbClr val="C0C0C0"/>
                </a:highlight>
              </a:rPr>
              <a:t>Adaptation</a:t>
            </a:r>
            <a:r>
              <a:rPr lang="ja-JP" altLang="en-US" dirty="0"/>
              <a:t>（読者文化の機能的に類似した別の文化的要素に置き換え）</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92507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2A538-E3BE-B22F-AC75-39339D841FB3}"/>
            </a:ext>
          </a:extLst>
        </p:cNvPr>
        <p:cNvGrpSpPr/>
        <p:nvPr/>
      </p:nvGrpSpPr>
      <p:grpSpPr>
        <a:xfrm>
          <a:off x="0" y="0"/>
          <a:ext cx="0" cy="0"/>
          <a:chOff x="0" y="0"/>
          <a:chExt cx="0" cy="0"/>
        </a:xfrm>
      </p:grpSpPr>
      <p:sp>
        <p:nvSpPr>
          <p:cNvPr id="6" name="矢印: 下 5">
            <a:extLst>
              <a:ext uri="{FF2B5EF4-FFF2-40B4-BE49-F238E27FC236}">
                <a16:creationId xmlns:a16="http://schemas.microsoft.com/office/drawing/2014/main" id="{BFD7DB92-7299-8752-7658-0298DC198F0A}"/>
              </a:ext>
            </a:extLst>
          </p:cNvPr>
          <p:cNvSpPr/>
          <p:nvPr/>
        </p:nvSpPr>
        <p:spPr>
          <a:xfrm>
            <a:off x="-167523" y="1757866"/>
            <a:ext cx="1890889" cy="2226896"/>
          </a:xfrm>
          <a:prstGeom prst="downArrow">
            <a:avLst>
              <a:gd name="adj1" fmla="val 50000"/>
              <a:gd name="adj2" fmla="val 51639"/>
            </a:avLst>
          </a:prstGeom>
          <a:gradFill>
            <a:gsLst>
              <a:gs pos="55000">
                <a:schemeClr val="accent1">
                  <a:lumMod val="20000"/>
                  <a:lumOff val="80000"/>
                  <a:alpha val="40000"/>
                </a:schemeClr>
              </a:gs>
              <a:gs pos="100000">
                <a:schemeClr val="tx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タイトル 4">
            <a:extLst>
              <a:ext uri="{FF2B5EF4-FFF2-40B4-BE49-F238E27FC236}">
                <a16:creationId xmlns:a16="http://schemas.microsoft.com/office/drawing/2014/main" id="{3442F1FC-EF80-91C3-9DC7-930A35145D26}"/>
              </a:ext>
            </a:extLst>
          </p:cNvPr>
          <p:cNvSpPr>
            <a:spLocks noGrp="1"/>
          </p:cNvSpPr>
          <p:nvPr>
            <p:ph type="title"/>
          </p:nvPr>
        </p:nvSpPr>
        <p:spPr>
          <a:xfrm>
            <a:off x="0" y="453493"/>
            <a:ext cx="9083306" cy="529917"/>
          </a:xfrm>
        </p:spPr>
        <p:txBody>
          <a:bodyPr/>
          <a:lstStyle/>
          <a:p>
            <a:r>
              <a:rPr lang="ja-JP" altLang="en-US" sz="2800" dirty="0">
                <a:latin typeface="BIZ UDPゴシック" panose="020B0400000000000000" pitchFamily="50" charset="-128"/>
                <a:ea typeface="BIZ UDPゴシック" panose="020B0400000000000000" pitchFamily="50" charset="-128"/>
              </a:rPr>
              <a:t>分析方法③：</a:t>
            </a:r>
            <a:r>
              <a:rPr lang="en-US" altLang="ja-JP" sz="2800" dirty="0">
                <a:latin typeface="BIZ UDPゴシック" panose="020B0400000000000000" pitchFamily="50" charset="-128"/>
                <a:ea typeface="BIZ UDPゴシック" panose="020B0400000000000000" pitchFamily="50" charset="-128"/>
              </a:rPr>
              <a:t>DMIS</a:t>
            </a:r>
            <a:r>
              <a:rPr lang="ja-JP" altLang="en-US" sz="2800" dirty="0">
                <a:latin typeface="BIZ UDPゴシック" panose="020B0400000000000000" pitchFamily="50" charset="-128"/>
                <a:ea typeface="BIZ UDPゴシック" panose="020B0400000000000000" pitchFamily="50" charset="-128"/>
              </a:rPr>
              <a:t>（読者の理解度）の分類</a:t>
            </a:r>
            <a:r>
              <a:rPr lang="ja-JP" altLang="en-US" sz="2000" dirty="0">
                <a:latin typeface="BIZ UDPゴシック" panose="020B0400000000000000" pitchFamily="50" charset="-128"/>
                <a:ea typeface="BIZ UDPゴシック" panose="020B0400000000000000" pitchFamily="50" charset="-128"/>
              </a:rPr>
              <a:t>（</a:t>
            </a:r>
            <a:r>
              <a:rPr lang="en-US" altLang="ja-JP" sz="2000" dirty="0">
                <a:latin typeface="BIZ UDPゴシック" panose="020B0400000000000000" pitchFamily="50" charset="-128"/>
                <a:ea typeface="BIZ UDPゴシック" panose="020B0400000000000000" pitchFamily="50" charset="-128"/>
              </a:rPr>
              <a:t>Bennet</a:t>
            </a:r>
            <a:r>
              <a:rPr lang="ja-JP" altLang="en-US" sz="2000" dirty="0">
                <a:latin typeface="BIZ UDPゴシック" panose="020B0400000000000000" pitchFamily="50" charset="-128"/>
                <a:ea typeface="BIZ UDPゴシック" panose="020B0400000000000000" pitchFamily="50" charset="-128"/>
              </a:rPr>
              <a:t>の再定義）</a:t>
            </a:r>
          </a:p>
        </p:txBody>
      </p:sp>
      <p:sp>
        <p:nvSpPr>
          <p:cNvPr id="11" name="Google Shape;116;p20">
            <a:extLst>
              <a:ext uri="{FF2B5EF4-FFF2-40B4-BE49-F238E27FC236}">
                <a16:creationId xmlns:a16="http://schemas.microsoft.com/office/drawing/2014/main" id="{26A91A22-06B2-8300-7D92-FFD872AE7D1A}"/>
              </a:ext>
            </a:extLst>
          </p:cNvPr>
          <p:cNvSpPr txBox="1">
            <a:spLocks/>
          </p:cNvSpPr>
          <p:nvPr/>
        </p:nvSpPr>
        <p:spPr>
          <a:xfrm>
            <a:off x="90732" y="1040230"/>
            <a:ext cx="4825028" cy="3930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buFont typeface="Lato"/>
              <a:buNone/>
            </a:pPr>
            <a:r>
              <a:rPr lang="ja-JP" altLang="en-US" sz="1600" dirty="0">
                <a:solidFill>
                  <a:schemeClr val="bg2"/>
                </a:solidFill>
                <a:latin typeface="BIZ UDPゴシック" panose="020B0400000000000000" pitchFamily="50" charset="-128"/>
                <a:ea typeface="BIZ UDPゴシック" panose="020B0400000000000000" pitchFamily="50" charset="-128"/>
              </a:rPr>
              <a:t>読者の理解度を訳文の記述的特徴から</a:t>
            </a:r>
            <a:r>
              <a:rPr lang="ja-JP" altLang="en-US" sz="1600" dirty="0">
                <a:solidFill>
                  <a:schemeClr val="tx1"/>
                </a:solidFill>
                <a:latin typeface="BIZ UDPゴシック" panose="020B0400000000000000" pitchFamily="50" charset="-128"/>
                <a:ea typeface="BIZ UDPゴシック" panose="020B0400000000000000" pitchFamily="50" charset="-128"/>
              </a:rPr>
              <a:t>４段階</a:t>
            </a:r>
            <a:r>
              <a:rPr lang="ja-JP" altLang="en-US" sz="1600" dirty="0">
                <a:solidFill>
                  <a:schemeClr val="bg2"/>
                </a:solidFill>
                <a:latin typeface="BIZ UDPゴシック" panose="020B0400000000000000" pitchFamily="50" charset="-128"/>
                <a:ea typeface="BIZ UDPゴシック" panose="020B0400000000000000" pitchFamily="50" charset="-128"/>
              </a:rPr>
              <a:t>に分類</a:t>
            </a:r>
            <a:r>
              <a:rPr lang="ja-JP" altLang="en-US" sz="1600" dirty="0">
                <a:solidFill>
                  <a:srgbClr val="000000"/>
                </a:solidFill>
                <a:latin typeface="BIZ UDPゴシック" panose="020B0400000000000000" pitchFamily="50" charset="-128"/>
                <a:ea typeface="BIZ UDPゴシック" panose="020B0400000000000000" pitchFamily="50" charset="-128"/>
              </a:rPr>
              <a:t> </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a:p>
            <a:pPr marL="0" indent="0">
              <a:buFont typeface="Lato"/>
              <a:buNone/>
            </a:pPr>
            <a:endParaRPr lang="en-US" altLang="ja-JP" sz="1600" dirty="0">
              <a:solidFill>
                <a:srgbClr val="000000"/>
              </a:solidFill>
              <a:latin typeface="BIZ UDPゴシック" panose="020B0400000000000000" pitchFamily="50" charset="-128"/>
              <a:ea typeface="BIZ UDPゴシック" panose="020B0400000000000000" pitchFamily="50" charset="-128"/>
            </a:endParaRPr>
          </a:p>
        </p:txBody>
      </p:sp>
      <p:sp>
        <p:nvSpPr>
          <p:cNvPr id="2" name="Google Shape;116;p20">
            <a:extLst>
              <a:ext uri="{FF2B5EF4-FFF2-40B4-BE49-F238E27FC236}">
                <a16:creationId xmlns:a16="http://schemas.microsoft.com/office/drawing/2014/main" id="{EB35E145-25E2-EE2C-E6D8-6213B9051F34}"/>
              </a:ext>
            </a:extLst>
          </p:cNvPr>
          <p:cNvSpPr txBox="1">
            <a:spLocks/>
          </p:cNvSpPr>
          <p:nvPr/>
        </p:nvSpPr>
        <p:spPr>
          <a:xfrm>
            <a:off x="1276710" y="1655447"/>
            <a:ext cx="7867290" cy="244782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lnSpc>
                <a:spcPct val="250000"/>
              </a:lnSpc>
              <a:buFont typeface="Lato"/>
              <a:buNone/>
            </a:pPr>
            <a:r>
              <a:rPr lang="en-US" altLang="ja-JP" sz="1600" b="1" dirty="0">
                <a:solidFill>
                  <a:srgbClr val="000000"/>
                </a:solidFill>
                <a:latin typeface="BIZ UDPゴシック" panose="020B0400000000000000" pitchFamily="50" charset="-128"/>
                <a:ea typeface="BIZ UDPゴシック" panose="020B0400000000000000" pitchFamily="50" charset="-128"/>
              </a:rPr>
              <a:t>Denial</a:t>
            </a:r>
            <a:r>
              <a:rPr lang="ja-JP" altLang="en-US" sz="1600" b="1" dirty="0">
                <a:solidFill>
                  <a:srgbClr val="000000"/>
                </a:solidFill>
                <a:latin typeface="BIZ UDPゴシック" panose="020B0400000000000000" pitchFamily="50" charset="-128"/>
                <a:ea typeface="BIZ UDPゴシック" panose="020B0400000000000000" pitchFamily="50" charset="-128"/>
              </a:rPr>
              <a:t>（否定） </a:t>
            </a:r>
            <a:r>
              <a:rPr lang="ja-JP" altLang="en-US" b="1" dirty="0">
                <a:solidFill>
                  <a:srgbClr val="000000"/>
                </a:solidFill>
                <a:latin typeface="BIZ UDPゴシック" panose="020B0400000000000000" pitchFamily="50" charset="-128"/>
                <a:ea typeface="BIZ UDPゴシック" panose="020B0400000000000000" pitchFamily="50" charset="-128"/>
              </a:rPr>
              <a:t>認知不能</a:t>
            </a:r>
            <a:r>
              <a:rPr lang="ja-JP" altLang="en-US" dirty="0">
                <a:solidFill>
                  <a:srgbClr val="000000"/>
                </a:solidFill>
                <a:latin typeface="BIZ UDPゴシック" panose="020B0400000000000000" pitchFamily="50" charset="-128"/>
                <a:ea typeface="BIZ UDPゴシック" panose="020B0400000000000000" pitchFamily="50" charset="-128"/>
              </a:rPr>
              <a:t>（訳文に語彙や記述が存在しない）</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a:p>
            <a:pPr marL="0" indent="0">
              <a:lnSpc>
                <a:spcPct val="250000"/>
              </a:lnSpc>
              <a:buFont typeface="Lato"/>
              <a:buNone/>
            </a:pPr>
            <a:r>
              <a:rPr lang="en-US" altLang="ja-JP" sz="1600" b="1" dirty="0">
                <a:solidFill>
                  <a:schemeClr val="accent3">
                    <a:lumMod val="75000"/>
                  </a:schemeClr>
                </a:solidFill>
                <a:latin typeface="BIZ UDPゴシック" panose="020B0400000000000000" pitchFamily="50" charset="-128"/>
                <a:ea typeface="BIZ UDPゴシック" panose="020B0400000000000000" pitchFamily="50" charset="-128"/>
              </a:rPr>
              <a:t>Minimization</a:t>
            </a:r>
            <a:r>
              <a:rPr lang="ja-JP" altLang="en-US" sz="1600" b="1" dirty="0">
                <a:solidFill>
                  <a:schemeClr val="accent3">
                    <a:lumMod val="75000"/>
                  </a:schemeClr>
                </a:solidFill>
                <a:latin typeface="BIZ UDPゴシック" panose="020B0400000000000000" pitchFamily="50" charset="-128"/>
                <a:ea typeface="BIZ UDPゴシック" panose="020B0400000000000000" pitchFamily="50" charset="-128"/>
              </a:rPr>
              <a:t>（最小化）　</a:t>
            </a:r>
            <a:r>
              <a:rPr lang="ja-JP" altLang="en-US" b="1" dirty="0">
                <a:solidFill>
                  <a:schemeClr val="accent3">
                    <a:lumMod val="75000"/>
                  </a:schemeClr>
                </a:solidFill>
                <a:latin typeface="BIZ UDPゴシック" panose="020B0400000000000000" pitchFamily="50" charset="-128"/>
                <a:ea typeface="BIZ UDPゴシック" panose="020B0400000000000000" pitchFamily="50" charset="-128"/>
              </a:rPr>
              <a:t>自文化の要素に同化して理解</a:t>
            </a:r>
            <a:r>
              <a:rPr lang="ja-JP" altLang="en-US" dirty="0">
                <a:solidFill>
                  <a:schemeClr val="accent3">
                    <a:lumMod val="75000"/>
                  </a:schemeClr>
                </a:solidFill>
                <a:latin typeface="BIZ UDPゴシック" panose="020B0400000000000000" pitchFamily="50" charset="-128"/>
                <a:ea typeface="BIZ UDPゴシック" panose="020B0400000000000000" pitchFamily="50" charset="-128"/>
              </a:rPr>
              <a:t>（訳文が既知の概念のみで構成）</a:t>
            </a:r>
            <a:endParaRPr lang="en-US" altLang="ja-JP" sz="1600" dirty="0">
              <a:solidFill>
                <a:schemeClr val="accent3">
                  <a:lumMod val="75000"/>
                </a:schemeClr>
              </a:solidFill>
              <a:latin typeface="BIZ UDPゴシック" panose="020B0400000000000000" pitchFamily="50" charset="-128"/>
              <a:ea typeface="BIZ UDPゴシック" panose="020B0400000000000000" pitchFamily="50" charset="-128"/>
            </a:endParaRPr>
          </a:p>
          <a:p>
            <a:pPr marL="0" indent="0">
              <a:lnSpc>
                <a:spcPct val="250000"/>
              </a:lnSpc>
              <a:buFont typeface="Lato"/>
              <a:buNone/>
            </a:pPr>
            <a:r>
              <a:rPr lang="en-US" altLang="ja-JP" sz="1600" b="1" dirty="0">
                <a:solidFill>
                  <a:srgbClr val="000000"/>
                </a:solidFill>
                <a:latin typeface="BIZ UDPゴシック" panose="020B0400000000000000" pitchFamily="50" charset="-128"/>
                <a:ea typeface="BIZ UDPゴシック" panose="020B0400000000000000" pitchFamily="50" charset="-128"/>
              </a:rPr>
              <a:t>Acceptance</a:t>
            </a:r>
            <a:r>
              <a:rPr lang="ja-JP" altLang="en-US" sz="1600" b="1" dirty="0">
                <a:solidFill>
                  <a:srgbClr val="000000"/>
                </a:solidFill>
                <a:latin typeface="BIZ UDPゴシック" panose="020B0400000000000000" pitchFamily="50" charset="-128"/>
                <a:ea typeface="BIZ UDPゴシック" panose="020B0400000000000000" pitchFamily="50" charset="-128"/>
              </a:rPr>
              <a:t>（受容）　</a:t>
            </a:r>
            <a:r>
              <a:rPr lang="ja-JP" altLang="en-US" b="1" dirty="0">
                <a:solidFill>
                  <a:srgbClr val="000000"/>
                </a:solidFill>
                <a:latin typeface="BIZ UDPゴシック" panose="020B0400000000000000" pitchFamily="50" charset="-128"/>
                <a:ea typeface="BIZ UDPゴシック" panose="020B0400000000000000" pitchFamily="50" charset="-128"/>
              </a:rPr>
              <a:t>自文化にないものとして認識</a:t>
            </a:r>
            <a:r>
              <a:rPr lang="ja-JP" altLang="en-US" dirty="0">
                <a:solidFill>
                  <a:srgbClr val="000000"/>
                </a:solidFill>
                <a:latin typeface="BIZ UDPゴシック" panose="020B0400000000000000" pitchFamily="50" charset="-128"/>
                <a:ea typeface="BIZ UDPゴシック" panose="020B0400000000000000" pitchFamily="50" charset="-128"/>
              </a:rPr>
              <a:t>（訳文が規範から逸脱した語彙で構成）</a:t>
            </a:r>
            <a:endParaRPr lang="en-US" altLang="ja-JP" sz="1600" dirty="0">
              <a:solidFill>
                <a:srgbClr val="000000"/>
              </a:solidFill>
              <a:latin typeface="BIZ UDPゴシック" panose="020B0400000000000000" pitchFamily="50" charset="-128"/>
              <a:ea typeface="BIZ UDPゴシック" panose="020B0400000000000000" pitchFamily="50" charset="-128"/>
            </a:endParaRPr>
          </a:p>
          <a:p>
            <a:pPr marL="0" indent="0">
              <a:lnSpc>
                <a:spcPct val="250000"/>
              </a:lnSpc>
              <a:buFont typeface="Lato"/>
              <a:buNone/>
            </a:pPr>
            <a:r>
              <a:rPr lang="en-US" altLang="ja-JP" sz="1600" b="1" dirty="0">
                <a:solidFill>
                  <a:schemeClr val="tx1"/>
                </a:solidFill>
                <a:latin typeface="BIZ UDPゴシック" panose="020B0400000000000000" pitchFamily="50" charset="-128"/>
                <a:ea typeface="BIZ UDPゴシック" panose="020B0400000000000000" pitchFamily="50" charset="-128"/>
              </a:rPr>
              <a:t>Adaptation</a:t>
            </a:r>
            <a:r>
              <a:rPr lang="ja-JP" altLang="en-US" sz="1600" b="1" dirty="0">
                <a:solidFill>
                  <a:schemeClr val="tx1"/>
                </a:solidFill>
                <a:latin typeface="BIZ UDPゴシック" panose="020B0400000000000000" pitchFamily="50" charset="-128"/>
                <a:ea typeface="BIZ UDPゴシック" panose="020B0400000000000000" pitchFamily="50" charset="-128"/>
              </a:rPr>
              <a:t>（適応）　</a:t>
            </a:r>
            <a:r>
              <a:rPr lang="ja-JP" altLang="en-US" b="1" dirty="0">
                <a:solidFill>
                  <a:schemeClr val="tx1"/>
                </a:solidFill>
                <a:latin typeface="BIZ UDPゴシック" panose="020B0400000000000000" pitchFamily="50" charset="-128"/>
                <a:ea typeface="BIZ UDPゴシック" panose="020B0400000000000000" pitchFamily="50" charset="-128"/>
              </a:rPr>
              <a:t>原文の文化の文脈で理解</a:t>
            </a:r>
            <a:r>
              <a:rPr lang="ja-JP" altLang="en-US" dirty="0">
                <a:solidFill>
                  <a:schemeClr val="tx1"/>
                </a:solidFill>
                <a:latin typeface="BIZ UDPゴシック" panose="020B0400000000000000" pitchFamily="50" charset="-128"/>
                <a:ea typeface="BIZ UDPゴシック" panose="020B0400000000000000" pitchFamily="50" charset="-128"/>
              </a:rPr>
              <a:t>（訳文が逸脱した語彙に加え、補足説明もある）</a:t>
            </a:r>
            <a:endParaRPr lang="en-US" altLang="ja-JP" dirty="0">
              <a:solidFill>
                <a:schemeClr val="tx1"/>
              </a:solidFill>
              <a:latin typeface="BIZ UDPゴシック" panose="020B0400000000000000" pitchFamily="50" charset="-128"/>
              <a:ea typeface="BIZ UDPゴシック" panose="020B0400000000000000" pitchFamily="50" charset="-128"/>
            </a:endParaRPr>
          </a:p>
        </p:txBody>
      </p:sp>
      <p:sp>
        <p:nvSpPr>
          <p:cNvPr id="7" name="Google Shape;116;p20">
            <a:extLst>
              <a:ext uri="{FF2B5EF4-FFF2-40B4-BE49-F238E27FC236}">
                <a16:creationId xmlns:a16="http://schemas.microsoft.com/office/drawing/2014/main" id="{F6D6E36E-C76B-4BA1-4EC7-8C0A948889C9}"/>
              </a:ext>
            </a:extLst>
          </p:cNvPr>
          <p:cNvSpPr txBox="1">
            <a:spLocks/>
          </p:cNvSpPr>
          <p:nvPr/>
        </p:nvSpPr>
        <p:spPr>
          <a:xfrm>
            <a:off x="302588" y="1578638"/>
            <a:ext cx="1078088" cy="529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lnSpc>
                <a:spcPct val="250000"/>
              </a:lnSpc>
              <a:buFont typeface="Lato"/>
              <a:buNone/>
            </a:pPr>
            <a:endParaRPr lang="en-US" altLang="ja-JP" dirty="0">
              <a:solidFill>
                <a:srgbClr val="00000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7728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860C4F-AFBB-2C08-615D-6FC7AF549DC8}"/>
              </a:ext>
            </a:extLst>
          </p:cNvPr>
          <p:cNvSpPr>
            <a:spLocks noGrp="1"/>
          </p:cNvSpPr>
          <p:nvPr>
            <p:ph type="title"/>
          </p:nvPr>
        </p:nvSpPr>
        <p:spPr>
          <a:xfrm>
            <a:off x="383822" y="575950"/>
            <a:ext cx="8338028" cy="635400"/>
          </a:xfrm>
        </p:spPr>
        <p:txBody>
          <a:bodyPr/>
          <a:lstStyle/>
          <a:p>
            <a:r>
              <a:rPr kumimoji="1" lang="ja-JP" altLang="en-US" dirty="0">
                <a:latin typeface="BIZ UDPゴシック" panose="020B0400000000000000" pitchFamily="50" charset="-128"/>
                <a:ea typeface="BIZ UDPゴシック" panose="020B0400000000000000" pitchFamily="50" charset="-128"/>
              </a:rPr>
              <a:t>分析方法④ クロス集計と統計的分析</a:t>
            </a:r>
          </a:p>
        </p:txBody>
      </p:sp>
      <p:sp>
        <p:nvSpPr>
          <p:cNvPr id="3" name="テキスト プレースホルダー 2">
            <a:extLst>
              <a:ext uri="{FF2B5EF4-FFF2-40B4-BE49-F238E27FC236}">
                <a16:creationId xmlns:a16="http://schemas.microsoft.com/office/drawing/2014/main" id="{F90E479A-2B65-C3B5-1C6A-BCAB7CEDCA3D}"/>
              </a:ext>
            </a:extLst>
          </p:cNvPr>
          <p:cNvSpPr>
            <a:spLocks noGrp="1"/>
          </p:cNvSpPr>
          <p:nvPr>
            <p:ph type="body" idx="1"/>
          </p:nvPr>
        </p:nvSpPr>
        <p:spPr>
          <a:xfrm>
            <a:off x="136661" y="1608012"/>
            <a:ext cx="8478033" cy="1229808"/>
          </a:xfrm>
        </p:spPr>
        <p:txBody>
          <a:bodyPr/>
          <a:lstStyle/>
          <a:p>
            <a:pPr marL="139700" indent="0">
              <a:buNone/>
            </a:pPr>
            <a:r>
              <a:rPr kumimoji="1" lang="ja-JP" altLang="en-US" sz="2000" dirty="0"/>
              <a:t>・</a:t>
            </a:r>
            <a:r>
              <a:rPr kumimoji="1" lang="ja-JP" altLang="en-US" sz="2000" b="1" dirty="0">
                <a:solidFill>
                  <a:schemeClr val="tx1"/>
                </a:solidFill>
              </a:rPr>
              <a:t>翻訳技法</a:t>
            </a:r>
            <a:r>
              <a:rPr kumimoji="1" lang="en-US" altLang="ja-JP" sz="2000" b="1" dirty="0">
                <a:solidFill>
                  <a:schemeClr val="tx1"/>
                </a:solidFill>
              </a:rPr>
              <a:t>×DMIS</a:t>
            </a:r>
            <a:r>
              <a:rPr kumimoji="1" lang="ja-JP" altLang="en-US" sz="2000" b="1" dirty="0">
                <a:solidFill>
                  <a:schemeClr val="tx1"/>
                </a:solidFill>
              </a:rPr>
              <a:t>のクロス集計表</a:t>
            </a:r>
            <a:r>
              <a:rPr kumimoji="1" lang="ja-JP" altLang="en-US" sz="2000" dirty="0"/>
              <a:t>作成</a:t>
            </a:r>
            <a:endParaRPr kumimoji="1" lang="en-US" altLang="ja-JP" sz="2000" dirty="0"/>
          </a:p>
          <a:p>
            <a:pPr marL="139700" indent="0">
              <a:buNone/>
            </a:pPr>
            <a:endParaRPr kumimoji="1" lang="en-US" altLang="ja-JP" sz="2000" dirty="0"/>
          </a:p>
          <a:p>
            <a:pPr marL="139700" indent="0">
              <a:buNone/>
            </a:pPr>
            <a:r>
              <a:rPr kumimoji="1" lang="ja-JP" altLang="en-US" sz="2000" dirty="0"/>
              <a:t>・</a:t>
            </a:r>
            <a:r>
              <a:rPr kumimoji="1" lang="ja-JP" altLang="en-US" sz="2000" b="1" dirty="0">
                <a:solidFill>
                  <a:schemeClr val="tx1"/>
                </a:solidFill>
              </a:rPr>
              <a:t>統計的な指標</a:t>
            </a:r>
            <a:r>
              <a:rPr kumimoji="1" lang="ja-JP" altLang="en-US" sz="2000" dirty="0"/>
              <a:t>（調整済み標準化残差）を用いて、相関を明らかにする。</a:t>
            </a:r>
          </a:p>
        </p:txBody>
      </p:sp>
    </p:spTree>
    <p:extLst>
      <p:ext uri="{BB962C8B-B14F-4D97-AF65-F5344CB8AC3E}">
        <p14:creationId xmlns:p14="http://schemas.microsoft.com/office/powerpoint/2010/main" val="321752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3FB43568-E2AF-9899-955F-3EBFAD384763}"/>
            </a:ext>
          </a:extLst>
        </p:cNvPr>
        <p:cNvGrpSpPr/>
        <p:nvPr/>
      </p:nvGrpSpPr>
      <p:grpSpPr>
        <a:xfrm>
          <a:off x="0" y="0"/>
          <a:ext cx="0" cy="0"/>
          <a:chOff x="0" y="0"/>
          <a:chExt cx="0" cy="0"/>
        </a:xfrm>
      </p:grpSpPr>
      <p:sp>
        <p:nvSpPr>
          <p:cNvPr id="78" name="Google Shape;78;p14">
            <a:extLst>
              <a:ext uri="{FF2B5EF4-FFF2-40B4-BE49-F238E27FC236}">
                <a16:creationId xmlns:a16="http://schemas.microsoft.com/office/drawing/2014/main" id="{DB2C9B59-8E71-EE6A-776C-53577E48772B}"/>
              </a:ext>
            </a:extLst>
          </p:cNvPr>
          <p:cNvSpPr txBox="1">
            <a:spLocks noGrp="1"/>
          </p:cNvSpPr>
          <p:nvPr>
            <p:ph type="title"/>
          </p:nvPr>
        </p:nvSpPr>
        <p:spPr>
          <a:xfrm>
            <a:off x="265500" y="1912650"/>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dirty="0">
                <a:latin typeface="BIZ UDPゴシック" panose="020B0400000000000000" pitchFamily="50" charset="-128"/>
                <a:ea typeface="BIZ UDPゴシック" panose="020B0400000000000000" pitchFamily="50" charset="-128"/>
              </a:rPr>
              <a:t>流れ</a:t>
            </a:r>
            <a:endParaRPr dirty="0">
              <a:latin typeface="BIZ UDPゴシック" panose="020B0400000000000000" pitchFamily="50" charset="-128"/>
              <a:ea typeface="BIZ UDPゴシック" panose="020B0400000000000000" pitchFamily="50" charset="-128"/>
            </a:endParaRPr>
          </a:p>
        </p:txBody>
      </p:sp>
      <p:sp>
        <p:nvSpPr>
          <p:cNvPr id="79" name="Google Shape;79;p14">
            <a:extLst>
              <a:ext uri="{FF2B5EF4-FFF2-40B4-BE49-F238E27FC236}">
                <a16:creationId xmlns:a16="http://schemas.microsoft.com/office/drawing/2014/main" id="{09B5F89E-A299-BA2D-7F21-76A4A3F58DC6}"/>
              </a:ext>
            </a:extLst>
          </p:cNvPr>
          <p:cNvSpPr txBox="1">
            <a:spLocks noGrp="1"/>
          </p:cNvSpPr>
          <p:nvPr>
            <p:ph type="body" idx="2"/>
          </p:nvPr>
        </p:nvSpPr>
        <p:spPr>
          <a:xfrm>
            <a:off x="4476750" y="724200"/>
            <a:ext cx="4755000" cy="3695100"/>
          </a:xfrm>
          <a:prstGeom prst="rect">
            <a:avLst/>
          </a:prstGeom>
        </p:spPr>
        <p:txBody>
          <a:bodyPr spcFirstLastPara="1" wrap="square" lIns="91425" tIns="91425" rIns="91425" bIns="91425" anchor="ctr" anchorCtr="0">
            <a:noAutofit/>
          </a:bodyPr>
          <a:lstStyle/>
          <a:p>
            <a:pPr marL="133350" lvl="0" indent="0">
              <a:buSzPts val="1500"/>
              <a:buNone/>
            </a:pPr>
            <a:r>
              <a:rPr lang="ja-JP" altLang="en-US" sz="1600" b="1" strike="sngStrike" dirty="0">
                <a:latin typeface="BIZ UDPゴシック" panose="020B0400000000000000" pitchFamily="50" charset="-128"/>
                <a:ea typeface="BIZ UDPゴシック" panose="020B0400000000000000" pitchFamily="50" charset="-128"/>
              </a:rPr>
              <a:t>１．  翻訳の例： 訳し方で読者の理解は変わる</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strike="sngStrike" dirty="0">
                <a:latin typeface="BIZ UDPゴシック" panose="020B0400000000000000" pitchFamily="50" charset="-128"/>
                <a:ea typeface="BIZ UDPゴシック" panose="020B0400000000000000" pitchFamily="50" charset="-128"/>
              </a:rPr>
              <a:t>２</a:t>
            </a:r>
            <a:r>
              <a:rPr lang="en-US" altLang="ja-JP" sz="1600" b="1" strike="sngStrike" dirty="0">
                <a:latin typeface="BIZ UDPゴシック" panose="020B0400000000000000" pitchFamily="50" charset="-128"/>
                <a:ea typeface="BIZ UDPゴシック" panose="020B0400000000000000" pitchFamily="50" charset="-128"/>
              </a:rPr>
              <a:t>.</a:t>
            </a:r>
            <a:r>
              <a:rPr lang="ja-JP" altLang="en-US" sz="1600" b="1" strike="sngStrike" dirty="0">
                <a:latin typeface="BIZ UDPゴシック" panose="020B0400000000000000" pitchFamily="50" charset="-128"/>
                <a:ea typeface="BIZ UDPゴシック" panose="020B0400000000000000" pitchFamily="50" charset="-128"/>
              </a:rPr>
              <a:t>  研究目的</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en-US" sz="1600" b="1" strike="sngStrike" dirty="0">
                <a:latin typeface="BIZ UDPゴシック" panose="020B0400000000000000" pitchFamily="50" charset="-128"/>
                <a:ea typeface="BIZ UDPゴシック" panose="020B0400000000000000" pitchFamily="50" charset="-128"/>
              </a:rPr>
              <a:t>3.</a:t>
            </a:r>
            <a:r>
              <a:rPr lang="ja-JP" altLang="en-US" sz="1600" b="1" strike="sngStrike" dirty="0">
                <a:latin typeface="BIZ UDPゴシック" panose="020B0400000000000000" pitchFamily="50" charset="-128"/>
                <a:ea typeface="BIZ UDPゴシック" panose="020B0400000000000000" pitchFamily="50" charset="-128"/>
              </a:rPr>
              <a:t>  分析方法</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en-US" sz="1600" b="1" dirty="0">
                <a:latin typeface="BIZ UDPゴシック" panose="020B0400000000000000" pitchFamily="50" charset="-128"/>
                <a:ea typeface="BIZ UDPゴシック" panose="020B0400000000000000" pitchFamily="50" charset="-128"/>
              </a:rPr>
              <a:t>4.</a:t>
            </a:r>
            <a:r>
              <a:rPr lang="ja-JP" altLang="en-US" sz="1600" b="1" dirty="0">
                <a:latin typeface="BIZ UDPゴシック" panose="020B0400000000000000" pitchFamily="50" charset="-128"/>
                <a:ea typeface="BIZ UDPゴシック" panose="020B0400000000000000" pitchFamily="50" charset="-128"/>
              </a:rPr>
              <a:t> </a:t>
            </a:r>
            <a:r>
              <a:rPr lang="en-US" sz="1600" b="1" dirty="0">
                <a:latin typeface="BIZ UDPゴシック" panose="020B0400000000000000" pitchFamily="50" charset="-128"/>
                <a:ea typeface="BIZ UDPゴシック" panose="020B0400000000000000" pitchFamily="50" charset="-128"/>
              </a:rPr>
              <a:t> </a:t>
            </a:r>
            <a:r>
              <a:rPr lang="ja-JP" altLang="en-US" sz="1600" b="1" dirty="0">
                <a:latin typeface="BIZ UDPゴシック" panose="020B0400000000000000" pitchFamily="50" charset="-128"/>
                <a:ea typeface="BIZ UDPゴシック" panose="020B0400000000000000" pitchFamily="50" charset="-128"/>
              </a:rPr>
              <a:t>分析結果（全体傾向と相関分析結果）</a:t>
            </a:r>
            <a:endParaRPr lang="en-US" altLang="ja-JP" sz="1600" b="1"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dirty="0">
                <a:latin typeface="BIZ UDPゴシック" panose="020B0400000000000000" pitchFamily="50" charset="-128"/>
                <a:ea typeface="BIZ UDPゴシック" panose="020B0400000000000000" pitchFamily="50" charset="-128"/>
              </a:rPr>
              <a:t>５</a:t>
            </a:r>
            <a:r>
              <a:rPr lang="en-US" altLang="ja-JP" sz="1600" b="1" dirty="0">
                <a:latin typeface="BIZ UDPゴシック" panose="020B0400000000000000" pitchFamily="50" charset="-128"/>
                <a:ea typeface="BIZ UDPゴシック" panose="020B0400000000000000" pitchFamily="50" charset="-128"/>
              </a:rPr>
              <a:t>.</a:t>
            </a:r>
            <a:r>
              <a:rPr lang="ja-JP" altLang="en-US" sz="1600" b="1" dirty="0">
                <a:latin typeface="BIZ UDPゴシック" panose="020B0400000000000000" pitchFamily="50" charset="-128"/>
                <a:ea typeface="BIZ UDPゴシック" panose="020B0400000000000000" pitchFamily="50" charset="-128"/>
              </a:rPr>
              <a:t>  考察</a:t>
            </a:r>
            <a:endParaRPr lang="en-US" altLang="ja-JP" sz="1600" b="1"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dirty="0">
                <a:latin typeface="BIZ UDPゴシック" panose="020B0400000000000000" pitchFamily="50" charset="-128"/>
                <a:ea typeface="BIZ UDPゴシック" panose="020B0400000000000000" pitchFamily="50" charset="-128"/>
              </a:rPr>
              <a:t>６． 結論 ・ 今後の課題</a:t>
            </a:r>
            <a:endParaRPr lang="en-US" altLang="ja-JP" sz="1600" b="1"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905752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8A3E4FBE-D067-52D8-25D3-FCAA5620B3FE}"/>
            </a:ext>
          </a:extLst>
        </p:cNvPr>
        <p:cNvGrpSpPr/>
        <p:nvPr/>
      </p:nvGrpSpPr>
      <p:grpSpPr>
        <a:xfrm>
          <a:off x="0" y="0"/>
          <a:ext cx="0" cy="0"/>
          <a:chOff x="0" y="0"/>
          <a:chExt cx="0" cy="0"/>
        </a:xfrm>
      </p:grpSpPr>
      <p:sp>
        <p:nvSpPr>
          <p:cNvPr id="115" name="Google Shape;115;p20">
            <a:extLst>
              <a:ext uri="{FF2B5EF4-FFF2-40B4-BE49-F238E27FC236}">
                <a16:creationId xmlns:a16="http://schemas.microsoft.com/office/drawing/2014/main" id="{7421643C-21F7-A3AB-C6C7-6477B93B700B}"/>
              </a:ext>
            </a:extLst>
          </p:cNvPr>
          <p:cNvSpPr txBox="1">
            <a:spLocks noGrp="1"/>
          </p:cNvSpPr>
          <p:nvPr>
            <p:ph type="title"/>
          </p:nvPr>
        </p:nvSpPr>
        <p:spPr>
          <a:xfrm>
            <a:off x="75944" y="440483"/>
            <a:ext cx="8453995"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dirty="0">
                <a:latin typeface="BIZ UDPゴシック" panose="020B0400000000000000" pitchFamily="50" charset="-128"/>
                <a:ea typeface="BIZ UDPゴシック" panose="020B0400000000000000" pitchFamily="50" charset="-128"/>
              </a:rPr>
              <a:t>分析結果①　全体傾向</a:t>
            </a:r>
            <a:endParaRPr dirty="0">
              <a:latin typeface="BIZ UDPゴシック" panose="020B0400000000000000" pitchFamily="50" charset="-128"/>
              <a:ea typeface="BIZ UDPゴシック" panose="020B0400000000000000" pitchFamily="50" charset="-128"/>
            </a:endParaRPr>
          </a:p>
        </p:txBody>
      </p:sp>
      <p:pic>
        <p:nvPicPr>
          <p:cNvPr id="5" name="図 4" descr="グラフィカル ユーザー インターフェイス&#10;&#10;AI 生成コンテンツは誤りを含む可能性があります。">
            <a:extLst>
              <a:ext uri="{FF2B5EF4-FFF2-40B4-BE49-F238E27FC236}">
                <a16:creationId xmlns:a16="http://schemas.microsoft.com/office/drawing/2014/main" id="{9E617C80-8440-A89C-1C1A-39276C2B39F9}"/>
              </a:ext>
            </a:extLst>
          </p:cNvPr>
          <p:cNvPicPr>
            <a:picLocks noChangeAspect="1"/>
          </p:cNvPicPr>
          <p:nvPr/>
        </p:nvPicPr>
        <p:blipFill>
          <a:blip r:embed="rId3"/>
          <a:srcRect t="13529"/>
          <a:stretch>
            <a:fillRect/>
          </a:stretch>
        </p:blipFill>
        <p:spPr>
          <a:xfrm>
            <a:off x="90732" y="1471414"/>
            <a:ext cx="4481268" cy="2262387"/>
          </a:xfrm>
          <a:prstGeom prst="rect">
            <a:avLst/>
          </a:prstGeom>
        </p:spPr>
      </p:pic>
      <p:sp>
        <p:nvSpPr>
          <p:cNvPr id="6" name="Google Shape;116;p20">
            <a:extLst>
              <a:ext uri="{FF2B5EF4-FFF2-40B4-BE49-F238E27FC236}">
                <a16:creationId xmlns:a16="http://schemas.microsoft.com/office/drawing/2014/main" id="{E50FC3CD-1D3B-C82C-BDAD-2CC66019B2D3}"/>
              </a:ext>
            </a:extLst>
          </p:cNvPr>
          <p:cNvSpPr txBox="1">
            <a:spLocks/>
          </p:cNvSpPr>
          <p:nvPr/>
        </p:nvSpPr>
        <p:spPr>
          <a:xfrm>
            <a:off x="90732" y="1040230"/>
            <a:ext cx="3422489" cy="3930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lgn="ctr">
              <a:buFont typeface="Lato"/>
              <a:buNone/>
            </a:pPr>
            <a:r>
              <a:rPr lang="ja-JP" altLang="en-US" sz="1600" b="1" dirty="0">
                <a:solidFill>
                  <a:schemeClr val="accent1">
                    <a:lumMod val="75000"/>
                  </a:schemeClr>
                </a:solidFill>
                <a:latin typeface="BIZ UDPゴシック" panose="020B0400000000000000" pitchFamily="50" charset="-128"/>
                <a:ea typeface="BIZ UDPゴシック" panose="020B0400000000000000" pitchFamily="50" charset="-128"/>
              </a:rPr>
              <a:t>翻訳技法の分布</a:t>
            </a:r>
            <a:endParaRPr lang="en-US" altLang="ja-JP" sz="1600" b="1" dirty="0">
              <a:solidFill>
                <a:schemeClr val="accent1">
                  <a:lumMod val="75000"/>
                </a:schemeClr>
              </a:solidFill>
              <a:latin typeface="BIZ UDPゴシック" panose="020B0400000000000000" pitchFamily="50" charset="-128"/>
              <a:ea typeface="BIZ UDPゴシック" panose="020B0400000000000000" pitchFamily="50" charset="-128"/>
            </a:endParaRPr>
          </a:p>
        </p:txBody>
      </p:sp>
      <p:pic>
        <p:nvPicPr>
          <p:cNvPr id="9" name="図 8"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17E5BD6C-76BC-36FC-8F3A-9CB390928511}"/>
              </a:ext>
            </a:extLst>
          </p:cNvPr>
          <p:cNvPicPr>
            <a:picLocks noChangeAspect="1"/>
          </p:cNvPicPr>
          <p:nvPr/>
        </p:nvPicPr>
        <p:blipFill>
          <a:blip r:embed="rId4"/>
          <a:srcRect t="16337" b="83"/>
          <a:stretch>
            <a:fillRect/>
          </a:stretch>
        </p:blipFill>
        <p:spPr>
          <a:xfrm>
            <a:off x="4434496" y="1433313"/>
            <a:ext cx="4481269" cy="1719560"/>
          </a:xfrm>
          <a:prstGeom prst="rect">
            <a:avLst/>
          </a:prstGeom>
        </p:spPr>
      </p:pic>
      <p:sp>
        <p:nvSpPr>
          <p:cNvPr id="13" name="Google Shape;116;p20">
            <a:extLst>
              <a:ext uri="{FF2B5EF4-FFF2-40B4-BE49-F238E27FC236}">
                <a16:creationId xmlns:a16="http://schemas.microsoft.com/office/drawing/2014/main" id="{8F9B1E22-F4F3-7FED-45F6-D47653E387B2}"/>
              </a:ext>
            </a:extLst>
          </p:cNvPr>
          <p:cNvSpPr txBox="1">
            <a:spLocks/>
          </p:cNvSpPr>
          <p:nvPr/>
        </p:nvSpPr>
        <p:spPr>
          <a:xfrm>
            <a:off x="4828882" y="1078331"/>
            <a:ext cx="3715845" cy="3930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lgn="ctr">
              <a:buNone/>
            </a:pPr>
            <a:r>
              <a:rPr lang="en-US" altLang="ja-JP" sz="1600" b="1" dirty="0">
                <a:solidFill>
                  <a:schemeClr val="accent1">
                    <a:lumMod val="75000"/>
                  </a:schemeClr>
                </a:solidFill>
                <a:latin typeface="BIZ UDPゴシック" panose="020B0400000000000000" pitchFamily="50" charset="-128"/>
                <a:ea typeface="BIZ UDPゴシック" panose="020B0400000000000000" pitchFamily="50" charset="-128"/>
              </a:rPr>
              <a:t>DMIS</a:t>
            </a:r>
            <a:r>
              <a:rPr lang="ja-JP" altLang="en-US" sz="1600" b="1" dirty="0">
                <a:solidFill>
                  <a:schemeClr val="accent1">
                    <a:lumMod val="75000"/>
                  </a:schemeClr>
                </a:solidFill>
                <a:latin typeface="BIZ UDPゴシック" panose="020B0400000000000000" pitchFamily="50" charset="-128"/>
                <a:ea typeface="BIZ UDPゴシック" panose="020B0400000000000000" pitchFamily="50" charset="-128"/>
              </a:rPr>
              <a:t>（異文化理解段階）の分布　</a:t>
            </a:r>
            <a:endParaRPr lang="en-US" altLang="ja-JP" sz="1600" b="1" dirty="0">
              <a:solidFill>
                <a:schemeClr val="accent1">
                  <a:lumMod val="75000"/>
                </a:schemeClr>
              </a:solidFill>
              <a:latin typeface="BIZ UDPゴシック" panose="020B0400000000000000" pitchFamily="50" charset="-128"/>
              <a:ea typeface="BIZ UDPゴシック" panose="020B0400000000000000" pitchFamily="50" charset="-128"/>
            </a:endParaRPr>
          </a:p>
        </p:txBody>
      </p:sp>
      <p:sp>
        <p:nvSpPr>
          <p:cNvPr id="14" name="Google Shape;116;p20">
            <a:extLst>
              <a:ext uri="{FF2B5EF4-FFF2-40B4-BE49-F238E27FC236}">
                <a16:creationId xmlns:a16="http://schemas.microsoft.com/office/drawing/2014/main" id="{3691131F-C5E2-7F12-43D0-DB674F1D1717}"/>
              </a:ext>
            </a:extLst>
          </p:cNvPr>
          <p:cNvSpPr txBox="1">
            <a:spLocks/>
          </p:cNvSpPr>
          <p:nvPr/>
        </p:nvSpPr>
        <p:spPr>
          <a:xfrm>
            <a:off x="228236" y="3713534"/>
            <a:ext cx="4206260" cy="77947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lgn="ctr">
              <a:buFont typeface="Lato"/>
              <a:buNone/>
            </a:pPr>
            <a:r>
              <a:rPr lang="en-US" altLang="ja-JP" sz="1600" b="1" dirty="0" err="1">
                <a:solidFill>
                  <a:srgbClr val="0070C0"/>
                </a:solidFill>
                <a:latin typeface="BIZ UDPゴシック" panose="020B0400000000000000" pitchFamily="50" charset="-128"/>
                <a:ea typeface="BIZ UDPゴシック" panose="020B0400000000000000" pitchFamily="50" charset="-128"/>
              </a:rPr>
              <a:t>EstablishedEquivalent</a:t>
            </a:r>
            <a:r>
              <a:rPr lang="ja-JP" altLang="en-US" sz="1600" b="1" dirty="0">
                <a:solidFill>
                  <a:srgbClr val="0070C0"/>
                </a:solidFill>
                <a:latin typeface="BIZ UDPゴシック" panose="020B0400000000000000" pitchFamily="50" charset="-128"/>
                <a:ea typeface="BIZ UDPゴシック" panose="020B0400000000000000" pitchFamily="50" charset="-128"/>
              </a:rPr>
              <a:t>（４２％）</a:t>
            </a:r>
            <a:endParaRPr lang="en-US" altLang="ja-JP" sz="1600" b="1" dirty="0">
              <a:solidFill>
                <a:srgbClr val="0070C0"/>
              </a:solidFill>
              <a:latin typeface="BIZ UDPゴシック" panose="020B0400000000000000" pitchFamily="50" charset="-128"/>
              <a:ea typeface="BIZ UDPゴシック" panose="020B0400000000000000" pitchFamily="50" charset="-128"/>
            </a:endParaRPr>
          </a:p>
          <a:p>
            <a:pPr marL="0" indent="0" algn="ctr">
              <a:buFont typeface="Lato"/>
              <a:buNone/>
            </a:pPr>
            <a:r>
              <a:rPr lang="ja-JP" altLang="en-US" dirty="0">
                <a:solidFill>
                  <a:schemeClr val="bg1">
                    <a:lumMod val="50000"/>
                  </a:schemeClr>
                </a:solidFill>
                <a:latin typeface="BIZ UDPゴシック" panose="020B0400000000000000" pitchFamily="50" charset="-128"/>
                <a:ea typeface="BIZ UDPゴシック" panose="020B0400000000000000" pitchFamily="50" charset="-128"/>
              </a:rPr>
              <a:t>辞書的な翻訳が最も多い</a:t>
            </a:r>
            <a:endParaRPr lang="en-US" altLang="ja-JP" dirty="0">
              <a:solidFill>
                <a:schemeClr val="bg1">
                  <a:lumMod val="50000"/>
                </a:schemeClr>
              </a:solidFill>
              <a:latin typeface="BIZ UDPゴシック" panose="020B0400000000000000" pitchFamily="50" charset="-128"/>
              <a:ea typeface="BIZ UDPゴシック" panose="020B0400000000000000" pitchFamily="50" charset="-128"/>
            </a:endParaRPr>
          </a:p>
        </p:txBody>
      </p:sp>
      <p:sp>
        <p:nvSpPr>
          <p:cNvPr id="15" name="Google Shape;116;p20">
            <a:extLst>
              <a:ext uri="{FF2B5EF4-FFF2-40B4-BE49-F238E27FC236}">
                <a16:creationId xmlns:a16="http://schemas.microsoft.com/office/drawing/2014/main" id="{B7B1FD4E-1DE1-8DAA-7404-622E8AAF337A}"/>
              </a:ext>
            </a:extLst>
          </p:cNvPr>
          <p:cNvSpPr txBox="1">
            <a:spLocks/>
          </p:cNvSpPr>
          <p:nvPr/>
        </p:nvSpPr>
        <p:spPr>
          <a:xfrm>
            <a:off x="4583674" y="3723668"/>
            <a:ext cx="4206260" cy="77947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lgn="ctr">
              <a:buFont typeface="Lato"/>
              <a:buNone/>
            </a:pPr>
            <a:r>
              <a:rPr lang="en-US" altLang="ja-JP" sz="1600" b="1" dirty="0">
                <a:solidFill>
                  <a:srgbClr val="0070C0"/>
                </a:solidFill>
                <a:latin typeface="BIZ UDPゴシック" panose="020B0400000000000000" pitchFamily="50" charset="-128"/>
                <a:ea typeface="BIZ UDPゴシック" panose="020B0400000000000000" pitchFamily="50" charset="-128"/>
              </a:rPr>
              <a:t>Minimization</a:t>
            </a:r>
            <a:r>
              <a:rPr lang="ja-JP" altLang="en-US" sz="1600" b="1" dirty="0">
                <a:solidFill>
                  <a:srgbClr val="0070C0"/>
                </a:solidFill>
                <a:latin typeface="BIZ UDPゴシック" panose="020B0400000000000000" pitchFamily="50" charset="-128"/>
                <a:ea typeface="BIZ UDPゴシック" panose="020B0400000000000000" pitchFamily="50" charset="-128"/>
              </a:rPr>
              <a:t>（６９％）</a:t>
            </a:r>
            <a:endParaRPr lang="en-US" altLang="ja-JP" sz="1600" b="1" dirty="0">
              <a:solidFill>
                <a:srgbClr val="0070C0"/>
              </a:solidFill>
              <a:latin typeface="BIZ UDPゴシック" panose="020B0400000000000000" pitchFamily="50" charset="-128"/>
              <a:ea typeface="BIZ UDPゴシック" panose="020B0400000000000000" pitchFamily="50" charset="-128"/>
            </a:endParaRPr>
          </a:p>
          <a:p>
            <a:pPr marL="0" indent="0" algn="ctr">
              <a:buFont typeface="Lato"/>
              <a:buNone/>
            </a:pPr>
            <a:r>
              <a:rPr lang="ja-JP" altLang="en-US" dirty="0">
                <a:solidFill>
                  <a:schemeClr val="bg1">
                    <a:lumMod val="50000"/>
                  </a:schemeClr>
                </a:solidFill>
                <a:latin typeface="BIZ UDPゴシック" panose="020B0400000000000000" pitchFamily="50" charset="-128"/>
                <a:ea typeface="BIZ UDPゴシック" panose="020B0400000000000000" pitchFamily="50" charset="-128"/>
              </a:rPr>
              <a:t>自文化への同化が圧倒的多数</a:t>
            </a:r>
            <a:endParaRPr lang="en-US" altLang="ja-JP" dirty="0">
              <a:solidFill>
                <a:schemeClr val="bg1">
                  <a:lumMod val="50000"/>
                </a:schemeClr>
              </a:solidFill>
              <a:latin typeface="BIZ UDPゴシック" panose="020B0400000000000000" pitchFamily="50" charset="-128"/>
              <a:ea typeface="BIZ UDPゴシック" panose="020B0400000000000000" pitchFamily="50" charset="-128"/>
            </a:endParaRPr>
          </a:p>
        </p:txBody>
      </p:sp>
      <p:cxnSp>
        <p:nvCxnSpPr>
          <p:cNvPr id="17" name="直線コネクタ 16">
            <a:extLst>
              <a:ext uri="{FF2B5EF4-FFF2-40B4-BE49-F238E27FC236}">
                <a16:creationId xmlns:a16="http://schemas.microsoft.com/office/drawing/2014/main" id="{6A00B574-B04D-236B-570C-FDCABDE5F45B}"/>
              </a:ext>
            </a:extLst>
          </p:cNvPr>
          <p:cNvCxnSpPr>
            <a:cxnSpLocks/>
          </p:cNvCxnSpPr>
          <p:nvPr/>
        </p:nvCxnSpPr>
        <p:spPr>
          <a:xfrm>
            <a:off x="4401754" y="888868"/>
            <a:ext cx="20345" cy="3525003"/>
          </a:xfrm>
          <a:prstGeom prst="line">
            <a:avLst/>
          </a:prstGeom>
          <a:ln>
            <a:solidFill>
              <a:schemeClr val="bg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29724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258530DF-06F5-7F1B-9B7D-DED902B9489A}"/>
            </a:ext>
          </a:extLst>
        </p:cNvPr>
        <p:cNvGrpSpPr/>
        <p:nvPr/>
      </p:nvGrpSpPr>
      <p:grpSpPr>
        <a:xfrm>
          <a:off x="0" y="0"/>
          <a:ext cx="0" cy="0"/>
          <a:chOff x="0" y="0"/>
          <a:chExt cx="0" cy="0"/>
        </a:xfrm>
      </p:grpSpPr>
      <p:sp>
        <p:nvSpPr>
          <p:cNvPr id="115" name="Google Shape;115;p20">
            <a:extLst>
              <a:ext uri="{FF2B5EF4-FFF2-40B4-BE49-F238E27FC236}">
                <a16:creationId xmlns:a16="http://schemas.microsoft.com/office/drawing/2014/main" id="{DE317C98-EF8D-956D-0805-903BFC2327A4}"/>
              </a:ext>
            </a:extLst>
          </p:cNvPr>
          <p:cNvSpPr txBox="1">
            <a:spLocks noGrp="1"/>
          </p:cNvSpPr>
          <p:nvPr>
            <p:ph type="title"/>
          </p:nvPr>
        </p:nvSpPr>
        <p:spPr>
          <a:xfrm>
            <a:off x="0" y="385482"/>
            <a:ext cx="8453995" cy="51166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400" dirty="0">
                <a:latin typeface="BIZ UDPゴシック" panose="020B0400000000000000" pitchFamily="50" charset="-128"/>
                <a:ea typeface="BIZ UDPゴシック" panose="020B0400000000000000" pitchFamily="50" charset="-128"/>
              </a:rPr>
              <a:t>分析結果②　技法</a:t>
            </a:r>
            <a:r>
              <a:rPr lang="en-US" altLang="ja-JP" sz="2400" dirty="0">
                <a:latin typeface="BIZ UDPゴシック" panose="020B0400000000000000" pitchFamily="50" charset="-128"/>
                <a:ea typeface="BIZ UDPゴシック" panose="020B0400000000000000" pitchFamily="50" charset="-128"/>
              </a:rPr>
              <a:t>×DMIS</a:t>
            </a:r>
            <a:r>
              <a:rPr lang="ja-JP" altLang="en-US" sz="2400" dirty="0">
                <a:latin typeface="BIZ UDPゴシック" panose="020B0400000000000000" pitchFamily="50" charset="-128"/>
                <a:ea typeface="BIZ UDPゴシック" panose="020B0400000000000000" pitchFamily="50" charset="-128"/>
              </a:rPr>
              <a:t>の対応関係ー統計的分析結果</a:t>
            </a:r>
            <a:endParaRPr sz="2400" dirty="0">
              <a:latin typeface="BIZ UDPゴシック" panose="020B0400000000000000" pitchFamily="50" charset="-128"/>
              <a:ea typeface="BIZ UDPゴシック" panose="020B0400000000000000" pitchFamily="50" charset="-128"/>
            </a:endParaRPr>
          </a:p>
        </p:txBody>
      </p:sp>
      <p:pic>
        <p:nvPicPr>
          <p:cNvPr id="3" name="図 2" descr="テーブル&#10;&#10;AI 生成コンテンツは誤りを含む可能性があります。">
            <a:extLst>
              <a:ext uri="{FF2B5EF4-FFF2-40B4-BE49-F238E27FC236}">
                <a16:creationId xmlns:a16="http://schemas.microsoft.com/office/drawing/2014/main" id="{769905E1-FC58-1843-F845-6D23F8365279}"/>
              </a:ext>
            </a:extLst>
          </p:cNvPr>
          <p:cNvPicPr>
            <a:picLocks noChangeAspect="1"/>
          </p:cNvPicPr>
          <p:nvPr/>
        </p:nvPicPr>
        <p:blipFill>
          <a:blip r:embed="rId3"/>
          <a:srcRect l="44" t="4812" r="15561"/>
          <a:stretch>
            <a:fillRect/>
          </a:stretch>
        </p:blipFill>
        <p:spPr>
          <a:xfrm>
            <a:off x="1" y="1337094"/>
            <a:ext cx="3942272" cy="3420924"/>
          </a:xfrm>
          <a:prstGeom prst="rect">
            <a:avLst/>
          </a:prstGeom>
        </p:spPr>
      </p:pic>
      <p:sp>
        <p:nvSpPr>
          <p:cNvPr id="2" name="Google Shape;116;p20">
            <a:extLst>
              <a:ext uri="{FF2B5EF4-FFF2-40B4-BE49-F238E27FC236}">
                <a16:creationId xmlns:a16="http://schemas.microsoft.com/office/drawing/2014/main" id="{95E957E0-7F51-3CF7-B225-37844F68FB2B}"/>
              </a:ext>
            </a:extLst>
          </p:cNvPr>
          <p:cNvSpPr txBox="1">
            <a:spLocks/>
          </p:cNvSpPr>
          <p:nvPr/>
        </p:nvSpPr>
        <p:spPr>
          <a:xfrm>
            <a:off x="0" y="944011"/>
            <a:ext cx="4825028" cy="3930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buFont typeface="Lato"/>
              <a:buNone/>
            </a:pPr>
            <a:r>
              <a:rPr lang="ja-JP" altLang="en-US" sz="1600" b="1" dirty="0">
                <a:solidFill>
                  <a:schemeClr val="bg2"/>
                </a:solidFill>
                <a:latin typeface="BIZ UDPゴシック" panose="020B0400000000000000" pitchFamily="50" charset="-128"/>
                <a:ea typeface="BIZ UDPゴシック" panose="020B0400000000000000" pitchFamily="50" charset="-128"/>
              </a:rPr>
              <a:t>技法</a:t>
            </a:r>
            <a:r>
              <a:rPr lang="en-US" altLang="ja-JP" sz="1600" b="1" dirty="0">
                <a:solidFill>
                  <a:schemeClr val="bg2"/>
                </a:solidFill>
                <a:latin typeface="BIZ UDPゴシック" panose="020B0400000000000000" pitchFamily="50" charset="-128"/>
                <a:ea typeface="BIZ UDPゴシック" panose="020B0400000000000000" pitchFamily="50" charset="-128"/>
              </a:rPr>
              <a:t>×DMIS</a:t>
            </a:r>
            <a:r>
              <a:rPr lang="ja-JP" altLang="en-US" sz="1600" b="1" dirty="0">
                <a:solidFill>
                  <a:schemeClr val="bg2"/>
                </a:solidFill>
                <a:latin typeface="BIZ UDPゴシック" panose="020B0400000000000000" pitchFamily="50" charset="-128"/>
                <a:ea typeface="BIZ UDPゴシック" panose="020B0400000000000000" pitchFamily="50" charset="-128"/>
              </a:rPr>
              <a:t>ヒートマップ（赤が濃いほど相関高）</a:t>
            </a:r>
            <a:endParaRPr lang="en-US" altLang="ja-JP" sz="1600" b="1" dirty="0">
              <a:solidFill>
                <a:srgbClr val="000000"/>
              </a:solidFill>
              <a:latin typeface="BIZ UDPゴシック" panose="020B0400000000000000" pitchFamily="50" charset="-128"/>
              <a:ea typeface="BIZ UDPゴシック" panose="020B0400000000000000" pitchFamily="50" charset="-128"/>
            </a:endParaRPr>
          </a:p>
        </p:txBody>
      </p:sp>
      <p:sp>
        <p:nvSpPr>
          <p:cNvPr id="4" name="Google Shape;116;p20">
            <a:extLst>
              <a:ext uri="{FF2B5EF4-FFF2-40B4-BE49-F238E27FC236}">
                <a16:creationId xmlns:a16="http://schemas.microsoft.com/office/drawing/2014/main" id="{33D21951-EB78-CA32-9AE6-CB9EFA73B6A0}"/>
              </a:ext>
            </a:extLst>
          </p:cNvPr>
          <p:cNvSpPr txBox="1">
            <a:spLocks/>
          </p:cNvSpPr>
          <p:nvPr/>
        </p:nvSpPr>
        <p:spPr>
          <a:xfrm>
            <a:off x="4006371" y="1337094"/>
            <a:ext cx="5137629" cy="23035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buFont typeface="Lato"/>
              <a:buNone/>
            </a:pPr>
            <a:r>
              <a:rPr lang="ja-JP" altLang="en-US" sz="1600" b="1" dirty="0">
                <a:solidFill>
                  <a:schemeClr val="tx1"/>
                </a:solidFill>
                <a:latin typeface="BIZ UDPゴシック" panose="020B0400000000000000" pitchFamily="50" charset="-128"/>
                <a:ea typeface="BIZ UDPゴシック" panose="020B0400000000000000" pitchFamily="50" charset="-128"/>
              </a:rPr>
              <a:t>主な対応関係</a:t>
            </a:r>
            <a:endParaRPr lang="en-US" altLang="ja-JP" sz="1600" b="1" dirty="0">
              <a:solidFill>
                <a:schemeClr val="tx1"/>
              </a:solidFill>
              <a:latin typeface="BIZ UDPゴシック" panose="020B0400000000000000" pitchFamily="50" charset="-128"/>
              <a:ea typeface="BIZ UDPゴシック" panose="020B0400000000000000" pitchFamily="50" charset="-128"/>
            </a:endParaRPr>
          </a:p>
          <a:p>
            <a:pPr marL="0" indent="0">
              <a:lnSpc>
                <a:spcPct val="200000"/>
              </a:lnSpc>
              <a:buFont typeface="Lato"/>
              <a:buNone/>
            </a:pPr>
            <a:r>
              <a:rPr lang="ja-JP" altLang="en-US" sz="1600" dirty="0">
                <a:solidFill>
                  <a:srgbClr val="000000"/>
                </a:solidFill>
                <a:latin typeface="BIZ UDPゴシック" panose="020B0400000000000000" pitchFamily="50" charset="-128"/>
                <a:ea typeface="BIZ UDPゴシック" panose="020B0400000000000000" pitchFamily="50" charset="-128"/>
              </a:rPr>
              <a:t>〇 </a:t>
            </a:r>
            <a:r>
              <a:rPr lang="en-US" altLang="ja-JP" sz="1600" dirty="0">
                <a:solidFill>
                  <a:srgbClr val="000000"/>
                </a:solidFill>
                <a:latin typeface="BIZ UDPゴシック" panose="020B0400000000000000" pitchFamily="50" charset="-128"/>
                <a:ea typeface="BIZ UDPゴシック" panose="020B0400000000000000" pitchFamily="50" charset="-128"/>
              </a:rPr>
              <a:t>Reduction</a:t>
            </a:r>
            <a:r>
              <a:rPr lang="ja-JP" altLang="en-US" sz="1600" dirty="0">
                <a:solidFill>
                  <a:srgbClr val="000000"/>
                </a:solidFill>
                <a:latin typeface="BIZ UDPゴシック" panose="020B0400000000000000" pitchFamily="50" charset="-128"/>
                <a:ea typeface="BIZ UDPゴシック" panose="020B0400000000000000" pitchFamily="50" charset="-128"/>
              </a:rPr>
              <a:t>（削除） と </a:t>
            </a:r>
            <a:r>
              <a:rPr lang="en-US" altLang="ja-JP" sz="1600" b="1" dirty="0">
                <a:solidFill>
                  <a:srgbClr val="000000"/>
                </a:solidFill>
                <a:latin typeface="BIZ UDPゴシック" panose="020B0400000000000000" pitchFamily="50" charset="-128"/>
                <a:ea typeface="BIZ UDPゴシック" panose="020B0400000000000000" pitchFamily="50" charset="-128"/>
              </a:rPr>
              <a:t>Denial</a:t>
            </a:r>
          </a:p>
          <a:p>
            <a:pPr marL="0" indent="0">
              <a:lnSpc>
                <a:spcPct val="200000"/>
              </a:lnSpc>
              <a:buNone/>
            </a:pPr>
            <a:r>
              <a:rPr lang="ja-JP" altLang="en-US" sz="1600" dirty="0">
                <a:solidFill>
                  <a:srgbClr val="000000"/>
                </a:solidFill>
                <a:latin typeface="BIZ UDPゴシック" panose="020B0400000000000000" pitchFamily="50" charset="-128"/>
                <a:ea typeface="BIZ UDPゴシック" panose="020B0400000000000000" pitchFamily="50" charset="-128"/>
              </a:rPr>
              <a:t>〇 </a:t>
            </a:r>
            <a:r>
              <a:rPr lang="en-US" altLang="ja-JP" sz="1600" dirty="0">
                <a:solidFill>
                  <a:srgbClr val="000000"/>
                </a:solidFill>
                <a:latin typeface="BIZ UDPゴシック" panose="020B0400000000000000" pitchFamily="50" charset="-128"/>
                <a:ea typeface="BIZ UDPゴシック" panose="020B0400000000000000" pitchFamily="50" charset="-128"/>
              </a:rPr>
              <a:t>Est. Equivalent</a:t>
            </a:r>
            <a:r>
              <a:rPr lang="ja-JP" altLang="en-US" sz="1600" dirty="0">
                <a:solidFill>
                  <a:srgbClr val="000000"/>
                </a:solidFill>
                <a:latin typeface="BIZ UDPゴシック" panose="020B0400000000000000" pitchFamily="50" charset="-128"/>
                <a:ea typeface="BIZ UDPゴシック" panose="020B0400000000000000" pitchFamily="50" charset="-128"/>
              </a:rPr>
              <a:t>（辞書的等価） と </a:t>
            </a:r>
            <a:r>
              <a:rPr lang="en-US" altLang="ja-JP" sz="1600" b="1" dirty="0">
                <a:solidFill>
                  <a:srgbClr val="000000"/>
                </a:solidFill>
                <a:latin typeface="BIZ UDPゴシック" panose="020B0400000000000000" pitchFamily="50" charset="-128"/>
                <a:ea typeface="BIZ UDPゴシック" panose="020B0400000000000000" pitchFamily="50" charset="-128"/>
              </a:rPr>
              <a:t>Minimization</a:t>
            </a:r>
          </a:p>
          <a:p>
            <a:pPr marL="0" indent="0">
              <a:lnSpc>
                <a:spcPct val="200000"/>
              </a:lnSpc>
              <a:buFont typeface="Lato"/>
              <a:buNone/>
            </a:pPr>
            <a:r>
              <a:rPr lang="ja-JP" altLang="en-US" sz="1600" dirty="0">
                <a:solidFill>
                  <a:srgbClr val="000000"/>
                </a:solidFill>
                <a:latin typeface="BIZ UDPゴシック" panose="020B0400000000000000" pitchFamily="50" charset="-128"/>
                <a:ea typeface="BIZ UDPゴシック" panose="020B0400000000000000" pitchFamily="50" charset="-128"/>
              </a:rPr>
              <a:t>〇 </a:t>
            </a:r>
            <a:r>
              <a:rPr lang="en-US" altLang="ja-JP" sz="1600" dirty="0">
                <a:solidFill>
                  <a:srgbClr val="000000"/>
                </a:solidFill>
                <a:latin typeface="BIZ UDPゴシック" panose="020B0400000000000000" pitchFamily="50" charset="-128"/>
                <a:ea typeface="BIZ UDPゴシック" panose="020B0400000000000000" pitchFamily="50" charset="-128"/>
              </a:rPr>
              <a:t>Borrowing</a:t>
            </a:r>
            <a:r>
              <a:rPr lang="ja-JP" altLang="en-US" sz="1600" dirty="0">
                <a:solidFill>
                  <a:srgbClr val="000000"/>
                </a:solidFill>
                <a:latin typeface="BIZ UDPゴシック" panose="020B0400000000000000" pitchFamily="50" charset="-128"/>
                <a:ea typeface="BIZ UDPゴシック" panose="020B0400000000000000" pitchFamily="50" charset="-128"/>
              </a:rPr>
              <a:t>（音訳） と </a:t>
            </a:r>
            <a:r>
              <a:rPr lang="en-US" altLang="ja-JP" sz="1600" b="1" dirty="0">
                <a:solidFill>
                  <a:srgbClr val="000000"/>
                </a:solidFill>
                <a:latin typeface="BIZ UDPゴシック" panose="020B0400000000000000" pitchFamily="50" charset="-128"/>
                <a:ea typeface="BIZ UDPゴシック" panose="020B0400000000000000" pitchFamily="50" charset="-128"/>
              </a:rPr>
              <a:t>Acceptance</a:t>
            </a:r>
          </a:p>
          <a:p>
            <a:pPr marL="0" indent="0">
              <a:lnSpc>
                <a:spcPct val="200000"/>
              </a:lnSpc>
              <a:buFont typeface="Lato"/>
              <a:buNone/>
            </a:pPr>
            <a:r>
              <a:rPr lang="ja-JP" altLang="en-US" sz="1600" b="1" dirty="0">
                <a:solidFill>
                  <a:srgbClr val="000000"/>
                </a:solidFill>
                <a:latin typeface="BIZ UDPゴシック" panose="020B0400000000000000" pitchFamily="50" charset="-128"/>
                <a:ea typeface="BIZ UDPゴシック" panose="020B0400000000000000" pitchFamily="50" charset="-128"/>
              </a:rPr>
              <a:t>〇 </a:t>
            </a:r>
            <a:r>
              <a:rPr lang="en-US" altLang="ja-JP" sz="1600" dirty="0">
                <a:solidFill>
                  <a:srgbClr val="000000"/>
                </a:solidFill>
                <a:latin typeface="BIZ UDPゴシック" panose="020B0400000000000000" pitchFamily="50" charset="-128"/>
                <a:ea typeface="BIZ UDPゴシック" panose="020B0400000000000000" pitchFamily="50" charset="-128"/>
              </a:rPr>
              <a:t>Amplification</a:t>
            </a:r>
            <a:r>
              <a:rPr lang="ja-JP" altLang="en-US" sz="1600" dirty="0">
                <a:solidFill>
                  <a:srgbClr val="000000"/>
                </a:solidFill>
                <a:latin typeface="BIZ UDPゴシック" panose="020B0400000000000000" pitchFamily="50" charset="-128"/>
                <a:ea typeface="BIZ UDPゴシック" panose="020B0400000000000000" pitchFamily="50" charset="-128"/>
              </a:rPr>
              <a:t>（音訳＋注釈） と </a:t>
            </a:r>
            <a:r>
              <a:rPr lang="en-US" altLang="ja-JP" sz="1600" b="1" dirty="0">
                <a:solidFill>
                  <a:srgbClr val="000000"/>
                </a:solidFill>
                <a:latin typeface="BIZ UDPゴシック" panose="020B0400000000000000" pitchFamily="50" charset="-128"/>
                <a:ea typeface="BIZ UDPゴシック" panose="020B0400000000000000" pitchFamily="50" charset="-128"/>
              </a:rPr>
              <a:t>Adaptation</a:t>
            </a:r>
          </a:p>
        </p:txBody>
      </p:sp>
      <p:sp>
        <p:nvSpPr>
          <p:cNvPr id="5" name="Google Shape;116;p20">
            <a:extLst>
              <a:ext uri="{FF2B5EF4-FFF2-40B4-BE49-F238E27FC236}">
                <a16:creationId xmlns:a16="http://schemas.microsoft.com/office/drawing/2014/main" id="{2B57DA37-967B-2DD1-98DD-6FEDB06602AD}"/>
              </a:ext>
            </a:extLst>
          </p:cNvPr>
          <p:cNvSpPr txBox="1">
            <a:spLocks/>
          </p:cNvSpPr>
          <p:nvPr/>
        </p:nvSpPr>
        <p:spPr>
          <a:xfrm>
            <a:off x="4109889" y="3772221"/>
            <a:ext cx="3942272" cy="8342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Abadi" panose="020B0604020104020204" pitchFamily="34" charset="0"/>
                <a:ea typeface="Lato"/>
                <a:cs typeface="Lato"/>
                <a:sym typeface="Lato"/>
              </a:defRPr>
            </a:lvl1pPr>
            <a:lvl2pPr marL="914400" marR="0" lvl="1"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2pPr>
            <a:lvl3pPr marL="1371600" marR="0" lvl="2"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3pPr>
            <a:lvl4pPr marL="1828800" marR="0" lvl="3"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4pPr>
            <a:lvl5pPr marL="2286000" marR="0" lvl="4"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5pPr>
            <a:lvl6pPr marL="2743200" marR="0" lvl="5"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6pPr>
            <a:lvl7pPr marL="3200400" marR="0" lvl="6"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7pPr>
            <a:lvl8pPr marL="3657600" marR="0" lvl="7" indent="-304800" algn="l" rtl="0">
              <a:lnSpc>
                <a:spcPct val="115000"/>
              </a:lnSpc>
              <a:spcBef>
                <a:spcPts val="1600"/>
              </a:spcBef>
              <a:spcAft>
                <a:spcPts val="0"/>
              </a:spcAft>
              <a:buClr>
                <a:schemeClr val="dk2"/>
              </a:buClr>
              <a:buSzPts val="1200"/>
              <a:buFont typeface="Lato"/>
              <a:buChar char="○"/>
              <a:defRPr sz="1200" b="0" i="0" u="none" strike="noStrike" cap="none">
                <a:solidFill>
                  <a:schemeClr val="dk2"/>
                </a:solidFill>
                <a:latin typeface="Lato"/>
                <a:ea typeface="Lato"/>
                <a:cs typeface="Lato"/>
                <a:sym typeface="Lato"/>
              </a:defRPr>
            </a:lvl8pPr>
            <a:lvl9pPr marL="4114800" marR="0" lvl="8" indent="-304800" algn="l" rtl="0">
              <a:lnSpc>
                <a:spcPct val="115000"/>
              </a:lnSpc>
              <a:spcBef>
                <a:spcPts val="1600"/>
              </a:spcBef>
              <a:spcAft>
                <a:spcPts val="1600"/>
              </a:spcAft>
              <a:buClr>
                <a:schemeClr val="dk2"/>
              </a:buClr>
              <a:buSzPts val="1200"/>
              <a:buFont typeface="Lato"/>
              <a:buChar char="■"/>
              <a:defRPr sz="1200" b="0" i="0" u="none" strike="noStrike" cap="none">
                <a:solidFill>
                  <a:schemeClr val="dk2"/>
                </a:solidFill>
                <a:latin typeface="Lato"/>
                <a:ea typeface="Lato"/>
                <a:cs typeface="Lato"/>
                <a:sym typeface="Lato"/>
              </a:defRPr>
            </a:lvl9pPr>
          </a:lstStyle>
          <a:p>
            <a:pPr marL="0" indent="0">
              <a:buFont typeface="Lato"/>
              <a:buNone/>
            </a:pPr>
            <a:r>
              <a:rPr lang="ja-JP" altLang="en-US" sz="1200" dirty="0">
                <a:solidFill>
                  <a:schemeClr val="bg2"/>
                </a:solidFill>
                <a:latin typeface="BIZ UDPゴシック" panose="020B0400000000000000" pitchFamily="50" charset="-128"/>
                <a:ea typeface="BIZ UDPゴシック" panose="020B0400000000000000" pitchFamily="50" charset="-128"/>
              </a:rPr>
              <a:t>上記４つ程の相関の強さは無いが、以下も相関を示した</a:t>
            </a:r>
            <a:endParaRPr lang="en-US" altLang="ja-JP" sz="1200" dirty="0">
              <a:solidFill>
                <a:schemeClr val="bg2"/>
              </a:solidFill>
              <a:latin typeface="BIZ UDPゴシック" panose="020B0400000000000000" pitchFamily="50" charset="-128"/>
              <a:ea typeface="BIZ UDPゴシック" panose="020B0400000000000000" pitchFamily="50" charset="-128"/>
            </a:endParaRPr>
          </a:p>
          <a:p>
            <a:pPr marL="0" indent="0">
              <a:buFont typeface="Lato"/>
              <a:buNone/>
            </a:pPr>
            <a:r>
              <a:rPr lang="ja-JP" altLang="en-US" sz="1200" dirty="0">
                <a:solidFill>
                  <a:schemeClr val="bg2"/>
                </a:solidFill>
                <a:latin typeface="BIZ UDPゴシック" panose="020B0400000000000000" pitchFamily="50" charset="-128"/>
                <a:ea typeface="BIZ UDPゴシック" panose="020B0400000000000000" pitchFamily="50" charset="-128"/>
              </a:rPr>
              <a:t>　◦ </a:t>
            </a:r>
            <a:r>
              <a:rPr lang="en-US" altLang="ja-JP" sz="1200" dirty="0">
                <a:solidFill>
                  <a:schemeClr val="bg2"/>
                </a:solidFill>
                <a:latin typeface="BIZ UDPゴシック" panose="020B0400000000000000" pitchFamily="50" charset="-128"/>
                <a:ea typeface="BIZ UDPゴシック" panose="020B0400000000000000" pitchFamily="50" charset="-128"/>
              </a:rPr>
              <a:t>Generalization</a:t>
            </a:r>
            <a:r>
              <a:rPr lang="ja-JP" altLang="en-US" sz="1200" dirty="0">
                <a:solidFill>
                  <a:schemeClr val="bg2"/>
                </a:solidFill>
                <a:latin typeface="BIZ UDPゴシック" panose="020B0400000000000000" pitchFamily="50" charset="-128"/>
                <a:ea typeface="BIZ UDPゴシック" panose="020B0400000000000000" pitchFamily="50" charset="-128"/>
              </a:rPr>
              <a:t>（一般化） と </a:t>
            </a:r>
            <a:r>
              <a:rPr lang="en-US" altLang="ja-JP" sz="1200" dirty="0">
                <a:solidFill>
                  <a:schemeClr val="bg2"/>
                </a:solidFill>
                <a:latin typeface="BIZ UDPゴシック" panose="020B0400000000000000" pitchFamily="50" charset="-128"/>
                <a:ea typeface="BIZ UDPゴシック" panose="020B0400000000000000" pitchFamily="50" charset="-128"/>
              </a:rPr>
              <a:t>Minimization</a:t>
            </a:r>
          </a:p>
          <a:p>
            <a:pPr marL="0" indent="0">
              <a:buFont typeface="Lato"/>
              <a:buNone/>
            </a:pPr>
            <a:r>
              <a:rPr lang="ja-JP" altLang="en-US" sz="1200" dirty="0">
                <a:solidFill>
                  <a:schemeClr val="bg2"/>
                </a:solidFill>
                <a:latin typeface="BIZ UDPゴシック" panose="020B0400000000000000" pitchFamily="50" charset="-128"/>
                <a:ea typeface="BIZ UDPゴシック" panose="020B0400000000000000" pitchFamily="50" charset="-128"/>
              </a:rPr>
              <a:t>　◦ </a:t>
            </a:r>
            <a:r>
              <a:rPr lang="en-US" altLang="ja-JP" sz="1200" dirty="0">
                <a:solidFill>
                  <a:schemeClr val="bg2"/>
                </a:solidFill>
                <a:latin typeface="BIZ UDPゴシック" panose="020B0400000000000000" pitchFamily="50" charset="-128"/>
                <a:ea typeface="BIZ UDPゴシック" panose="020B0400000000000000" pitchFamily="50" charset="-128"/>
              </a:rPr>
              <a:t>Description</a:t>
            </a:r>
            <a:r>
              <a:rPr lang="ja-JP" altLang="en-US" sz="1200" dirty="0">
                <a:solidFill>
                  <a:schemeClr val="bg2"/>
                </a:solidFill>
                <a:latin typeface="BIZ UDPゴシック" panose="020B0400000000000000" pitchFamily="50" charset="-128"/>
                <a:ea typeface="BIZ UDPゴシック" panose="020B0400000000000000" pitchFamily="50" charset="-128"/>
              </a:rPr>
              <a:t> （記述的説明） と </a:t>
            </a:r>
            <a:r>
              <a:rPr lang="en-US" altLang="ja-JP" sz="1200" dirty="0">
                <a:solidFill>
                  <a:schemeClr val="bg2"/>
                </a:solidFill>
                <a:latin typeface="BIZ UDPゴシック" panose="020B0400000000000000" pitchFamily="50" charset="-128"/>
                <a:ea typeface="BIZ UDPゴシック" panose="020B0400000000000000" pitchFamily="50" charset="-128"/>
              </a:rPr>
              <a:t>Minimization</a:t>
            </a:r>
          </a:p>
          <a:p>
            <a:pPr marL="0" indent="0">
              <a:buFont typeface="Lato"/>
              <a:buNone/>
            </a:pPr>
            <a:endParaRPr lang="en-US" altLang="ja-JP" sz="1200" b="1" dirty="0">
              <a:solidFill>
                <a:schemeClr val="bg2"/>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171749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3BE52B81-0DD8-2AEB-C75A-98BE80A64F26}"/>
            </a:ext>
          </a:extLst>
        </p:cNvPr>
        <p:cNvGrpSpPr/>
        <p:nvPr/>
      </p:nvGrpSpPr>
      <p:grpSpPr>
        <a:xfrm>
          <a:off x="0" y="0"/>
          <a:ext cx="0" cy="0"/>
          <a:chOff x="0" y="0"/>
          <a:chExt cx="0" cy="0"/>
        </a:xfrm>
      </p:grpSpPr>
      <p:sp>
        <p:nvSpPr>
          <p:cNvPr id="78" name="Google Shape;78;p14">
            <a:extLst>
              <a:ext uri="{FF2B5EF4-FFF2-40B4-BE49-F238E27FC236}">
                <a16:creationId xmlns:a16="http://schemas.microsoft.com/office/drawing/2014/main" id="{77CDE4F7-F386-E4BD-5CD1-FF2A6F2A124F}"/>
              </a:ext>
            </a:extLst>
          </p:cNvPr>
          <p:cNvSpPr txBox="1">
            <a:spLocks noGrp="1"/>
          </p:cNvSpPr>
          <p:nvPr>
            <p:ph type="title"/>
          </p:nvPr>
        </p:nvSpPr>
        <p:spPr>
          <a:xfrm>
            <a:off x="265500" y="1912650"/>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dirty="0">
                <a:latin typeface="BIZ UDPゴシック" panose="020B0400000000000000" pitchFamily="50" charset="-128"/>
                <a:ea typeface="BIZ UDPゴシック" panose="020B0400000000000000" pitchFamily="50" charset="-128"/>
              </a:rPr>
              <a:t>流れ</a:t>
            </a:r>
            <a:endParaRPr dirty="0">
              <a:latin typeface="BIZ UDPゴシック" panose="020B0400000000000000" pitchFamily="50" charset="-128"/>
              <a:ea typeface="BIZ UDPゴシック" panose="020B0400000000000000" pitchFamily="50" charset="-128"/>
            </a:endParaRPr>
          </a:p>
        </p:txBody>
      </p:sp>
      <p:sp>
        <p:nvSpPr>
          <p:cNvPr id="79" name="Google Shape;79;p14">
            <a:extLst>
              <a:ext uri="{FF2B5EF4-FFF2-40B4-BE49-F238E27FC236}">
                <a16:creationId xmlns:a16="http://schemas.microsoft.com/office/drawing/2014/main" id="{CC48D26B-417F-D5C0-74A9-9537EA3D64C5}"/>
              </a:ext>
            </a:extLst>
          </p:cNvPr>
          <p:cNvSpPr txBox="1">
            <a:spLocks noGrp="1"/>
          </p:cNvSpPr>
          <p:nvPr>
            <p:ph type="body" idx="2"/>
          </p:nvPr>
        </p:nvSpPr>
        <p:spPr>
          <a:xfrm>
            <a:off x="4476750" y="724200"/>
            <a:ext cx="4755000" cy="3695100"/>
          </a:xfrm>
          <a:prstGeom prst="rect">
            <a:avLst/>
          </a:prstGeom>
        </p:spPr>
        <p:txBody>
          <a:bodyPr spcFirstLastPara="1" wrap="square" lIns="91425" tIns="91425" rIns="91425" bIns="91425" anchor="ctr" anchorCtr="0">
            <a:noAutofit/>
          </a:bodyPr>
          <a:lstStyle/>
          <a:p>
            <a:pPr marL="133350" lvl="0" indent="0">
              <a:buSzPts val="1500"/>
              <a:buNone/>
            </a:pPr>
            <a:r>
              <a:rPr lang="ja-JP" altLang="en-US" sz="1600" b="1" strike="sngStrike" dirty="0">
                <a:latin typeface="BIZ UDPゴシック" panose="020B0400000000000000" pitchFamily="50" charset="-128"/>
                <a:ea typeface="BIZ UDPゴシック" panose="020B0400000000000000" pitchFamily="50" charset="-128"/>
              </a:rPr>
              <a:t>１．  翻訳の例： 訳し方で読者の理解は変わる</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strike="sngStrike" dirty="0">
                <a:latin typeface="BIZ UDPゴシック" panose="020B0400000000000000" pitchFamily="50" charset="-128"/>
                <a:ea typeface="BIZ UDPゴシック" panose="020B0400000000000000" pitchFamily="50" charset="-128"/>
              </a:rPr>
              <a:t>２</a:t>
            </a:r>
            <a:r>
              <a:rPr lang="en-US" altLang="ja-JP" sz="1600" b="1" strike="sngStrike" dirty="0">
                <a:latin typeface="BIZ UDPゴシック" panose="020B0400000000000000" pitchFamily="50" charset="-128"/>
                <a:ea typeface="BIZ UDPゴシック" panose="020B0400000000000000" pitchFamily="50" charset="-128"/>
              </a:rPr>
              <a:t>.</a:t>
            </a:r>
            <a:r>
              <a:rPr lang="ja-JP" altLang="en-US" sz="1600" b="1" strike="sngStrike" dirty="0">
                <a:latin typeface="BIZ UDPゴシック" panose="020B0400000000000000" pitchFamily="50" charset="-128"/>
                <a:ea typeface="BIZ UDPゴシック" panose="020B0400000000000000" pitchFamily="50" charset="-128"/>
              </a:rPr>
              <a:t>  研究目的</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en-US" sz="1600" b="1" strike="sngStrike" dirty="0">
                <a:latin typeface="BIZ UDPゴシック" panose="020B0400000000000000" pitchFamily="50" charset="-128"/>
                <a:ea typeface="BIZ UDPゴシック" panose="020B0400000000000000" pitchFamily="50" charset="-128"/>
              </a:rPr>
              <a:t>3.</a:t>
            </a:r>
            <a:r>
              <a:rPr lang="ja-JP" altLang="en-US" sz="1600" b="1" strike="sngStrike" dirty="0">
                <a:latin typeface="BIZ UDPゴシック" panose="020B0400000000000000" pitchFamily="50" charset="-128"/>
                <a:ea typeface="BIZ UDPゴシック" panose="020B0400000000000000" pitchFamily="50" charset="-128"/>
              </a:rPr>
              <a:t>  分析方法</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en-US" sz="1600" b="1" strike="sngStrike" dirty="0">
                <a:latin typeface="BIZ UDPゴシック" panose="020B0400000000000000" pitchFamily="50" charset="-128"/>
                <a:ea typeface="BIZ UDPゴシック" panose="020B0400000000000000" pitchFamily="50" charset="-128"/>
              </a:rPr>
              <a:t>4.</a:t>
            </a:r>
            <a:r>
              <a:rPr lang="ja-JP" altLang="en-US" sz="1600" b="1" strike="sngStrike" dirty="0">
                <a:latin typeface="BIZ UDPゴシック" panose="020B0400000000000000" pitchFamily="50" charset="-128"/>
                <a:ea typeface="BIZ UDPゴシック" panose="020B0400000000000000" pitchFamily="50" charset="-128"/>
              </a:rPr>
              <a:t> </a:t>
            </a:r>
            <a:r>
              <a:rPr lang="en-US" sz="1600" b="1" strike="sngStrike" dirty="0">
                <a:latin typeface="BIZ UDPゴシック" panose="020B0400000000000000" pitchFamily="50" charset="-128"/>
                <a:ea typeface="BIZ UDPゴシック" panose="020B0400000000000000" pitchFamily="50" charset="-128"/>
              </a:rPr>
              <a:t> </a:t>
            </a:r>
            <a:r>
              <a:rPr lang="ja-JP" altLang="en-US" sz="1600" b="1" strike="sngStrike" dirty="0">
                <a:latin typeface="BIZ UDPゴシック" panose="020B0400000000000000" pitchFamily="50" charset="-128"/>
                <a:ea typeface="BIZ UDPゴシック" panose="020B0400000000000000" pitchFamily="50" charset="-128"/>
              </a:rPr>
              <a:t>分析結果（全体傾向と相関分析結果）</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dirty="0">
                <a:latin typeface="BIZ UDPゴシック" panose="020B0400000000000000" pitchFamily="50" charset="-128"/>
                <a:ea typeface="BIZ UDPゴシック" panose="020B0400000000000000" pitchFamily="50" charset="-128"/>
              </a:rPr>
              <a:t>５</a:t>
            </a:r>
            <a:r>
              <a:rPr lang="en-US" altLang="ja-JP" sz="1600" b="1" dirty="0">
                <a:latin typeface="BIZ UDPゴシック" panose="020B0400000000000000" pitchFamily="50" charset="-128"/>
                <a:ea typeface="BIZ UDPゴシック" panose="020B0400000000000000" pitchFamily="50" charset="-128"/>
              </a:rPr>
              <a:t>.</a:t>
            </a:r>
            <a:r>
              <a:rPr lang="ja-JP" altLang="en-US" sz="1600" b="1" dirty="0">
                <a:latin typeface="BIZ UDPゴシック" panose="020B0400000000000000" pitchFamily="50" charset="-128"/>
                <a:ea typeface="BIZ UDPゴシック" panose="020B0400000000000000" pitchFamily="50" charset="-128"/>
              </a:rPr>
              <a:t>  考察</a:t>
            </a:r>
            <a:endParaRPr lang="en-US" altLang="ja-JP" sz="1600" b="1"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dirty="0">
                <a:latin typeface="BIZ UDPゴシック" panose="020B0400000000000000" pitchFamily="50" charset="-128"/>
                <a:ea typeface="BIZ UDPゴシック" panose="020B0400000000000000" pitchFamily="50" charset="-128"/>
              </a:rPr>
              <a:t>６． 結論 ・ 今後の課題</a:t>
            </a:r>
            <a:endParaRPr lang="en-US" altLang="ja-JP" sz="1600" b="1"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1958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438D2597-588F-025F-8746-0B21BF701261}"/>
            </a:ext>
          </a:extLst>
        </p:cNvPr>
        <p:cNvGrpSpPr/>
        <p:nvPr/>
      </p:nvGrpSpPr>
      <p:grpSpPr>
        <a:xfrm>
          <a:off x="0" y="0"/>
          <a:ext cx="0" cy="0"/>
          <a:chOff x="0" y="0"/>
          <a:chExt cx="0" cy="0"/>
        </a:xfrm>
      </p:grpSpPr>
      <p:sp>
        <p:nvSpPr>
          <p:cNvPr id="115" name="Google Shape;115;p20">
            <a:extLst>
              <a:ext uri="{FF2B5EF4-FFF2-40B4-BE49-F238E27FC236}">
                <a16:creationId xmlns:a16="http://schemas.microsoft.com/office/drawing/2014/main" id="{A8CE4898-08BA-8989-B5A6-77E94BA5D229}"/>
              </a:ext>
            </a:extLst>
          </p:cNvPr>
          <p:cNvSpPr txBox="1">
            <a:spLocks noGrp="1"/>
          </p:cNvSpPr>
          <p:nvPr>
            <p:ph type="title"/>
          </p:nvPr>
        </p:nvSpPr>
        <p:spPr>
          <a:xfrm>
            <a:off x="267855" y="575950"/>
            <a:ext cx="8453995"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400" dirty="0">
                <a:latin typeface="BIZ UDPゴシック" panose="020B0400000000000000" pitchFamily="50" charset="-128"/>
                <a:ea typeface="BIZ UDPゴシック" panose="020B0400000000000000" pitchFamily="50" charset="-128"/>
              </a:rPr>
              <a:t>考察①：翻訳フレームワーク</a:t>
            </a:r>
            <a:endParaRPr sz="2400" dirty="0">
              <a:latin typeface="BIZ UDPゴシック" panose="020B0400000000000000" pitchFamily="50" charset="-128"/>
              <a:ea typeface="BIZ UDPゴシック" panose="020B0400000000000000" pitchFamily="50" charset="-128"/>
            </a:endParaRPr>
          </a:p>
        </p:txBody>
      </p:sp>
      <p:sp>
        <p:nvSpPr>
          <p:cNvPr id="7" name="テキスト プレースホルダー 6">
            <a:extLst>
              <a:ext uri="{FF2B5EF4-FFF2-40B4-BE49-F238E27FC236}">
                <a16:creationId xmlns:a16="http://schemas.microsoft.com/office/drawing/2014/main" id="{8EB2BA5F-0405-AECE-70D4-02A67A547E2A}"/>
              </a:ext>
            </a:extLst>
          </p:cNvPr>
          <p:cNvSpPr>
            <a:spLocks noGrp="1"/>
          </p:cNvSpPr>
          <p:nvPr>
            <p:ph type="body" idx="1"/>
          </p:nvPr>
        </p:nvSpPr>
        <p:spPr>
          <a:xfrm>
            <a:off x="319419" y="1224139"/>
            <a:ext cx="7845887" cy="385762"/>
          </a:xfrm>
        </p:spPr>
        <p:txBody>
          <a:bodyPr/>
          <a:lstStyle/>
          <a:p>
            <a:pPr marL="114300" indent="0">
              <a:buNone/>
            </a:pPr>
            <a:r>
              <a:rPr lang="ja-JP" altLang="en-US" b="1" dirty="0">
                <a:solidFill>
                  <a:schemeClr val="tx1"/>
                </a:solidFill>
                <a:latin typeface="BIZ UDPゴシック" panose="020B0400000000000000" pitchFamily="50" charset="-128"/>
                <a:ea typeface="BIZ UDPゴシック" panose="020B0400000000000000" pitchFamily="50" charset="-128"/>
              </a:rPr>
              <a:t>読者に体験させたい異文化理解（</a:t>
            </a:r>
            <a:r>
              <a:rPr lang="en-US" altLang="ja-JP" b="1" dirty="0">
                <a:solidFill>
                  <a:schemeClr val="tx1"/>
                </a:solidFill>
                <a:latin typeface="BIZ UDPゴシック" panose="020B0400000000000000" pitchFamily="50" charset="-128"/>
                <a:ea typeface="BIZ UDPゴシック" panose="020B0400000000000000" pitchFamily="50" charset="-128"/>
              </a:rPr>
              <a:t>DMIS</a:t>
            </a:r>
            <a:r>
              <a:rPr lang="ja-JP" altLang="en-US" b="1" dirty="0">
                <a:solidFill>
                  <a:schemeClr val="tx1"/>
                </a:solidFill>
                <a:latin typeface="BIZ UDPゴシック" panose="020B0400000000000000" pitchFamily="50" charset="-128"/>
                <a:ea typeface="BIZ UDPゴシック" panose="020B0400000000000000" pitchFamily="50" charset="-128"/>
              </a:rPr>
              <a:t>）　</a:t>
            </a:r>
            <a:r>
              <a:rPr lang="ja-JP" altLang="en-US" b="1" dirty="0">
                <a:solidFill>
                  <a:schemeClr val="bg2"/>
                </a:solidFill>
                <a:latin typeface="BIZ UDPゴシック" panose="020B0400000000000000" pitchFamily="50" charset="-128"/>
                <a:ea typeface="BIZ UDPゴシック" panose="020B0400000000000000" pitchFamily="50" charset="-128"/>
              </a:rPr>
              <a:t>➡　</a:t>
            </a:r>
            <a:r>
              <a:rPr lang="ja-JP" altLang="en-US" b="1" dirty="0">
                <a:solidFill>
                  <a:schemeClr val="tx1"/>
                </a:solidFill>
                <a:latin typeface="BIZ UDPゴシック" panose="020B0400000000000000" pitchFamily="50" charset="-128"/>
                <a:ea typeface="BIZ UDPゴシック" panose="020B0400000000000000" pitchFamily="50" charset="-128"/>
              </a:rPr>
              <a:t>採用すべき翻訳技法</a:t>
            </a:r>
            <a:br>
              <a:rPr lang="en-US" altLang="ja-JP" dirty="0">
                <a:solidFill>
                  <a:schemeClr val="tx1"/>
                </a:solidFill>
                <a:latin typeface="BIZ UDPゴシック" panose="020B0400000000000000" pitchFamily="50" charset="-128"/>
                <a:ea typeface="BIZ UDPゴシック" panose="020B0400000000000000" pitchFamily="50" charset="-128"/>
              </a:rPr>
            </a:br>
            <a:br>
              <a:rPr lang="en-US" altLang="ja-JP" dirty="0">
                <a:solidFill>
                  <a:schemeClr val="tx1"/>
                </a:solidFill>
                <a:latin typeface="BIZ UDPゴシック" panose="020B0400000000000000" pitchFamily="50" charset="-128"/>
                <a:ea typeface="BIZ UDPゴシック" panose="020B0400000000000000" pitchFamily="50" charset="-128"/>
              </a:rPr>
            </a:br>
            <a:endParaRPr lang="en-US" altLang="ja-JP" dirty="0">
              <a:solidFill>
                <a:schemeClr val="tx1"/>
              </a:solidFill>
              <a:latin typeface="BIZ UDPゴシック" panose="020B0400000000000000" pitchFamily="50" charset="-128"/>
              <a:ea typeface="BIZ UDPゴシック" panose="020B0400000000000000" pitchFamily="50" charset="-128"/>
            </a:endParaRPr>
          </a:p>
        </p:txBody>
      </p:sp>
      <p:sp>
        <p:nvSpPr>
          <p:cNvPr id="2" name="テキスト ボックス 1">
            <a:extLst>
              <a:ext uri="{FF2B5EF4-FFF2-40B4-BE49-F238E27FC236}">
                <a16:creationId xmlns:a16="http://schemas.microsoft.com/office/drawing/2014/main" id="{321C11A9-0DFE-70D5-AB5D-431057FA91B6}"/>
              </a:ext>
            </a:extLst>
          </p:cNvPr>
          <p:cNvSpPr txBox="1"/>
          <p:nvPr/>
        </p:nvSpPr>
        <p:spPr>
          <a:xfrm>
            <a:off x="540875" y="1783627"/>
            <a:ext cx="2953976" cy="523220"/>
          </a:xfrm>
          <a:prstGeom prst="rect">
            <a:avLst/>
          </a:prstGeom>
          <a:noFill/>
        </p:spPr>
        <p:txBody>
          <a:bodyPr wrap="square" rtlCol="0">
            <a:spAutoFit/>
          </a:bodyPr>
          <a:lstStyle/>
          <a:p>
            <a:r>
              <a:rPr kumimoji="1" lang="en-US" altLang="ja-JP" sz="1600" dirty="0">
                <a:solidFill>
                  <a:schemeClr val="bg2"/>
                </a:solidFill>
              </a:rPr>
              <a:t>Denial</a:t>
            </a:r>
            <a:r>
              <a:rPr kumimoji="1" lang="ja-JP" altLang="en-US" sz="1200" dirty="0">
                <a:solidFill>
                  <a:schemeClr val="tx2"/>
                </a:solidFill>
              </a:rPr>
              <a:t>（認知不能）</a:t>
            </a:r>
            <a:endParaRPr kumimoji="1" lang="en-US" altLang="ja-JP" sz="1200" dirty="0">
              <a:solidFill>
                <a:schemeClr val="tx2"/>
              </a:solidFill>
            </a:endParaRPr>
          </a:p>
          <a:p>
            <a:r>
              <a:rPr kumimoji="1" lang="ja-JP" altLang="en-US" sz="1200" dirty="0">
                <a:solidFill>
                  <a:schemeClr val="tx2"/>
                </a:solidFill>
              </a:rPr>
              <a:t>異文化要素を認知させない</a:t>
            </a:r>
          </a:p>
        </p:txBody>
      </p:sp>
      <p:sp>
        <p:nvSpPr>
          <p:cNvPr id="3" name="テキスト プレースホルダー 6">
            <a:extLst>
              <a:ext uri="{FF2B5EF4-FFF2-40B4-BE49-F238E27FC236}">
                <a16:creationId xmlns:a16="http://schemas.microsoft.com/office/drawing/2014/main" id="{5B8FE303-73CC-30C9-7EAE-D6A94452B622}"/>
              </a:ext>
            </a:extLst>
          </p:cNvPr>
          <p:cNvSpPr txBox="1">
            <a:spLocks/>
          </p:cNvSpPr>
          <p:nvPr/>
        </p:nvSpPr>
        <p:spPr>
          <a:xfrm>
            <a:off x="193214" y="986525"/>
            <a:ext cx="835487" cy="3857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Abadi" panose="020B0604020104020204" pitchFamily="34" charset="0"/>
                <a:ea typeface="Lato"/>
                <a:cs typeface="Lato"/>
                <a:sym typeface="Lato"/>
              </a:defRPr>
            </a:lvl1pPr>
            <a:lvl2pPr marL="914400" marR="0" lvl="1"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2pPr>
            <a:lvl3pPr marL="1371600" marR="0" lvl="2"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3pPr>
            <a:lvl4pPr marL="1828800" marR="0" lvl="3"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4pPr>
            <a:lvl5pPr marL="2286000" marR="0" lvl="4"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5pPr>
            <a:lvl6pPr marL="2743200" marR="0" lvl="5"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6pPr>
            <a:lvl7pPr marL="3200400" marR="0" lvl="6"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7pPr>
            <a:lvl8pPr marL="3657600" marR="0" lvl="7"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8pPr>
            <a:lvl9pPr marL="4114800" marR="0" lvl="8" indent="-317500" algn="l" rtl="0">
              <a:lnSpc>
                <a:spcPct val="115000"/>
              </a:lnSpc>
              <a:spcBef>
                <a:spcPts val="1600"/>
              </a:spcBef>
              <a:spcAft>
                <a:spcPts val="1600"/>
              </a:spcAft>
              <a:buClr>
                <a:schemeClr val="dk2"/>
              </a:buClr>
              <a:buSzPts val="1400"/>
              <a:buFont typeface="Lato"/>
              <a:buChar char="■"/>
              <a:defRPr sz="1400" b="0" i="0" u="none" strike="noStrike" cap="none">
                <a:solidFill>
                  <a:schemeClr val="dk2"/>
                </a:solidFill>
                <a:latin typeface="Lato"/>
                <a:ea typeface="Lato"/>
                <a:cs typeface="Lato"/>
                <a:sym typeface="Lato"/>
              </a:defRPr>
            </a:lvl9pPr>
          </a:lstStyle>
          <a:p>
            <a:pPr marL="114300" indent="0">
              <a:buFont typeface="Lato"/>
              <a:buNone/>
            </a:pPr>
            <a:r>
              <a:rPr lang="ja-JP" altLang="en-US" sz="1400" b="1" dirty="0">
                <a:solidFill>
                  <a:schemeClr val="tx2"/>
                </a:solidFill>
                <a:latin typeface="BIZ UDPゴシック" panose="020B0400000000000000" pitchFamily="50" charset="-128"/>
                <a:ea typeface="BIZ UDPゴシック" panose="020B0400000000000000" pitchFamily="50" charset="-128"/>
              </a:rPr>
              <a:t>戦略</a:t>
            </a:r>
            <a:br>
              <a:rPr lang="en-US" altLang="ja-JP" sz="1400" dirty="0">
                <a:solidFill>
                  <a:schemeClr val="tx1"/>
                </a:solidFill>
                <a:latin typeface="BIZ UDPゴシック" panose="020B0400000000000000" pitchFamily="50" charset="-128"/>
                <a:ea typeface="BIZ UDPゴシック" panose="020B0400000000000000" pitchFamily="50" charset="-128"/>
              </a:rPr>
            </a:br>
            <a:br>
              <a:rPr lang="en-US" altLang="ja-JP" sz="1400" dirty="0">
                <a:solidFill>
                  <a:schemeClr val="tx1"/>
                </a:solidFill>
                <a:latin typeface="BIZ UDPゴシック" panose="020B0400000000000000" pitchFamily="50" charset="-128"/>
                <a:ea typeface="BIZ UDPゴシック" panose="020B0400000000000000" pitchFamily="50" charset="-128"/>
              </a:rPr>
            </a:br>
            <a:endParaRPr lang="en-US" altLang="ja-JP" sz="1400" dirty="0">
              <a:solidFill>
                <a:schemeClr val="tx1"/>
              </a:solidFill>
              <a:latin typeface="BIZ UDPゴシック" panose="020B0400000000000000" pitchFamily="50" charset="-128"/>
              <a:ea typeface="BIZ UDPゴシック" panose="020B0400000000000000" pitchFamily="50" charset="-128"/>
            </a:endParaRPr>
          </a:p>
        </p:txBody>
      </p:sp>
      <p:sp>
        <p:nvSpPr>
          <p:cNvPr id="5" name="テキスト プレースホルダー 6">
            <a:extLst>
              <a:ext uri="{FF2B5EF4-FFF2-40B4-BE49-F238E27FC236}">
                <a16:creationId xmlns:a16="http://schemas.microsoft.com/office/drawing/2014/main" id="{CD8FE7A0-1BAB-3275-E7DF-24D128C74CE5}"/>
              </a:ext>
            </a:extLst>
          </p:cNvPr>
          <p:cNvSpPr txBox="1">
            <a:spLocks/>
          </p:cNvSpPr>
          <p:nvPr/>
        </p:nvSpPr>
        <p:spPr>
          <a:xfrm>
            <a:off x="4799374" y="986525"/>
            <a:ext cx="835487" cy="3857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Abadi" panose="020B0604020104020204" pitchFamily="34" charset="0"/>
                <a:ea typeface="Lato"/>
                <a:cs typeface="Lato"/>
                <a:sym typeface="Lato"/>
              </a:defRPr>
            </a:lvl1pPr>
            <a:lvl2pPr marL="914400" marR="0" lvl="1"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2pPr>
            <a:lvl3pPr marL="1371600" marR="0" lvl="2"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3pPr>
            <a:lvl4pPr marL="1828800" marR="0" lvl="3"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4pPr>
            <a:lvl5pPr marL="2286000" marR="0" lvl="4"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5pPr>
            <a:lvl6pPr marL="2743200" marR="0" lvl="5"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6pPr>
            <a:lvl7pPr marL="3200400" marR="0" lvl="6"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7pPr>
            <a:lvl8pPr marL="3657600" marR="0" lvl="7"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8pPr>
            <a:lvl9pPr marL="4114800" marR="0" lvl="8" indent="-317500" algn="l" rtl="0">
              <a:lnSpc>
                <a:spcPct val="115000"/>
              </a:lnSpc>
              <a:spcBef>
                <a:spcPts val="1600"/>
              </a:spcBef>
              <a:spcAft>
                <a:spcPts val="1600"/>
              </a:spcAft>
              <a:buClr>
                <a:schemeClr val="dk2"/>
              </a:buClr>
              <a:buSzPts val="1400"/>
              <a:buFont typeface="Lato"/>
              <a:buChar char="■"/>
              <a:defRPr sz="1400" b="0" i="0" u="none" strike="noStrike" cap="none">
                <a:solidFill>
                  <a:schemeClr val="dk2"/>
                </a:solidFill>
                <a:latin typeface="Lato"/>
                <a:ea typeface="Lato"/>
                <a:cs typeface="Lato"/>
                <a:sym typeface="Lato"/>
              </a:defRPr>
            </a:lvl9pPr>
          </a:lstStyle>
          <a:p>
            <a:pPr marL="114300" indent="0">
              <a:buFont typeface="Lato"/>
              <a:buNone/>
            </a:pPr>
            <a:r>
              <a:rPr lang="ja-JP" altLang="en-US" sz="1400" b="1" dirty="0">
                <a:solidFill>
                  <a:schemeClr val="tx2"/>
                </a:solidFill>
                <a:latin typeface="BIZ UDPゴシック" panose="020B0400000000000000" pitchFamily="50" charset="-128"/>
                <a:ea typeface="BIZ UDPゴシック" panose="020B0400000000000000" pitchFamily="50" charset="-128"/>
              </a:rPr>
              <a:t>戦術</a:t>
            </a:r>
            <a:br>
              <a:rPr lang="en-US" altLang="ja-JP" sz="1400" dirty="0">
                <a:solidFill>
                  <a:schemeClr val="tx1"/>
                </a:solidFill>
                <a:latin typeface="BIZ UDPゴシック" panose="020B0400000000000000" pitchFamily="50" charset="-128"/>
                <a:ea typeface="BIZ UDPゴシック" panose="020B0400000000000000" pitchFamily="50" charset="-128"/>
              </a:rPr>
            </a:br>
            <a:br>
              <a:rPr lang="en-US" altLang="ja-JP" sz="1400" dirty="0">
                <a:solidFill>
                  <a:schemeClr val="tx1"/>
                </a:solidFill>
                <a:latin typeface="BIZ UDPゴシック" panose="020B0400000000000000" pitchFamily="50" charset="-128"/>
                <a:ea typeface="BIZ UDPゴシック" panose="020B0400000000000000" pitchFamily="50" charset="-128"/>
              </a:rPr>
            </a:br>
            <a:endParaRPr lang="en-US" altLang="ja-JP" sz="1400" dirty="0">
              <a:solidFill>
                <a:schemeClr val="tx1"/>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7E3361B3-654F-9C50-CA3E-3D4EEB05D66C}"/>
              </a:ext>
            </a:extLst>
          </p:cNvPr>
          <p:cNvSpPr txBox="1"/>
          <p:nvPr/>
        </p:nvSpPr>
        <p:spPr>
          <a:xfrm>
            <a:off x="540875" y="2439065"/>
            <a:ext cx="2953976" cy="523220"/>
          </a:xfrm>
          <a:prstGeom prst="rect">
            <a:avLst/>
          </a:prstGeom>
          <a:noFill/>
        </p:spPr>
        <p:txBody>
          <a:bodyPr wrap="square" rtlCol="0">
            <a:spAutoFit/>
          </a:bodyPr>
          <a:lstStyle/>
          <a:p>
            <a:r>
              <a:rPr kumimoji="1" lang="en-US" altLang="ja-JP" sz="1600" dirty="0">
                <a:solidFill>
                  <a:schemeClr val="bg2"/>
                </a:solidFill>
              </a:rPr>
              <a:t>Minimization</a:t>
            </a:r>
            <a:r>
              <a:rPr kumimoji="1" lang="ja-JP" altLang="en-US" sz="1200" dirty="0">
                <a:solidFill>
                  <a:schemeClr val="tx2"/>
                </a:solidFill>
              </a:rPr>
              <a:t>（自文化同化）</a:t>
            </a:r>
            <a:endParaRPr kumimoji="1" lang="en-US" altLang="ja-JP" sz="1200" dirty="0">
              <a:solidFill>
                <a:schemeClr val="tx2"/>
              </a:solidFill>
            </a:endParaRPr>
          </a:p>
          <a:p>
            <a:r>
              <a:rPr kumimoji="1" lang="ja-JP" altLang="en-US" sz="1200" dirty="0">
                <a:solidFill>
                  <a:schemeClr val="tx2"/>
                </a:solidFill>
              </a:rPr>
              <a:t>自文化の既知の概念で理解させる</a:t>
            </a:r>
          </a:p>
        </p:txBody>
      </p:sp>
      <p:sp>
        <p:nvSpPr>
          <p:cNvPr id="17" name="テキスト ボックス 16">
            <a:extLst>
              <a:ext uri="{FF2B5EF4-FFF2-40B4-BE49-F238E27FC236}">
                <a16:creationId xmlns:a16="http://schemas.microsoft.com/office/drawing/2014/main" id="{D445A831-FBBB-6C46-6C59-E3EFCF44A79A}"/>
              </a:ext>
            </a:extLst>
          </p:cNvPr>
          <p:cNvSpPr txBox="1"/>
          <p:nvPr/>
        </p:nvSpPr>
        <p:spPr>
          <a:xfrm>
            <a:off x="540875" y="3113672"/>
            <a:ext cx="3231025" cy="523220"/>
          </a:xfrm>
          <a:prstGeom prst="rect">
            <a:avLst/>
          </a:prstGeom>
          <a:noFill/>
        </p:spPr>
        <p:txBody>
          <a:bodyPr wrap="square" rtlCol="0">
            <a:spAutoFit/>
          </a:bodyPr>
          <a:lstStyle/>
          <a:p>
            <a:r>
              <a:rPr kumimoji="1" lang="en-US" altLang="ja-JP" sz="1600" dirty="0">
                <a:solidFill>
                  <a:schemeClr val="bg2"/>
                </a:solidFill>
              </a:rPr>
              <a:t>Acceptance</a:t>
            </a:r>
            <a:r>
              <a:rPr kumimoji="1" lang="ja-JP" altLang="en-US" sz="1200" dirty="0">
                <a:solidFill>
                  <a:schemeClr val="tx2"/>
                </a:solidFill>
              </a:rPr>
              <a:t>（差異の認識）</a:t>
            </a:r>
            <a:endParaRPr kumimoji="1" lang="en-US" altLang="ja-JP" sz="1200" dirty="0">
              <a:solidFill>
                <a:schemeClr val="tx2"/>
              </a:solidFill>
            </a:endParaRPr>
          </a:p>
          <a:p>
            <a:r>
              <a:rPr kumimoji="1" lang="ja-JP" altLang="en-US" sz="1200" dirty="0">
                <a:solidFill>
                  <a:schemeClr val="tx2"/>
                </a:solidFill>
              </a:rPr>
              <a:t>「自分の文化には無いものとして認識させる</a:t>
            </a:r>
          </a:p>
        </p:txBody>
      </p:sp>
      <p:sp>
        <p:nvSpPr>
          <p:cNvPr id="18" name="テキスト ボックス 17">
            <a:extLst>
              <a:ext uri="{FF2B5EF4-FFF2-40B4-BE49-F238E27FC236}">
                <a16:creationId xmlns:a16="http://schemas.microsoft.com/office/drawing/2014/main" id="{93AF55B3-5C3B-B70E-FBAC-0809D3CA55BD}"/>
              </a:ext>
            </a:extLst>
          </p:cNvPr>
          <p:cNvSpPr txBox="1"/>
          <p:nvPr/>
        </p:nvSpPr>
        <p:spPr>
          <a:xfrm>
            <a:off x="540875" y="3769110"/>
            <a:ext cx="3231025" cy="523220"/>
          </a:xfrm>
          <a:prstGeom prst="rect">
            <a:avLst/>
          </a:prstGeom>
          <a:noFill/>
        </p:spPr>
        <p:txBody>
          <a:bodyPr wrap="square" rtlCol="0">
            <a:spAutoFit/>
          </a:bodyPr>
          <a:lstStyle/>
          <a:p>
            <a:r>
              <a:rPr kumimoji="1" lang="en-US" altLang="ja-JP" sz="1600" dirty="0">
                <a:solidFill>
                  <a:schemeClr val="bg2"/>
                </a:solidFill>
              </a:rPr>
              <a:t>Adaptation</a:t>
            </a:r>
            <a:r>
              <a:rPr kumimoji="1" lang="ja-JP" altLang="en-US" sz="1200" dirty="0">
                <a:solidFill>
                  <a:schemeClr val="tx2"/>
                </a:solidFill>
              </a:rPr>
              <a:t>（異文化の文脈で深い理解）</a:t>
            </a:r>
            <a:endParaRPr kumimoji="1" lang="en-US" altLang="ja-JP" sz="1200" dirty="0">
              <a:solidFill>
                <a:schemeClr val="tx2"/>
              </a:solidFill>
            </a:endParaRPr>
          </a:p>
          <a:p>
            <a:r>
              <a:rPr kumimoji="1" lang="ja-JP" altLang="en-US" sz="1200" dirty="0">
                <a:solidFill>
                  <a:schemeClr val="tx2"/>
                </a:solidFill>
              </a:rPr>
              <a:t>原文文化の視点で理解させる</a:t>
            </a:r>
          </a:p>
        </p:txBody>
      </p:sp>
      <p:sp>
        <p:nvSpPr>
          <p:cNvPr id="19" name="テキスト ボックス 18">
            <a:extLst>
              <a:ext uri="{FF2B5EF4-FFF2-40B4-BE49-F238E27FC236}">
                <a16:creationId xmlns:a16="http://schemas.microsoft.com/office/drawing/2014/main" id="{F139CA3D-9B5D-AE4F-F8B1-E0D95CA84921}"/>
              </a:ext>
            </a:extLst>
          </p:cNvPr>
          <p:cNvSpPr txBox="1"/>
          <p:nvPr/>
        </p:nvSpPr>
        <p:spPr>
          <a:xfrm>
            <a:off x="4956537" y="1749321"/>
            <a:ext cx="2953976" cy="523220"/>
          </a:xfrm>
          <a:prstGeom prst="rect">
            <a:avLst/>
          </a:prstGeom>
          <a:noFill/>
        </p:spPr>
        <p:txBody>
          <a:bodyPr wrap="square" rtlCol="0">
            <a:spAutoFit/>
          </a:bodyPr>
          <a:lstStyle/>
          <a:p>
            <a:r>
              <a:rPr kumimoji="1" lang="en-US" altLang="ja-JP" sz="1600" dirty="0">
                <a:solidFill>
                  <a:schemeClr val="bg2"/>
                </a:solidFill>
              </a:rPr>
              <a:t>Reduction</a:t>
            </a:r>
            <a:r>
              <a:rPr kumimoji="1" lang="ja-JP" altLang="en-US" sz="1200" dirty="0">
                <a:solidFill>
                  <a:schemeClr val="tx2"/>
                </a:solidFill>
              </a:rPr>
              <a:t>（削除）</a:t>
            </a:r>
            <a:endParaRPr kumimoji="1" lang="en-US" altLang="ja-JP" sz="1200" dirty="0">
              <a:solidFill>
                <a:schemeClr val="tx2"/>
              </a:solidFill>
            </a:endParaRPr>
          </a:p>
          <a:p>
            <a:r>
              <a:rPr kumimoji="1" lang="ja-JP" altLang="en-US" sz="1200" dirty="0">
                <a:solidFill>
                  <a:schemeClr val="tx2"/>
                </a:solidFill>
              </a:rPr>
              <a:t>情報を省く</a:t>
            </a:r>
            <a:endParaRPr kumimoji="1" lang="en-US" altLang="ja-JP" sz="1200" dirty="0">
              <a:solidFill>
                <a:schemeClr val="tx2"/>
              </a:solidFill>
            </a:endParaRPr>
          </a:p>
        </p:txBody>
      </p:sp>
      <p:sp>
        <p:nvSpPr>
          <p:cNvPr id="20" name="テキスト ボックス 19">
            <a:extLst>
              <a:ext uri="{FF2B5EF4-FFF2-40B4-BE49-F238E27FC236}">
                <a16:creationId xmlns:a16="http://schemas.microsoft.com/office/drawing/2014/main" id="{A210348F-CB77-EEE1-D3CA-3B95715821FF}"/>
              </a:ext>
            </a:extLst>
          </p:cNvPr>
          <p:cNvSpPr txBox="1"/>
          <p:nvPr/>
        </p:nvSpPr>
        <p:spPr>
          <a:xfrm>
            <a:off x="4956536" y="2439065"/>
            <a:ext cx="3565957" cy="523220"/>
          </a:xfrm>
          <a:prstGeom prst="rect">
            <a:avLst/>
          </a:prstGeom>
          <a:noFill/>
        </p:spPr>
        <p:txBody>
          <a:bodyPr wrap="square" rtlCol="0">
            <a:spAutoFit/>
          </a:bodyPr>
          <a:lstStyle/>
          <a:p>
            <a:r>
              <a:rPr kumimoji="1" lang="en-US" altLang="ja-JP" sz="1600" dirty="0">
                <a:solidFill>
                  <a:schemeClr val="bg2"/>
                </a:solidFill>
              </a:rPr>
              <a:t>Established</a:t>
            </a:r>
            <a:r>
              <a:rPr kumimoji="1" lang="ja-JP" altLang="en-US" sz="1600" dirty="0">
                <a:solidFill>
                  <a:schemeClr val="bg2"/>
                </a:solidFill>
              </a:rPr>
              <a:t> </a:t>
            </a:r>
            <a:r>
              <a:rPr kumimoji="1" lang="en-US" altLang="ja-JP" sz="1600" dirty="0">
                <a:solidFill>
                  <a:schemeClr val="bg2"/>
                </a:solidFill>
              </a:rPr>
              <a:t>equivalent</a:t>
            </a:r>
            <a:r>
              <a:rPr kumimoji="1" lang="ja-JP" altLang="en-US" sz="1200" dirty="0">
                <a:solidFill>
                  <a:schemeClr val="tx2"/>
                </a:solidFill>
              </a:rPr>
              <a:t>（辞書的等価）</a:t>
            </a:r>
            <a:endParaRPr kumimoji="1" lang="en-US" altLang="ja-JP" sz="1200" dirty="0">
              <a:solidFill>
                <a:schemeClr val="tx2"/>
              </a:solidFill>
            </a:endParaRPr>
          </a:p>
          <a:p>
            <a:r>
              <a:rPr kumimoji="1" lang="ja-JP" altLang="en-US" sz="1200" dirty="0">
                <a:solidFill>
                  <a:schemeClr val="tx2"/>
                </a:solidFill>
              </a:rPr>
              <a:t>辞書にある定訳を充てる</a:t>
            </a:r>
            <a:endParaRPr kumimoji="1" lang="en-US" altLang="ja-JP" sz="1200" dirty="0">
              <a:solidFill>
                <a:schemeClr val="tx2"/>
              </a:solidFill>
            </a:endParaRPr>
          </a:p>
        </p:txBody>
      </p:sp>
      <p:sp>
        <p:nvSpPr>
          <p:cNvPr id="21" name="テキスト ボックス 20">
            <a:extLst>
              <a:ext uri="{FF2B5EF4-FFF2-40B4-BE49-F238E27FC236}">
                <a16:creationId xmlns:a16="http://schemas.microsoft.com/office/drawing/2014/main" id="{F7C24A39-5F82-E96A-02FC-73D3A054FCBF}"/>
              </a:ext>
            </a:extLst>
          </p:cNvPr>
          <p:cNvSpPr txBox="1"/>
          <p:nvPr/>
        </p:nvSpPr>
        <p:spPr>
          <a:xfrm>
            <a:off x="4956536" y="3113672"/>
            <a:ext cx="3565957" cy="523220"/>
          </a:xfrm>
          <a:prstGeom prst="rect">
            <a:avLst/>
          </a:prstGeom>
          <a:noFill/>
        </p:spPr>
        <p:txBody>
          <a:bodyPr wrap="square" rtlCol="0">
            <a:spAutoFit/>
          </a:bodyPr>
          <a:lstStyle/>
          <a:p>
            <a:r>
              <a:rPr kumimoji="1" lang="en-US" altLang="ja-JP" sz="1600" dirty="0">
                <a:solidFill>
                  <a:schemeClr val="bg2"/>
                </a:solidFill>
              </a:rPr>
              <a:t>Borrowing</a:t>
            </a:r>
            <a:r>
              <a:rPr kumimoji="1" lang="ja-JP" altLang="en-US" sz="1200" dirty="0">
                <a:solidFill>
                  <a:schemeClr val="tx2"/>
                </a:solidFill>
              </a:rPr>
              <a:t>（音訳）</a:t>
            </a:r>
            <a:endParaRPr kumimoji="1" lang="en-US" altLang="ja-JP" sz="1200" dirty="0">
              <a:solidFill>
                <a:schemeClr val="tx2"/>
              </a:solidFill>
            </a:endParaRPr>
          </a:p>
          <a:p>
            <a:r>
              <a:rPr kumimoji="1" lang="ja-JP" altLang="en-US" sz="1200" dirty="0">
                <a:solidFill>
                  <a:schemeClr val="tx2"/>
                </a:solidFill>
              </a:rPr>
              <a:t>原語をそのまま音でアルファベットに置き換える</a:t>
            </a:r>
            <a:endParaRPr kumimoji="1" lang="en-US" altLang="ja-JP" sz="1200" dirty="0">
              <a:solidFill>
                <a:schemeClr val="tx2"/>
              </a:solidFill>
            </a:endParaRPr>
          </a:p>
        </p:txBody>
      </p:sp>
      <p:sp>
        <p:nvSpPr>
          <p:cNvPr id="22" name="テキスト ボックス 21">
            <a:extLst>
              <a:ext uri="{FF2B5EF4-FFF2-40B4-BE49-F238E27FC236}">
                <a16:creationId xmlns:a16="http://schemas.microsoft.com/office/drawing/2014/main" id="{B711677C-ED88-154A-0857-27F47ED3FAFB}"/>
              </a:ext>
            </a:extLst>
          </p:cNvPr>
          <p:cNvSpPr txBox="1"/>
          <p:nvPr/>
        </p:nvSpPr>
        <p:spPr>
          <a:xfrm>
            <a:off x="4956536" y="3769110"/>
            <a:ext cx="3901714" cy="523220"/>
          </a:xfrm>
          <a:prstGeom prst="rect">
            <a:avLst/>
          </a:prstGeom>
          <a:noFill/>
        </p:spPr>
        <p:txBody>
          <a:bodyPr wrap="square" rtlCol="0">
            <a:spAutoFit/>
          </a:bodyPr>
          <a:lstStyle/>
          <a:p>
            <a:r>
              <a:rPr kumimoji="1" lang="en-US" altLang="ja-JP" sz="1600" dirty="0">
                <a:solidFill>
                  <a:schemeClr val="bg2"/>
                </a:solidFill>
              </a:rPr>
              <a:t>Amplification</a:t>
            </a:r>
            <a:r>
              <a:rPr kumimoji="1" lang="ja-JP" altLang="en-US" sz="1200" dirty="0">
                <a:solidFill>
                  <a:schemeClr val="tx2"/>
                </a:solidFill>
              </a:rPr>
              <a:t>（加筆・注釈）</a:t>
            </a:r>
            <a:endParaRPr kumimoji="1" lang="en-US" altLang="ja-JP" sz="1200" dirty="0">
              <a:solidFill>
                <a:schemeClr val="tx2"/>
              </a:solidFill>
            </a:endParaRPr>
          </a:p>
          <a:p>
            <a:r>
              <a:rPr kumimoji="1" lang="ja-JP" altLang="en-US" sz="1200" dirty="0">
                <a:solidFill>
                  <a:schemeClr val="tx2"/>
                </a:solidFill>
              </a:rPr>
              <a:t>音訳＋補足情報、背景文化まで説明</a:t>
            </a:r>
          </a:p>
        </p:txBody>
      </p:sp>
      <p:sp>
        <p:nvSpPr>
          <p:cNvPr id="23" name="テキスト ボックス 22">
            <a:extLst>
              <a:ext uri="{FF2B5EF4-FFF2-40B4-BE49-F238E27FC236}">
                <a16:creationId xmlns:a16="http://schemas.microsoft.com/office/drawing/2014/main" id="{53623FC2-EC29-B21A-B034-C1165E2EE17F}"/>
              </a:ext>
            </a:extLst>
          </p:cNvPr>
          <p:cNvSpPr txBox="1"/>
          <p:nvPr/>
        </p:nvSpPr>
        <p:spPr>
          <a:xfrm>
            <a:off x="3933183" y="2346732"/>
            <a:ext cx="694683" cy="707886"/>
          </a:xfrm>
          <a:prstGeom prst="rect">
            <a:avLst/>
          </a:prstGeom>
          <a:noFill/>
        </p:spPr>
        <p:txBody>
          <a:bodyPr wrap="square" rtlCol="0">
            <a:spAutoFit/>
          </a:bodyPr>
          <a:lstStyle/>
          <a:p>
            <a:r>
              <a:rPr kumimoji="1" lang="ja-JP" altLang="en-US" sz="4000" dirty="0">
                <a:solidFill>
                  <a:schemeClr val="bg2">
                    <a:lumMod val="85000"/>
                    <a:lumOff val="15000"/>
                  </a:schemeClr>
                </a:solidFill>
              </a:rPr>
              <a:t>➡</a:t>
            </a:r>
          </a:p>
        </p:txBody>
      </p:sp>
      <p:sp>
        <p:nvSpPr>
          <p:cNvPr id="24" name="テキスト ボックス 23">
            <a:extLst>
              <a:ext uri="{FF2B5EF4-FFF2-40B4-BE49-F238E27FC236}">
                <a16:creationId xmlns:a16="http://schemas.microsoft.com/office/drawing/2014/main" id="{C65C8607-C833-DFAF-C5CB-51215F068ABD}"/>
              </a:ext>
            </a:extLst>
          </p:cNvPr>
          <p:cNvSpPr txBox="1"/>
          <p:nvPr/>
        </p:nvSpPr>
        <p:spPr>
          <a:xfrm>
            <a:off x="3933183" y="1653900"/>
            <a:ext cx="694683" cy="707886"/>
          </a:xfrm>
          <a:prstGeom prst="rect">
            <a:avLst/>
          </a:prstGeom>
          <a:noFill/>
        </p:spPr>
        <p:txBody>
          <a:bodyPr wrap="square" rtlCol="0">
            <a:spAutoFit/>
          </a:bodyPr>
          <a:lstStyle/>
          <a:p>
            <a:r>
              <a:rPr kumimoji="1" lang="ja-JP" altLang="en-US" sz="4000" dirty="0">
                <a:solidFill>
                  <a:schemeClr val="bg2">
                    <a:lumMod val="85000"/>
                    <a:lumOff val="15000"/>
                  </a:schemeClr>
                </a:solidFill>
              </a:rPr>
              <a:t>➡</a:t>
            </a:r>
          </a:p>
        </p:txBody>
      </p:sp>
      <p:sp>
        <p:nvSpPr>
          <p:cNvPr id="25" name="テキスト ボックス 24">
            <a:extLst>
              <a:ext uri="{FF2B5EF4-FFF2-40B4-BE49-F238E27FC236}">
                <a16:creationId xmlns:a16="http://schemas.microsoft.com/office/drawing/2014/main" id="{059747BA-EC4E-893C-6C79-EBA9210E1065}"/>
              </a:ext>
            </a:extLst>
          </p:cNvPr>
          <p:cNvSpPr txBox="1"/>
          <p:nvPr/>
        </p:nvSpPr>
        <p:spPr>
          <a:xfrm>
            <a:off x="3933183" y="3016710"/>
            <a:ext cx="694683" cy="707886"/>
          </a:xfrm>
          <a:prstGeom prst="rect">
            <a:avLst/>
          </a:prstGeom>
          <a:noFill/>
        </p:spPr>
        <p:txBody>
          <a:bodyPr wrap="square" rtlCol="0">
            <a:spAutoFit/>
          </a:bodyPr>
          <a:lstStyle/>
          <a:p>
            <a:r>
              <a:rPr kumimoji="1" lang="ja-JP" altLang="en-US" sz="4000" dirty="0">
                <a:solidFill>
                  <a:schemeClr val="bg2">
                    <a:lumMod val="85000"/>
                    <a:lumOff val="15000"/>
                  </a:schemeClr>
                </a:solidFill>
              </a:rPr>
              <a:t>➡</a:t>
            </a:r>
          </a:p>
        </p:txBody>
      </p:sp>
      <p:sp>
        <p:nvSpPr>
          <p:cNvPr id="26" name="テキスト ボックス 25">
            <a:extLst>
              <a:ext uri="{FF2B5EF4-FFF2-40B4-BE49-F238E27FC236}">
                <a16:creationId xmlns:a16="http://schemas.microsoft.com/office/drawing/2014/main" id="{E1C113AC-3E13-3A4B-89EA-8D717BB2EDAD}"/>
              </a:ext>
            </a:extLst>
          </p:cNvPr>
          <p:cNvSpPr txBox="1"/>
          <p:nvPr/>
        </p:nvSpPr>
        <p:spPr>
          <a:xfrm>
            <a:off x="3924299" y="3676777"/>
            <a:ext cx="694683" cy="707886"/>
          </a:xfrm>
          <a:prstGeom prst="rect">
            <a:avLst/>
          </a:prstGeom>
          <a:noFill/>
        </p:spPr>
        <p:txBody>
          <a:bodyPr wrap="square" rtlCol="0">
            <a:spAutoFit/>
          </a:bodyPr>
          <a:lstStyle/>
          <a:p>
            <a:r>
              <a:rPr kumimoji="1" lang="ja-JP" altLang="en-US" sz="4000" dirty="0">
                <a:solidFill>
                  <a:schemeClr val="bg2">
                    <a:lumMod val="85000"/>
                    <a:lumOff val="15000"/>
                  </a:schemeClr>
                </a:solidFill>
              </a:rPr>
              <a:t>➡</a:t>
            </a:r>
          </a:p>
        </p:txBody>
      </p:sp>
    </p:spTree>
    <p:extLst>
      <p:ext uri="{BB962C8B-B14F-4D97-AF65-F5344CB8AC3E}">
        <p14:creationId xmlns:p14="http://schemas.microsoft.com/office/powerpoint/2010/main" val="794724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BBA811A2-123E-3BAE-A236-9D8F36BBF99E}"/>
            </a:ext>
          </a:extLst>
        </p:cNvPr>
        <p:cNvGrpSpPr/>
        <p:nvPr/>
      </p:nvGrpSpPr>
      <p:grpSpPr>
        <a:xfrm>
          <a:off x="0" y="0"/>
          <a:ext cx="0" cy="0"/>
          <a:chOff x="0" y="0"/>
          <a:chExt cx="0" cy="0"/>
        </a:xfrm>
      </p:grpSpPr>
      <p:sp>
        <p:nvSpPr>
          <p:cNvPr id="115" name="Google Shape;115;p20">
            <a:extLst>
              <a:ext uri="{FF2B5EF4-FFF2-40B4-BE49-F238E27FC236}">
                <a16:creationId xmlns:a16="http://schemas.microsoft.com/office/drawing/2014/main" id="{091132F4-7D8D-F38A-C1A8-ECF52F2B2D0E}"/>
              </a:ext>
            </a:extLst>
          </p:cNvPr>
          <p:cNvSpPr txBox="1">
            <a:spLocks noGrp="1"/>
          </p:cNvSpPr>
          <p:nvPr>
            <p:ph type="title"/>
          </p:nvPr>
        </p:nvSpPr>
        <p:spPr>
          <a:xfrm>
            <a:off x="267855" y="575950"/>
            <a:ext cx="8453995"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400" dirty="0">
                <a:latin typeface="BIZ UDPゴシック" panose="020B0400000000000000" pitchFamily="50" charset="-128"/>
                <a:ea typeface="BIZ UDPゴシック" panose="020B0400000000000000" pitchFamily="50" charset="-128"/>
              </a:rPr>
              <a:t>考察②：辞書における「等価の幻想」</a:t>
            </a:r>
            <a:endParaRPr sz="2400" dirty="0">
              <a:latin typeface="BIZ UDPゴシック" panose="020B0400000000000000" pitchFamily="50" charset="-128"/>
              <a:ea typeface="BIZ UDPゴシック" panose="020B0400000000000000" pitchFamily="50" charset="-128"/>
            </a:endParaRPr>
          </a:p>
        </p:txBody>
      </p:sp>
      <p:sp>
        <p:nvSpPr>
          <p:cNvPr id="15" name="テキスト プレースホルダー 6">
            <a:extLst>
              <a:ext uri="{FF2B5EF4-FFF2-40B4-BE49-F238E27FC236}">
                <a16:creationId xmlns:a16="http://schemas.microsoft.com/office/drawing/2014/main" id="{E54F0BD8-9596-C124-DC86-B539F17D2350}"/>
              </a:ext>
            </a:extLst>
          </p:cNvPr>
          <p:cNvSpPr txBox="1">
            <a:spLocks/>
          </p:cNvSpPr>
          <p:nvPr/>
        </p:nvSpPr>
        <p:spPr>
          <a:xfrm>
            <a:off x="-18893" y="2032396"/>
            <a:ext cx="7845887" cy="3857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Abadi" panose="020B0604020104020204" pitchFamily="34" charset="0"/>
                <a:ea typeface="Lato"/>
                <a:cs typeface="Lato"/>
                <a:sym typeface="Lato"/>
              </a:defRPr>
            </a:lvl1pPr>
            <a:lvl2pPr marL="914400" marR="0" lvl="1"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2pPr>
            <a:lvl3pPr marL="1371600" marR="0" lvl="2"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3pPr>
            <a:lvl4pPr marL="1828800" marR="0" lvl="3"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4pPr>
            <a:lvl5pPr marL="2286000" marR="0" lvl="4"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5pPr>
            <a:lvl6pPr marL="2743200" marR="0" lvl="5"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6pPr>
            <a:lvl7pPr marL="3200400" marR="0" lvl="6"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7pPr>
            <a:lvl8pPr marL="3657600" marR="0" lvl="7"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8pPr>
            <a:lvl9pPr marL="4114800" marR="0" lvl="8" indent="-317500" algn="l" rtl="0">
              <a:lnSpc>
                <a:spcPct val="115000"/>
              </a:lnSpc>
              <a:spcBef>
                <a:spcPts val="1600"/>
              </a:spcBef>
              <a:spcAft>
                <a:spcPts val="1600"/>
              </a:spcAft>
              <a:buClr>
                <a:schemeClr val="dk2"/>
              </a:buClr>
              <a:buSzPts val="1400"/>
              <a:buFont typeface="Lato"/>
              <a:buChar char="■"/>
              <a:defRPr sz="1400" b="0" i="0" u="none" strike="noStrike" cap="none">
                <a:solidFill>
                  <a:schemeClr val="dk2"/>
                </a:solidFill>
                <a:latin typeface="Lato"/>
                <a:ea typeface="Lato"/>
                <a:cs typeface="Lato"/>
                <a:sym typeface="Lato"/>
              </a:defRPr>
            </a:lvl9pPr>
          </a:lstStyle>
          <a:p>
            <a:pPr marL="114300" indent="0">
              <a:buFont typeface="Lato"/>
              <a:buNone/>
            </a:pPr>
            <a:r>
              <a:rPr lang="ja-JP" altLang="en-US" sz="1400" dirty="0">
                <a:solidFill>
                  <a:schemeClr val="bg2">
                    <a:lumMod val="95000"/>
                    <a:lumOff val="5000"/>
                  </a:schemeClr>
                </a:solidFill>
                <a:latin typeface="BIZ UDPゴシック" panose="020B0400000000000000" pitchFamily="50" charset="-128"/>
                <a:ea typeface="BIZ UDPゴシック" panose="020B0400000000000000" pitchFamily="50" charset="-128"/>
              </a:rPr>
              <a:t>例） 「書生」　⇒ </a:t>
            </a:r>
            <a:r>
              <a:rPr lang="en-US" altLang="ja-JP" sz="1400" i="1" dirty="0">
                <a:solidFill>
                  <a:schemeClr val="bg2">
                    <a:lumMod val="95000"/>
                    <a:lumOff val="5000"/>
                  </a:schemeClr>
                </a:solidFill>
                <a:latin typeface="BIZ UDPゴシック" panose="020B0400000000000000" pitchFamily="50" charset="-128"/>
                <a:ea typeface="BIZ UDPゴシック" panose="020B0400000000000000" pitchFamily="50" charset="-128"/>
              </a:rPr>
              <a:t>Student</a:t>
            </a:r>
            <a:r>
              <a:rPr lang="ja-JP" altLang="en-US" sz="1400" i="1" dirty="0">
                <a:solidFill>
                  <a:schemeClr val="bg2">
                    <a:lumMod val="95000"/>
                    <a:lumOff val="5000"/>
                  </a:schemeClr>
                </a:solidFill>
                <a:latin typeface="BIZ UDPゴシック" panose="020B0400000000000000" pitchFamily="50" charset="-128"/>
                <a:ea typeface="BIZ UDPゴシック" panose="020B0400000000000000" pitchFamily="50" charset="-128"/>
              </a:rPr>
              <a:t> </a:t>
            </a:r>
            <a:r>
              <a:rPr lang="ja-JP" altLang="en-US" sz="1400" dirty="0">
                <a:solidFill>
                  <a:schemeClr val="bg2">
                    <a:lumMod val="95000"/>
                    <a:lumOff val="5000"/>
                  </a:schemeClr>
                </a:solidFill>
                <a:latin typeface="BIZ UDPゴシック" panose="020B0400000000000000" pitchFamily="50" charset="-128"/>
                <a:ea typeface="BIZ UDPゴシック" panose="020B0400000000000000" pitchFamily="50" charset="-128"/>
              </a:rPr>
              <a:t>（</a:t>
            </a:r>
            <a:r>
              <a:rPr lang="en-US" altLang="ja-JP" sz="1400" dirty="0">
                <a:solidFill>
                  <a:schemeClr val="bg2">
                    <a:lumMod val="95000"/>
                    <a:lumOff val="5000"/>
                  </a:schemeClr>
                </a:solidFill>
                <a:latin typeface="BIZ UDPゴシック" panose="020B0400000000000000" pitchFamily="50" charset="-128"/>
                <a:ea typeface="BIZ UDPゴシック" panose="020B0400000000000000" pitchFamily="50" charset="-128"/>
              </a:rPr>
              <a:t>※</a:t>
            </a:r>
            <a:r>
              <a:rPr lang="ja-JP" altLang="en-US" sz="1400" dirty="0">
                <a:solidFill>
                  <a:schemeClr val="bg2">
                    <a:lumMod val="95000"/>
                    <a:lumOff val="5000"/>
                  </a:schemeClr>
                </a:solidFill>
                <a:latin typeface="BIZ UDPゴシック" panose="020B0400000000000000" pitchFamily="50" charset="-128"/>
                <a:ea typeface="BIZ UDPゴシック" panose="020B0400000000000000" pitchFamily="50" charset="-128"/>
              </a:rPr>
              <a:t> </a:t>
            </a:r>
            <a:r>
              <a:rPr lang="ja-JP" altLang="en-US" sz="1200" dirty="0">
                <a:solidFill>
                  <a:schemeClr val="bg2">
                    <a:lumMod val="95000"/>
                    <a:lumOff val="5000"/>
                  </a:schemeClr>
                </a:solidFill>
                <a:latin typeface="BIZ UDPゴシック" panose="020B0400000000000000" pitchFamily="50" charset="-128"/>
                <a:ea typeface="BIZ UDPゴシック" panose="020B0400000000000000" pitchFamily="50" charset="-128"/>
              </a:rPr>
              <a:t>辞書に対訳として記述有</a:t>
            </a:r>
            <a:r>
              <a:rPr lang="ja-JP" altLang="en-US" sz="1400" dirty="0">
                <a:solidFill>
                  <a:schemeClr val="bg2">
                    <a:lumMod val="95000"/>
                    <a:lumOff val="5000"/>
                  </a:schemeClr>
                </a:solidFill>
                <a:latin typeface="BIZ UDPゴシック" panose="020B0400000000000000" pitchFamily="50" charset="-128"/>
                <a:ea typeface="BIZ UDPゴシック" panose="020B0400000000000000" pitchFamily="50" charset="-128"/>
              </a:rPr>
              <a:t>）</a:t>
            </a:r>
            <a:r>
              <a:rPr lang="ja-JP" altLang="en-US" sz="1400" i="1" dirty="0">
                <a:solidFill>
                  <a:schemeClr val="bg2">
                    <a:lumMod val="95000"/>
                    <a:lumOff val="5000"/>
                  </a:schemeClr>
                </a:solidFill>
                <a:latin typeface="BIZ UDPゴシック" panose="020B0400000000000000" pitchFamily="50" charset="-128"/>
                <a:ea typeface="BIZ UDPゴシック" panose="020B0400000000000000" pitchFamily="50" charset="-128"/>
              </a:rPr>
              <a:t>　</a:t>
            </a:r>
            <a:r>
              <a:rPr lang="ja-JP" altLang="en-US" sz="1400" dirty="0">
                <a:solidFill>
                  <a:schemeClr val="bg2">
                    <a:lumMod val="95000"/>
                    <a:lumOff val="5000"/>
                  </a:schemeClr>
                </a:solidFill>
                <a:latin typeface="BIZ UDPゴシック" panose="020B0400000000000000" pitchFamily="50" charset="-128"/>
                <a:ea typeface="BIZ UDPゴシック" panose="020B0400000000000000" pitchFamily="50" charset="-128"/>
              </a:rPr>
              <a:t>の例</a:t>
            </a:r>
            <a:br>
              <a:rPr lang="en-US" altLang="ja-JP" dirty="0">
                <a:solidFill>
                  <a:schemeClr val="bg2"/>
                </a:solidFill>
                <a:latin typeface="BIZ UDPゴシック" panose="020B0400000000000000" pitchFamily="50" charset="-128"/>
                <a:ea typeface="BIZ UDPゴシック" panose="020B0400000000000000" pitchFamily="50" charset="-128"/>
              </a:rPr>
            </a:br>
            <a:br>
              <a:rPr lang="en-US" altLang="ja-JP" dirty="0">
                <a:solidFill>
                  <a:schemeClr val="bg2"/>
                </a:solidFill>
                <a:latin typeface="BIZ UDPゴシック" panose="020B0400000000000000" pitchFamily="50" charset="-128"/>
                <a:ea typeface="BIZ UDPゴシック" panose="020B0400000000000000" pitchFamily="50" charset="-128"/>
              </a:rPr>
            </a:br>
            <a:endParaRPr lang="en-US" altLang="ja-JP" dirty="0">
              <a:solidFill>
                <a:schemeClr val="bg2"/>
              </a:solidFill>
              <a:latin typeface="BIZ UDPゴシック" panose="020B0400000000000000" pitchFamily="50" charset="-128"/>
              <a:ea typeface="BIZ UDPゴシック" panose="020B0400000000000000" pitchFamily="50" charset="-128"/>
            </a:endParaRPr>
          </a:p>
        </p:txBody>
      </p:sp>
      <p:sp>
        <p:nvSpPr>
          <p:cNvPr id="28" name="テキスト プレースホルダー 6">
            <a:extLst>
              <a:ext uri="{FF2B5EF4-FFF2-40B4-BE49-F238E27FC236}">
                <a16:creationId xmlns:a16="http://schemas.microsoft.com/office/drawing/2014/main" id="{EC09FD7D-1C4B-5201-F22F-30265B0A3000}"/>
              </a:ext>
            </a:extLst>
          </p:cNvPr>
          <p:cNvSpPr txBox="1">
            <a:spLocks/>
          </p:cNvSpPr>
          <p:nvPr/>
        </p:nvSpPr>
        <p:spPr>
          <a:xfrm>
            <a:off x="267855" y="2418158"/>
            <a:ext cx="4821730" cy="9968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Abadi" panose="020B0604020104020204" pitchFamily="34" charset="0"/>
                <a:ea typeface="Lato"/>
                <a:cs typeface="Lato"/>
                <a:sym typeface="Lato"/>
              </a:defRPr>
            </a:lvl1pPr>
            <a:lvl2pPr marL="914400" marR="0" lvl="1"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2pPr>
            <a:lvl3pPr marL="1371600" marR="0" lvl="2"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3pPr>
            <a:lvl4pPr marL="1828800" marR="0" lvl="3"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4pPr>
            <a:lvl5pPr marL="2286000" marR="0" lvl="4"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5pPr>
            <a:lvl6pPr marL="2743200" marR="0" lvl="5"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6pPr>
            <a:lvl7pPr marL="3200400" marR="0" lvl="6"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7pPr>
            <a:lvl8pPr marL="3657600" marR="0" lvl="7"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8pPr>
            <a:lvl9pPr marL="4114800" marR="0" lvl="8" indent="-317500" algn="l" rtl="0">
              <a:lnSpc>
                <a:spcPct val="115000"/>
              </a:lnSpc>
              <a:spcBef>
                <a:spcPts val="1600"/>
              </a:spcBef>
              <a:spcAft>
                <a:spcPts val="1600"/>
              </a:spcAft>
              <a:buClr>
                <a:schemeClr val="dk2"/>
              </a:buClr>
              <a:buSzPts val="1400"/>
              <a:buFont typeface="Lato"/>
              <a:buChar char="■"/>
              <a:defRPr sz="1400" b="0" i="0" u="none" strike="noStrike" cap="none">
                <a:solidFill>
                  <a:schemeClr val="dk2"/>
                </a:solidFill>
                <a:latin typeface="Lato"/>
                <a:ea typeface="Lato"/>
                <a:cs typeface="Lato"/>
                <a:sym typeface="Lato"/>
              </a:defRPr>
            </a:lvl9pPr>
          </a:lstStyle>
          <a:p>
            <a:pPr marL="114300" indent="0">
              <a:buFont typeface="Lato"/>
              <a:buNone/>
            </a:pPr>
            <a:r>
              <a:rPr lang="ja-JP" altLang="en-US" sz="1200" dirty="0">
                <a:solidFill>
                  <a:schemeClr val="bg2">
                    <a:lumMod val="95000"/>
                    <a:lumOff val="5000"/>
                  </a:schemeClr>
                </a:solidFill>
                <a:latin typeface="BIZ UDPゴシック" panose="020B0400000000000000" pitchFamily="50" charset="-128"/>
                <a:ea typeface="BIZ UDPゴシック" panose="020B0400000000000000" pitchFamily="50" charset="-128"/>
              </a:rPr>
              <a:t>明治期の「書生」が含む意味</a:t>
            </a:r>
            <a:endParaRPr lang="en-US" altLang="ja-JP" sz="1200" dirty="0">
              <a:solidFill>
                <a:schemeClr val="bg2">
                  <a:lumMod val="95000"/>
                  <a:lumOff val="5000"/>
                </a:schemeClr>
              </a:solidFill>
              <a:latin typeface="BIZ UDPゴシック" panose="020B0400000000000000" pitchFamily="50" charset="-128"/>
              <a:ea typeface="BIZ UDPゴシック" panose="020B0400000000000000" pitchFamily="50" charset="-128"/>
            </a:endParaRPr>
          </a:p>
          <a:p>
            <a:pPr marL="114300" indent="0">
              <a:buFont typeface="Lato"/>
              <a:buNone/>
            </a:pPr>
            <a:r>
              <a:rPr lang="ja-JP" altLang="en-US" sz="1200" dirty="0">
                <a:solidFill>
                  <a:schemeClr val="bg2">
                    <a:lumMod val="95000"/>
                    <a:lumOff val="5000"/>
                  </a:schemeClr>
                </a:solidFill>
                <a:latin typeface="BIZ UDPゴシック" panose="020B0400000000000000" pitchFamily="50" charset="-128"/>
                <a:ea typeface="BIZ UDPゴシック" panose="020B0400000000000000" pitchFamily="50" charset="-128"/>
              </a:rPr>
              <a:t>　・ 他家に寄宿し家事を手伝う</a:t>
            </a:r>
            <a:endParaRPr lang="en-US" altLang="ja-JP" sz="1200" dirty="0">
              <a:solidFill>
                <a:schemeClr val="bg2">
                  <a:lumMod val="95000"/>
                  <a:lumOff val="5000"/>
                </a:schemeClr>
              </a:solidFill>
              <a:latin typeface="BIZ UDPゴシック" panose="020B0400000000000000" pitchFamily="50" charset="-128"/>
              <a:ea typeface="BIZ UDPゴシック" panose="020B0400000000000000" pitchFamily="50" charset="-128"/>
            </a:endParaRPr>
          </a:p>
          <a:p>
            <a:pPr marL="114300" indent="0">
              <a:buFont typeface="Lato"/>
              <a:buNone/>
            </a:pPr>
            <a:r>
              <a:rPr lang="ja-JP" altLang="en-US" sz="1200" dirty="0">
                <a:solidFill>
                  <a:schemeClr val="bg2">
                    <a:lumMod val="95000"/>
                    <a:lumOff val="5000"/>
                  </a:schemeClr>
                </a:solidFill>
                <a:latin typeface="BIZ UDPゴシック" panose="020B0400000000000000" pitchFamily="50" charset="-128"/>
                <a:ea typeface="BIZ UDPゴシック" panose="020B0400000000000000" pitchFamily="50" charset="-128"/>
              </a:rPr>
              <a:t>　・ 立身出世を目指す学問に励む若者</a:t>
            </a:r>
            <a:br>
              <a:rPr lang="en-US" altLang="ja-JP" dirty="0">
                <a:solidFill>
                  <a:schemeClr val="tx1"/>
                </a:solidFill>
                <a:latin typeface="BIZ UDPゴシック" panose="020B0400000000000000" pitchFamily="50" charset="-128"/>
                <a:ea typeface="BIZ UDPゴシック" panose="020B0400000000000000" pitchFamily="50" charset="-128"/>
              </a:rPr>
            </a:br>
            <a:r>
              <a:rPr lang="ja-JP" altLang="en-US" dirty="0">
                <a:solidFill>
                  <a:schemeClr val="tx1"/>
                </a:solidFill>
                <a:latin typeface="BIZ UDPゴシック" panose="020B0400000000000000" pitchFamily="50" charset="-128"/>
                <a:ea typeface="BIZ UDPゴシック" panose="020B0400000000000000" pitchFamily="50" charset="-128"/>
              </a:rPr>
              <a:t>　</a:t>
            </a:r>
            <a:r>
              <a:rPr lang="ja-JP" altLang="en-US" dirty="0">
                <a:solidFill>
                  <a:schemeClr val="bg2"/>
                </a:solidFill>
                <a:latin typeface="BIZ UDPゴシック" panose="020B0400000000000000" pitchFamily="50" charset="-128"/>
                <a:ea typeface="BIZ UDPゴシック" panose="020B0400000000000000" pitchFamily="50" charset="-128"/>
              </a:rPr>
              <a:t>⇒</a:t>
            </a:r>
            <a:r>
              <a:rPr lang="en-US" altLang="ja-JP" sz="1200" i="1" dirty="0">
                <a:solidFill>
                  <a:schemeClr val="bg2">
                    <a:lumMod val="95000"/>
                    <a:lumOff val="5000"/>
                  </a:schemeClr>
                </a:solidFill>
                <a:latin typeface="BIZ UDPゴシック" panose="020B0400000000000000" pitchFamily="50" charset="-128"/>
                <a:ea typeface="BIZ UDPゴシック" panose="020B0400000000000000" pitchFamily="50" charset="-128"/>
              </a:rPr>
              <a:t>Student</a:t>
            </a:r>
            <a:r>
              <a:rPr lang="ja-JP" altLang="en-US" sz="1200" i="1" dirty="0">
                <a:solidFill>
                  <a:schemeClr val="bg2">
                    <a:lumMod val="95000"/>
                    <a:lumOff val="5000"/>
                  </a:schemeClr>
                </a:solidFill>
                <a:latin typeface="BIZ UDPゴシック" panose="020B0400000000000000" pitchFamily="50" charset="-128"/>
                <a:ea typeface="BIZ UDPゴシック" panose="020B0400000000000000" pitchFamily="50" charset="-128"/>
              </a:rPr>
              <a:t> </a:t>
            </a:r>
            <a:r>
              <a:rPr lang="ja-JP" altLang="en-US" sz="1200" dirty="0">
                <a:solidFill>
                  <a:schemeClr val="bg2">
                    <a:lumMod val="95000"/>
                    <a:lumOff val="5000"/>
                  </a:schemeClr>
                </a:solidFill>
                <a:latin typeface="BIZ UDPゴシック" panose="020B0400000000000000" pitchFamily="50" charset="-128"/>
                <a:ea typeface="BIZ UDPゴシック" panose="020B0400000000000000" pitchFamily="50" charset="-128"/>
              </a:rPr>
              <a:t>ではこのニュアンスは伝わらない。</a:t>
            </a:r>
            <a:endParaRPr lang="en-US" altLang="ja-JP" dirty="0">
              <a:solidFill>
                <a:schemeClr val="tx1"/>
              </a:solidFill>
              <a:latin typeface="BIZ UDPゴシック" panose="020B0400000000000000" pitchFamily="50" charset="-128"/>
              <a:ea typeface="BIZ UDPゴシック" panose="020B0400000000000000" pitchFamily="50" charset="-128"/>
            </a:endParaRPr>
          </a:p>
        </p:txBody>
      </p:sp>
      <p:sp>
        <p:nvSpPr>
          <p:cNvPr id="29" name="テキスト プレースホルダー 6">
            <a:extLst>
              <a:ext uri="{FF2B5EF4-FFF2-40B4-BE49-F238E27FC236}">
                <a16:creationId xmlns:a16="http://schemas.microsoft.com/office/drawing/2014/main" id="{339AB77B-A8A6-2A7F-4527-A75901C48856}"/>
              </a:ext>
            </a:extLst>
          </p:cNvPr>
          <p:cNvSpPr txBox="1">
            <a:spLocks/>
          </p:cNvSpPr>
          <p:nvPr/>
        </p:nvSpPr>
        <p:spPr>
          <a:xfrm>
            <a:off x="-18893" y="1239132"/>
            <a:ext cx="9027490" cy="7654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Abadi" panose="020B0604020104020204" pitchFamily="34" charset="0"/>
                <a:ea typeface="Lato"/>
                <a:cs typeface="Lato"/>
                <a:sym typeface="Lato"/>
              </a:defRPr>
            </a:lvl1pPr>
            <a:lvl2pPr marL="914400" marR="0" lvl="1"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2pPr>
            <a:lvl3pPr marL="1371600" marR="0" lvl="2"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3pPr>
            <a:lvl4pPr marL="1828800" marR="0" lvl="3"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4pPr>
            <a:lvl5pPr marL="2286000" marR="0" lvl="4"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5pPr>
            <a:lvl6pPr marL="2743200" marR="0" lvl="5"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6pPr>
            <a:lvl7pPr marL="3200400" marR="0" lvl="6"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7pPr>
            <a:lvl8pPr marL="3657600" marR="0" lvl="7"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8pPr>
            <a:lvl9pPr marL="4114800" marR="0" lvl="8" indent="-317500" algn="l" rtl="0">
              <a:lnSpc>
                <a:spcPct val="115000"/>
              </a:lnSpc>
              <a:spcBef>
                <a:spcPts val="1600"/>
              </a:spcBef>
              <a:spcAft>
                <a:spcPts val="1600"/>
              </a:spcAft>
              <a:buClr>
                <a:schemeClr val="dk2"/>
              </a:buClr>
              <a:buSzPts val="1400"/>
              <a:buFont typeface="Lato"/>
              <a:buChar char="■"/>
              <a:defRPr sz="1400" b="0" i="0" u="none" strike="noStrike" cap="none">
                <a:solidFill>
                  <a:schemeClr val="dk2"/>
                </a:solidFill>
                <a:latin typeface="Lato"/>
                <a:ea typeface="Lato"/>
                <a:cs typeface="Lato"/>
                <a:sym typeface="Lato"/>
              </a:defRPr>
            </a:lvl9pPr>
          </a:lstStyle>
          <a:p>
            <a:pPr marL="114300" indent="0">
              <a:buFont typeface="Lato"/>
              <a:buNone/>
            </a:pPr>
            <a:r>
              <a:rPr lang="ja-JP" altLang="en-US" b="1" dirty="0">
                <a:solidFill>
                  <a:schemeClr val="tx1"/>
                </a:solidFill>
                <a:latin typeface="BIZ UDPゴシック" panose="020B0400000000000000" pitchFamily="50" charset="-128"/>
                <a:ea typeface="BIZ UDPゴシック" panose="020B0400000000000000" pitchFamily="50" charset="-128"/>
              </a:rPr>
              <a:t>辞書的な等価（</a:t>
            </a:r>
            <a:r>
              <a:rPr lang="en-US" altLang="ja-JP" b="1" dirty="0">
                <a:solidFill>
                  <a:schemeClr val="tx1"/>
                </a:solidFill>
                <a:latin typeface="BIZ UDPゴシック" panose="020B0400000000000000" pitchFamily="50" charset="-128"/>
                <a:ea typeface="BIZ UDPゴシック" panose="020B0400000000000000" pitchFamily="50" charset="-128"/>
              </a:rPr>
              <a:t>Established equivalent)</a:t>
            </a:r>
            <a:r>
              <a:rPr lang="ja-JP" altLang="en-US" b="1" dirty="0">
                <a:solidFill>
                  <a:schemeClr val="tx1"/>
                </a:solidFill>
                <a:latin typeface="BIZ UDPゴシック" panose="020B0400000000000000" pitchFamily="50" charset="-128"/>
                <a:ea typeface="BIZ UDPゴシック" panose="020B0400000000000000" pitchFamily="50" charset="-128"/>
              </a:rPr>
              <a:t>はあくまで言語レベルでの対応に過ぎず、その語が内包する文化的・情緒的なニュアンスは伝わらない。</a:t>
            </a:r>
            <a:br>
              <a:rPr lang="en-US" altLang="ja-JP" dirty="0">
                <a:solidFill>
                  <a:schemeClr val="tx1"/>
                </a:solidFill>
                <a:latin typeface="BIZ UDPゴシック" panose="020B0400000000000000" pitchFamily="50" charset="-128"/>
                <a:ea typeface="BIZ UDPゴシック" panose="020B0400000000000000" pitchFamily="50" charset="-128"/>
              </a:rPr>
            </a:br>
            <a:br>
              <a:rPr lang="en-US" altLang="ja-JP" dirty="0">
                <a:solidFill>
                  <a:schemeClr val="tx1"/>
                </a:solidFill>
                <a:latin typeface="BIZ UDPゴシック" panose="020B0400000000000000" pitchFamily="50" charset="-128"/>
                <a:ea typeface="BIZ UDPゴシック" panose="020B0400000000000000" pitchFamily="50" charset="-128"/>
              </a:rPr>
            </a:br>
            <a:endParaRPr lang="en-US" altLang="ja-JP" dirty="0">
              <a:solidFill>
                <a:schemeClr val="tx1"/>
              </a:solidFill>
              <a:latin typeface="BIZ UDPゴシック" panose="020B0400000000000000" pitchFamily="50" charset="-128"/>
              <a:ea typeface="BIZ UDPゴシック" panose="020B0400000000000000" pitchFamily="50" charset="-128"/>
            </a:endParaRPr>
          </a:p>
        </p:txBody>
      </p:sp>
      <p:sp>
        <p:nvSpPr>
          <p:cNvPr id="4" name="テキスト プレースホルダー 6">
            <a:extLst>
              <a:ext uri="{FF2B5EF4-FFF2-40B4-BE49-F238E27FC236}">
                <a16:creationId xmlns:a16="http://schemas.microsoft.com/office/drawing/2014/main" id="{09E25B81-4CDA-77FB-D737-518D17811B8E}"/>
              </a:ext>
            </a:extLst>
          </p:cNvPr>
          <p:cNvSpPr txBox="1">
            <a:spLocks/>
          </p:cNvSpPr>
          <p:nvPr/>
        </p:nvSpPr>
        <p:spPr>
          <a:xfrm>
            <a:off x="1777856" y="3655153"/>
            <a:ext cx="4295140" cy="4984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Abadi" panose="020B0604020104020204" pitchFamily="34" charset="0"/>
                <a:ea typeface="Lato"/>
                <a:cs typeface="Lato"/>
                <a:sym typeface="Lato"/>
              </a:defRPr>
            </a:lvl1pPr>
            <a:lvl2pPr marL="914400" marR="0" lvl="1"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2pPr>
            <a:lvl3pPr marL="1371600" marR="0" lvl="2"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3pPr>
            <a:lvl4pPr marL="1828800" marR="0" lvl="3"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4pPr>
            <a:lvl5pPr marL="2286000" marR="0" lvl="4"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5pPr>
            <a:lvl6pPr marL="2743200" marR="0" lvl="5"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6pPr>
            <a:lvl7pPr marL="3200400" marR="0" lvl="6"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7pPr>
            <a:lvl8pPr marL="3657600" marR="0" lvl="7"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8pPr>
            <a:lvl9pPr marL="4114800" marR="0" lvl="8" indent="-317500" algn="l" rtl="0">
              <a:lnSpc>
                <a:spcPct val="115000"/>
              </a:lnSpc>
              <a:spcBef>
                <a:spcPts val="1600"/>
              </a:spcBef>
              <a:spcAft>
                <a:spcPts val="1600"/>
              </a:spcAft>
              <a:buClr>
                <a:schemeClr val="dk2"/>
              </a:buClr>
              <a:buSzPts val="1400"/>
              <a:buFont typeface="Lato"/>
              <a:buChar char="■"/>
              <a:defRPr sz="1400" b="0" i="0" u="none" strike="noStrike" cap="none">
                <a:solidFill>
                  <a:schemeClr val="dk2"/>
                </a:solidFill>
                <a:latin typeface="Lato"/>
                <a:ea typeface="Lato"/>
                <a:cs typeface="Lato"/>
                <a:sym typeface="Lato"/>
              </a:defRPr>
            </a:lvl9pPr>
          </a:lstStyle>
          <a:p>
            <a:pPr marL="114300" indent="0">
              <a:buFont typeface="Lato"/>
              <a:buNone/>
            </a:pPr>
            <a:r>
              <a:rPr lang="ja-JP" altLang="en-US" sz="1600" b="1" dirty="0">
                <a:solidFill>
                  <a:schemeClr val="bg2"/>
                </a:solidFill>
                <a:latin typeface="BIZ UDPゴシック" panose="020B0400000000000000" pitchFamily="50" charset="-128"/>
                <a:ea typeface="BIZ UDPゴシック" panose="020B0400000000000000" pitchFamily="50" charset="-128"/>
              </a:rPr>
              <a:t>安易に辞書的な翻訳を使うのは危険である</a:t>
            </a:r>
            <a:endParaRPr lang="en-US" altLang="ja-JP" sz="1600" b="1" dirty="0">
              <a:solidFill>
                <a:schemeClr val="bg2"/>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116283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C4636F11-0820-EC6E-9F3E-FE4A8A3F896C}"/>
            </a:ext>
          </a:extLst>
        </p:cNvPr>
        <p:cNvGrpSpPr/>
        <p:nvPr/>
      </p:nvGrpSpPr>
      <p:grpSpPr>
        <a:xfrm>
          <a:off x="0" y="0"/>
          <a:ext cx="0" cy="0"/>
          <a:chOff x="0" y="0"/>
          <a:chExt cx="0" cy="0"/>
        </a:xfrm>
      </p:grpSpPr>
      <p:sp>
        <p:nvSpPr>
          <p:cNvPr id="115" name="Google Shape;115;p20">
            <a:extLst>
              <a:ext uri="{FF2B5EF4-FFF2-40B4-BE49-F238E27FC236}">
                <a16:creationId xmlns:a16="http://schemas.microsoft.com/office/drawing/2014/main" id="{830EBAAB-953E-077C-8250-F38631475231}"/>
              </a:ext>
            </a:extLst>
          </p:cNvPr>
          <p:cNvSpPr txBox="1">
            <a:spLocks noGrp="1"/>
          </p:cNvSpPr>
          <p:nvPr>
            <p:ph type="title"/>
          </p:nvPr>
        </p:nvSpPr>
        <p:spPr>
          <a:xfrm>
            <a:off x="267855" y="575950"/>
            <a:ext cx="8453995" cy="57419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400" dirty="0">
                <a:latin typeface="BIZ UDPゴシック" panose="020B0400000000000000" pitchFamily="50" charset="-128"/>
                <a:ea typeface="BIZ UDPゴシック" panose="020B0400000000000000" pitchFamily="50" charset="-128"/>
              </a:rPr>
              <a:t>考察③：読みやすさと異文化理解のトレードオフ</a:t>
            </a:r>
            <a:endParaRPr sz="2400" dirty="0">
              <a:latin typeface="BIZ UDPゴシック" panose="020B0400000000000000" pitchFamily="50" charset="-128"/>
              <a:ea typeface="BIZ UDPゴシック" panose="020B0400000000000000" pitchFamily="50" charset="-128"/>
            </a:endParaRPr>
          </a:p>
        </p:txBody>
      </p:sp>
      <p:sp>
        <p:nvSpPr>
          <p:cNvPr id="7" name="テキスト プレースホルダー 6">
            <a:extLst>
              <a:ext uri="{FF2B5EF4-FFF2-40B4-BE49-F238E27FC236}">
                <a16:creationId xmlns:a16="http://schemas.microsoft.com/office/drawing/2014/main" id="{51B67727-36EB-4613-BC65-6E433A51909F}"/>
              </a:ext>
            </a:extLst>
          </p:cNvPr>
          <p:cNvSpPr>
            <a:spLocks noGrp="1"/>
          </p:cNvSpPr>
          <p:nvPr>
            <p:ph type="body" idx="1"/>
          </p:nvPr>
        </p:nvSpPr>
        <p:spPr>
          <a:xfrm>
            <a:off x="383717" y="1281502"/>
            <a:ext cx="7380057" cy="711200"/>
          </a:xfrm>
        </p:spPr>
        <p:txBody>
          <a:bodyPr/>
          <a:lstStyle/>
          <a:p>
            <a:pPr marL="114300" indent="0">
              <a:buNone/>
            </a:pPr>
            <a:r>
              <a:rPr lang="ja-JP" altLang="en-US" dirty="0">
                <a:solidFill>
                  <a:schemeClr val="tx1"/>
                </a:solidFill>
                <a:latin typeface="BIZ UDPゴシック" panose="020B0400000000000000" pitchFamily="50" charset="-128"/>
                <a:ea typeface="BIZ UDPゴシック" panose="020B0400000000000000" pitchFamily="50" charset="-128"/>
              </a:rPr>
              <a:t>読者を深い異文化理解へ導こうとする</a:t>
            </a:r>
            <a:r>
              <a:rPr lang="ja-JP" altLang="en-US" dirty="0">
                <a:solidFill>
                  <a:schemeClr val="bg2">
                    <a:lumMod val="95000"/>
                    <a:lumOff val="5000"/>
                  </a:schemeClr>
                </a:solidFill>
                <a:latin typeface="BIZ UDPゴシック" panose="020B0400000000000000" pitchFamily="50" charset="-128"/>
                <a:ea typeface="BIZ UDPゴシック" panose="020B0400000000000000" pitchFamily="50" charset="-128"/>
              </a:rPr>
              <a:t>と、</a:t>
            </a:r>
            <a:endParaRPr lang="en-US" altLang="ja-JP" dirty="0">
              <a:solidFill>
                <a:schemeClr val="bg2">
                  <a:lumMod val="95000"/>
                  <a:lumOff val="5000"/>
                </a:schemeClr>
              </a:solidFill>
              <a:latin typeface="BIZ UDPゴシック" panose="020B0400000000000000" pitchFamily="50" charset="-128"/>
              <a:ea typeface="BIZ UDPゴシック" panose="020B0400000000000000" pitchFamily="50" charset="-128"/>
            </a:endParaRPr>
          </a:p>
          <a:p>
            <a:pPr marL="114300" indent="0">
              <a:buNone/>
            </a:pPr>
            <a:r>
              <a:rPr lang="ja-JP" altLang="en-US" dirty="0">
                <a:solidFill>
                  <a:schemeClr val="bg2">
                    <a:lumMod val="95000"/>
                    <a:lumOff val="5000"/>
                  </a:schemeClr>
                </a:solidFill>
                <a:latin typeface="BIZ UDPゴシック" panose="020B0400000000000000" pitchFamily="50" charset="-128"/>
                <a:ea typeface="BIZ UDPゴシック" panose="020B0400000000000000" pitchFamily="50" charset="-128"/>
              </a:rPr>
              <a:t>注釈や加筆が不可欠となり、</a:t>
            </a:r>
            <a:r>
              <a:rPr lang="ja-JP" altLang="en-US" dirty="0">
                <a:solidFill>
                  <a:schemeClr val="tx1"/>
                </a:solidFill>
                <a:latin typeface="BIZ UDPゴシック" panose="020B0400000000000000" pitchFamily="50" charset="-128"/>
                <a:ea typeface="BIZ UDPゴシック" panose="020B0400000000000000" pitchFamily="50" charset="-128"/>
              </a:rPr>
              <a:t>物語の没入感を損なう</a:t>
            </a:r>
            <a:r>
              <a:rPr lang="ja-JP" altLang="en-US" dirty="0">
                <a:solidFill>
                  <a:schemeClr val="bg2">
                    <a:lumMod val="95000"/>
                    <a:lumOff val="5000"/>
                  </a:schemeClr>
                </a:solidFill>
                <a:latin typeface="BIZ UDPゴシック" panose="020B0400000000000000" pitchFamily="50" charset="-128"/>
                <a:ea typeface="BIZ UDPゴシック" panose="020B0400000000000000" pitchFamily="50" charset="-128"/>
              </a:rPr>
              <a:t>要因ともなりうる。</a:t>
            </a:r>
            <a:br>
              <a:rPr lang="en-US" altLang="ja-JP" dirty="0">
                <a:solidFill>
                  <a:schemeClr val="bg2">
                    <a:lumMod val="95000"/>
                    <a:lumOff val="5000"/>
                  </a:schemeClr>
                </a:solidFill>
                <a:latin typeface="BIZ UDPゴシック" panose="020B0400000000000000" pitchFamily="50" charset="-128"/>
                <a:ea typeface="BIZ UDPゴシック" panose="020B0400000000000000" pitchFamily="50" charset="-128"/>
              </a:rPr>
            </a:br>
            <a:br>
              <a:rPr lang="en-US" altLang="ja-JP" dirty="0">
                <a:solidFill>
                  <a:schemeClr val="tx1"/>
                </a:solidFill>
                <a:latin typeface="BIZ UDPゴシック" panose="020B0400000000000000" pitchFamily="50" charset="-128"/>
                <a:ea typeface="BIZ UDPゴシック" panose="020B0400000000000000" pitchFamily="50" charset="-128"/>
              </a:rPr>
            </a:br>
            <a:endParaRPr lang="en-US" altLang="ja-JP" dirty="0">
              <a:solidFill>
                <a:schemeClr val="tx1"/>
              </a:solidFill>
              <a:latin typeface="BIZ UDPゴシック" panose="020B0400000000000000" pitchFamily="50" charset="-128"/>
              <a:ea typeface="BIZ UDPゴシック" panose="020B0400000000000000" pitchFamily="50" charset="-128"/>
            </a:endParaRPr>
          </a:p>
        </p:txBody>
      </p:sp>
      <p:sp>
        <p:nvSpPr>
          <p:cNvPr id="2" name="テキスト プレースホルダー 6">
            <a:extLst>
              <a:ext uri="{FF2B5EF4-FFF2-40B4-BE49-F238E27FC236}">
                <a16:creationId xmlns:a16="http://schemas.microsoft.com/office/drawing/2014/main" id="{A62B9328-E61C-88A5-4C64-4523586F2326}"/>
              </a:ext>
            </a:extLst>
          </p:cNvPr>
          <p:cNvSpPr txBox="1">
            <a:spLocks/>
          </p:cNvSpPr>
          <p:nvPr/>
        </p:nvSpPr>
        <p:spPr>
          <a:xfrm>
            <a:off x="383717" y="2302414"/>
            <a:ext cx="7845887" cy="9411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Abadi" panose="020B0604020104020204" pitchFamily="34" charset="0"/>
                <a:ea typeface="Lato"/>
                <a:cs typeface="Lato"/>
                <a:sym typeface="Lato"/>
              </a:defRPr>
            </a:lvl1pPr>
            <a:lvl2pPr marL="914400" marR="0" lvl="1"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2pPr>
            <a:lvl3pPr marL="1371600" marR="0" lvl="2"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3pPr>
            <a:lvl4pPr marL="1828800" marR="0" lvl="3"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4pPr>
            <a:lvl5pPr marL="2286000" marR="0" lvl="4"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5pPr>
            <a:lvl6pPr marL="2743200" marR="0" lvl="5"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6pPr>
            <a:lvl7pPr marL="3200400" marR="0" lvl="6"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7pPr>
            <a:lvl8pPr marL="3657600" marR="0" lvl="7"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8pPr>
            <a:lvl9pPr marL="4114800" marR="0" lvl="8" indent="-317500" algn="l" rtl="0">
              <a:lnSpc>
                <a:spcPct val="115000"/>
              </a:lnSpc>
              <a:spcBef>
                <a:spcPts val="1600"/>
              </a:spcBef>
              <a:spcAft>
                <a:spcPts val="1600"/>
              </a:spcAft>
              <a:buClr>
                <a:schemeClr val="dk2"/>
              </a:buClr>
              <a:buSzPts val="1400"/>
              <a:buFont typeface="Lato"/>
              <a:buChar char="■"/>
              <a:defRPr sz="1400" b="0" i="0" u="none" strike="noStrike" cap="none">
                <a:solidFill>
                  <a:schemeClr val="dk2"/>
                </a:solidFill>
                <a:latin typeface="Lato"/>
                <a:ea typeface="Lato"/>
                <a:cs typeface="Lato"/>
                <a:sym typeface="Lato"/>
              </a:defRPr>
            </a:lvl9pPr>
          </a:lstStyle>
          <a:p>
            <a:pPr marL="114300" indent="0">
              <a:buFont typeface="Lato"/>
              <a:buNone/>
            </a:pPr>
            <a:r>
              <a:rPr lang="ja-JP" altLang="en-US" sz="1600" dirty="0">
                <a:solidFill>
                  <a:schemeClr val="bg2">
                    <a:lumMod val="95000"/>
                    <a:lumOff val="5000"/>
                  </a:schemeClr>
                </a:solidFill>
                <a:latin typeface="BIZ UDPゴシック" panose="020B0400000000000000" pitchFamily="50" charset="-128"/>
                <a:ea typeface="BIZ UDPゴシック" panose="020B0400000000000000" pitchFamily="50" charset="-128"/>
              </a:rPr>
              <a:t>注釈や加筆➡テキストの文量が増える</a:t>
            </a:r>
            <a:endParaRPr lang="en-US" altLang="ja-JP" sz="1600" dirty="0">
              <a:solidFill>
                <a:schemeClr val="bg2">
                  <a:lumMod val="95000"/>
                  <a:lumOff val="5000"/>
                </a:schemeClr>
              </a:solidFill>
              <a:latin typeface="BIZ UDPゴシック" panose="020B0400000000000000" pitchFamily="50" charset="-128"/>
              <a:ea typeface="BIZ UDPゴシック" panose="020B0400000000000000" pitchFamily="50" charset="-128"/>
            </a:endParaRPr>
          </a:p>
          <a:p>
            <a:pPr marL="114300" indent="0">
              <a:buFont typeface="Lato"/>
              <a:buNone/>
            </a:pPr>
            <a:r>
              <a:rPr lang="en-US" altLang="ja-JP" sz="1600" dirty="0">
                <a:solidFill>
                  <a:schemeClr val="bg2">
                    <a:lumMod val="95000"/>
                    <a:lumOff val="5000"/>
                  </a:schemeClr>
                </a:solidFill>
                <a:latin typeface="BIZ UDPゴシック" panose="020B0400000000000000" pitchFamily="50" charset="-128"/>
                <a:ea typeface="BIZ UDPゴシック" panose="020B0400000000000000" pitchFamily="50" charset="-128"/>
              </a:rPr>
              <a:t>	</a:t>
            </a:r>
            <a:r>
              <a:rPr lang="ja-JP" altLang="en-US" sz="1600" dirty="0">
                <a:solidFill>
                  <a:schemeClr val="bg2">
                    <a:lumMod val="95000"/>
                    <a:lumOff val="5000"/>
                  </a:schemeClr>
                </a:solidFill>
                <a:latin typeface="BIZ UDPゴシック" panose="020B0400000000000000" pitchFamily="50" charset="-128"/>
                <a:ea typeface="BIZ UDPゴシック" panose="020B0400000000000000" pitchFamily="50" charset="-128"/>
              </a:rPr>
              <a:t>　　　　注釈や参照は視線の移動を強いる事となる</a:t>
            </a:r>
            <a:endParaRPr lang="en-US" altLang="ja-JP" sz="1600" dirty="0">
              <a:solidFill>
                <a:schemeClr val="bg2">
                  <a:lumMod val="95000"/>
                  <a:lumOff val="5000"/>
                </a:schemeClr>
              </a:solidFill>
              <a:latin typeface="BIZ UDPゴシック" panose="020B0400000000000000" pitchFamily="50" charset="-128"/>
              <a:ea typeface="BIZ UDPゴシック" panose="020B0400000000000000" pitchFamily="50" charset="-128"/>
            </a:endParaRPr>
          </a:p>
          <a:p>
            <a:pPr marL="114300" indent="0">
              <a:buFont typeface="Lato"/>
              <a:buNone/>
            </a:pPr>
            <a:r>
              <a:rPr lang="en-US" altLang="ja-JP" sz="1600" dirty="0">
                <a:solidFill>
                  <a:schemeClr val="bg2">
                    <a:lumMod val="95000"/>
                    <a:lumOff val="5000"/>
                  </a:schemeClr>
                </a:solidFill>
                <a:latin typeface="BIZ UDPゴシック" panose="020B0400000000000000" pitchFamily="50" charset="-128"/>
                <a:ea typeface="BIZ UDPゴシック" panose="020B0400000000000000" pitchFamily="50" charset="-128"/>
              </a:rPr>
              <a:t>			</a:t>
            </a:r>
            <a:r>
              <a:rPr lang="ja-JP" altLang="en-US" sz="1600" dirty="0">
                <a:solidFill>
                  <a:schemeClr val="bg2">
                    <a:lumMod val="95000"/>
                    <a:lumOff val="5000"/>
                  </a:schemeClr>
                </a:solidFill>
                <a:latin typeface="BIZ UDPゴシック" panose="020B0400000000000000" pitchFamily="50" charset="-128"/>
                <a:ea typeface="BIZ UDPゴシック" panose="020B0400000000000000" pitchFamily="50" charset="-128"/>
              </a:rPr>
              <a:t>⇒</a:t>
            </a:r>
            <a:r>
              <a:rPr lang="ja-JP" altLang="en-US" sz="1600" b="1" dirty="0">
                <a:solidFill>
                  <a:schemeClr val="bg2">
                    <a:lumMod val="95000"/>
                    <a:lumOff val="5000"/>
                  </a:schemeClr>
                </a:solidFill>
                <a:latin typeface="BIZ UDPゴシック" panose="020B0400000000000000" pitchFamily="50" charset="-128"/>
                <a:ea typeface="BIZ UDPゴシック" panose="020B0400000000000000" pitchFamily="50" charset="-128"/>
              </a:rPr>
              <a:t>物語世界への没入感を損なわせてしまう</a:t>
            </a:r>
            <a:br>
              <a:rPr lang="en-US" altLang="ja-JP" sz="1600" dirty="0">
                <a:solidFill>
                  <a:schemeClr val="bg2">
                    <a:lumMod val="95000"/>
                    <a:lumOff val="5000"/>
                  </a:schemeClr>
                </a:solidFill>
                <a:latin typeface="BIZ UDPゴシック" panose="020B0400000000000000" pitchFamily="50" charset="-128"/>
                <a:ea typeface="BIZ UDPゴシック" panose="020B0400000000000000" pitchFamily="50" charset="-128"/>
              </a:rPr>
            </a:br>
            <a:br>
              <a:rPr lang="en-US" altLang="ja-JP" sz="1600" dirty="0">
                <a:solidFill>
                  <a:schemeClr val="tx1"/>
                </a:solidFill>
                <a:latin typeface="BIZ UDPゴシック" panose="020B0400000000000000" pitchFamily="50" charset="-128"/>
                <a:ea typeface="BIZ UDPゴシック" panose="020B0400000000000000" pitchFamily="50" charset="-128"/>
              </a:rPr>
            </a:br>
            <a:endParaRPr lang="en-US" altLang="ja-JP" sz="1600" dirty="0">
              <a:solidFill>
                <a:schemeClr val="tx1"/>
              </a:solidFill>
              <a:latin typeface="BIZ UDPゴシック" panose="020B0400000000000000" pitchFamily="50" charset="-128"/>
              <a:ea typeface="BIZ UDPゴシック" panose="020B0400000000000000" pitchFamily="50" charset="-128"/>
            </a:endParaRPr>
          </a:p>
        </p:txBody>
      </p:sp>
      <p:sp>
        <p:nvSpPr>
          <p:cNvPr id="3" name="テキスト プレースホルダー 6">
            <a:extLst>
              <a:ext uri="{FF2B5EF4-FFF2-40B4-BE49-F238E27FC236}">
                <a16:creationId xmlns:a16="http://schemas.microsoft.com/office/drawing/2014/main" id="{0748ABA3-A1C2-CBA5-635C-C9D48BF31511}"/>
              </a:ext>
            </a:extLst>
          </p:cNvPr>
          <p:cNvSpPr txBox="1">
            <a:spLocks/>
          </p:cNvSpPr>
          <p:nvPr/>
        </p:nvSpPr>
        <p:spPr>
          <a:xfrm>
            <a:off x="383717" y="3506398"/>
            <a:ext cx="8816196" cy="7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Abadi" panose="020B0604020104020204" pitchFamily="34" charset="0"/>
                <a:ea typeface="Lato"/>
                <a:cs typeface="Lato"/>
                <a:sym typeface="Lato"/>
              </a:defRPr>
            </a:lvl1pPr>
            <a:lvl2pPr marL="914400" marR="0" lvl="1"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2pPr>
            <a:lvl3pPr marL="1371600" marR="0" lvl="2"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3pPr>
            <a:lvl4pPr marL="1828800" marR="0" lvl="3"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4pPr>
            <a:lvl5pPr marL="2286000" marR="0" lvl="4"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5pPr>
            <a:lvl6pPr marL="2743200" marR="0" lvl="5"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6pPr>
            <a:lvl7pPr marL="3200400" marR="0" lvl="6"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7pPr>
            <a:lvl8pPr marL="3657600" marR="0" lvl="7"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8pPr>
            <a:lvl9pPr marL="4114800" marR="0" lvl="8" indent="-317500" algn="l" rtl="0">
              <a:lnSpc>
                <a:spcPct val="115000"/>
              </a:lnSpc>
              <a:spcBef>
                <a:spcPts val="1600"/>
              </a:spcBef>
              <a:spcAft>
                <a:spcPts val="1600"/>
              </a:spcAft>
              <a:buClr>
                <a:schemeClr val="dk2"/>
              </a:buClr>
              <a:buSzPts val="1400"/>
              <a:buFont typeface="Lato"/>
              <a:buChar char="■"/>
              <a:defRPr sz="1400" b="0" i="0" u="none" strike="noStrike" cap="none">
                <a:solidFill>
                  <a:schemeClr val="dk2"/>
                </a:solidFill>
                <a:latin typeface="Lato"/>
                <a:ea typeface="Lato"/>
                <a:cs typeface="Lato"/>
                <a:sym typeface="Lato"/>
              </a:defRPr>
            </a:lvl9pPr>
          </a:lstStyle>
          <a:p>
            <a:pPr marL="114300" indent="0">
              <a:buFont typeface="Lato"/>
              <a:buNone/>
            </a:pPr>
            <a:r>
              <a:rPr lang="ja-JP" altLang="en-US" sz="1600" dirty="0">
                <a:solidFill>
                  <a:schemeClr val="bg2">
                    <a:lumMod val="95000"/>
                    <a:lumOff val="5000"/>
                  </a:schemeClr>
                </a:solidFill>
                <a:latin typeface="BIZ UDPゴシック" panose="020B0400000000000000" pitchFamily="50" charset="-128"/>
                <a:ea typeface="BIZ UDPゴシック" panose="020B0400000000000000" pitchFamily="50" charset="-128"/>
              </a:rPr>
              <a:t>小説の翻訳においては、</a:t>
            </a:r>
            <a:endParaRPr lang="en-US" altLang="ja-JP" sz="1600" dirty="0">
              <a:solidFill>
                <a:schemeClr val="bg2">
                  <a:lumMod val="95000"/>
                  <a:lumOff val="5000"/>
                </a:schemeClr>
              </a:solidFill>
              <a:latin typeface="BIZ UDPゴシック" panose="020B0400000000000000" pitchFamily="50" charset="-128"/>
              <a:ea typeface="BIZ UDPゴシック" panose="020B0400000000000000" pitchFamily="50" charset="-128"/>
            </a:endParaRPr>
          </a:p>
          <a:p>
            <a:pPr marL="114300" indent="0">
              <a:buFont typeface="Lato"/>
              <a:buNone/>
            </a:pPr>
            <a:r>
              <a:rPr lang="ja-JP" altLang="en-US" sz="1600" dirty="0">
                <a:solidFill>
                  <a:schemeClr val="bg2">
                    <a:lumMod val="95000"/>
                    <a:lumOff val="5000"/>
                  </a:schemeClr>
                </a:solidFill>
                <a:latin typeface="BIZ UDPゴシック" panose="020B0400000000000000" pitchFamily="50" charset="-128"/>
                <a:ea typeface="BIZ UDPゴシック" panose="020B0400000000000000" pitchFamily="50" charset="-128"/>
              </a:rPr>
              <a:t>この</a:t>
            </a:r>
            <a:r>
              <a:rPr lang="ja-JP" altLang="en-US" sz="1600" b="1" dirty="0">
                <a:solidFill>
                  <a:schemeClr val="bg2">
                    <a:lumMod val="95000"/>
                    <a:lumOff val="5000"/>
                  </a:schemeClr>
                </a:solidFill>
                <a:latin typeface="BIZ UDPゴシック" panose="020B0400000000000000" pitchFamily="50" charset="-128"/>
                <a:ea typeface="BIZ UDPゴシック" panose="020B0400000000000000" pitchFamily="50" charset="-128"/>
              </a:rPr>
              <a:t>異文化理解と読みやすさのバランスを取ること</a:t>
            </a:r>
            <a:r>
              <a:rPr lang="ja-JP" altLang="en-US" sz="1600" dirty="0">
                <a:solidFill>
                  <a:schemeClr val="bg2">
                    <a:lumMod val="95000"/>
                    <a:lumOff val="5000"/>
                  </a:schemeClr>
                </a:solidFill>
                <a:latin typeface="BIZ UDPゴシック" panose="020B0400000000000000" pitchFamily="50" charset="-128"/>
                <a:ea typeface="BIZ UDPゴシック" panose="020B0400000000000000" pitchFamily="50" charset="-128"/>
              </a:rPr>
              <a:t>が優れた翻訳への第一歩</a:t>
            </a:r>
            <a:br>
              <a:rPr lang="en-US" altLang="ja-JP" sz="1600" dirty="0">
                <a:solidFill>
                  <a:schemeClr val="bg2">
                    <a:lumMod val="95000"/>
                    <a:lumOff val="5000"/>
                  </a:schemeClr>
                </a:solidFill>
                <a:latin typeface="BIZ UDPゴシック" panose="020B0400000000000000" pitchFamily="50" charset="-128"/>
                <a:ea typeface="BIZ UDPゴシック" panose="020B0400000000000000" pitchFamily="50" charset="-128"/>
              </a:rPr>
            </a:br>
            <a:br>
              <a:rPr lang="en-US" altLang="ja-JP" sz="1600" dirty="0">
                <a:solidFill>
                  <a:schemeClr val="tx1"/>
                </a:solidFill>
                <a:latin typeface="BIZ UDPゴシック" panose="020B0400000000000000" pitchFamily="50" charset="-128"/>
                <a:ea typeface="BIZ UDPゴシック" panose="020B0400000000000000" pitchFamily="50" charset="-128"/>
              </a:rPr>
            </a:br>
            <a:endParaRPr lang="en-US" altLang="ja-JP" sz="16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51281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A179BAB2-315A-9FB5-BCCF-5622E0BA7B3F}"/>
            </a:ext>
          </a:extLst>
        </p:cNvPr>
        <p:cNvGrpSpPr/>
        <p:nvPr/>
      </p:nvGrpSpPr>
      <p:grpSpPr>
        <a:xfrm>
          <a:off x="0" y="0"/>
          <a:ext cx="0" cy="0"/>
          <a:chOff x="0" y="0"/>
          <a:chExt cx="0" cy="0"/>
        </a:xfrm>
      </p:grpSpPr>
      <p:sp>
        <p:nvSpPr>
          <p:cNvPr id="78" name="Google Shape;78;p14">
            <a:extLst>
              <a:ext uri="{FF2B5EF4-FFF2-40B4-BE49-F238E27FC236}">
                <a16:creationId xmlns:a16="http://schemas.microsoft.com/office/drawing/2014/main" id="{4B2AF34A-C971-E173-3131-A13E045D07D9}"/>
              </a:ext>
            </a:extLst>
          </p:cNvPr>
          <p:cNvSpPr txBox="1">
            <a:spLocks noGrp="1"/>
          </p:cNvSpPr>
          <p:nvPr>
            <p:ph type="title"/>
          </p:nvPr>
        </p:nvSpPr>
        <p:spPr>
          <a:xfrm>
            <a:off x="265500" y="1912650"/>
            <a:ext cx="4045200" cy="1318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ja" dirty="0">
                <a:latin typeface="BIZ UDPゴシック" panose="020B0400000000000000" pitchFamily="50" charset="-128"/>
                <a:ea typeface="BIZ UDPゴシック" panose="020B0400000000000000" pitchFamily="50" charset="-128"/>
              </a:rPr>
              <a:t>流れ</a:t>
            </a:r>
            <a:endParaRPr dirty="0">
              <a:latin typeface="BIZ UDPゴシック" panose="020B0400000000000000" pitchFamily="50" charset="-128"/>
              <a:ea typeface="BIZ UDPゴシック" panose="020B0400000000000000" pitchFamily="50" charset="-128"/>
            </a:endParaRPr>
          </a:p>
        </p:txBody>
      </p:sp>
      <p:sp>
        <p:nvSpPr>
          <p:cNvPr id="79" name="Google Shape;79;p14">
            <a:extLst>
              <a:ext uri="{FF2B5EF4-FFF2-40B4-BE49-F238E27FC236}">
                <a16:creationId xmlns:a16="http://schemas.microsoft.com/office/drawing/2014/main" id="{7BCA9275-994A-5947-8792-396594C7F62C}"/>
              </a:ext>
            </a:extLst>
          </p:cNvPr>
          <p:cNvSpPr txBox="1">
            <a:spLocks noGrp="1"/>
          </p:cNvSpPr>
          <p:nvPr>
            <p:ph type="body" idx="2"/>
          </p:nvPr>
        </p:nvSpPr>
        <p:spPr>
          <a:xfrm>
            <a:off x="4476750" y="724200"/>
            <a:ext cx="4755000" cy="3695100"/>
          </a:xfrm>
          <a:prstGeom prst="rect">
            <a:avLst/>
          </a:prstGeom>
        </p:spPr>
        <p:txBody>
          <a:bodyPr spcFirstLastPara="1" wrap="square" lIns="91425" tIns="91425" rIns="91425" bIns="91425" anchor="ctr" anchorCtr="0">
            <a:noAutofit/>
          </a:bodyPr>
          <a:lstStyle/>
          <a:p>
            <a:pPr marL="133350" lvl="0" indent="0">
              <a:buSzPts val="1500"/>
              <a:buNone/>
            </a:pPr>
            <a:r>
              <a:rPr lang="ja-JP" altLang="en-US" sz="1600" b="1" strike="sngStrike" dirty="0">
                <a:latin typeface="BIZ UDPゴシック" panose="020B0400000000000000" pitchFamily="50" charset="-128"/>
                <a:ea typeface="BIZ UDPゴシック" panose="020B0400000000000000" pitchFamily="50" charset="-128"/>
              </a:rPr>
              <a:t>１．  翻訳の例： 訳し方で読者の理解は変わる</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strike="sngStrike" dirty="0">
                <a:latin typeface="BIZ UDPゴシック" panose="020B0400000000000000" pitchFamily="50" charset="-128"/>
                <a:ea typeface="BIZ UDPゴシック" panose="020B0400000000000000" pitchFamily="50" charset="-128"/>
              </a:rPr>
              <a:t>２</a:t>
            </a:r>
            <a:r>
              <a:rPr lang="en-US" altLang="ja-JP" sz="1600" b="1" strike="sngStrike" dirty="0">
                <a:latin typeface="BIZ UDPゴシック" panose="020B0400000000000000" pitchFamily="50" charset="-128"/>
                <a:ea typeface="BIZ UDPゴシック" panose="020B0400000000000000" pitchFamily="50" charset="-128"/>
              </a:rPr>
              <a:t>.</a:t>
            </a:r>
            <a:r>
              <a:rPr lang="ja-JP" altLang="en-US" sz="1600" b="1" strike="sngStrike" dirty="0">
                <a:latin typeface="BIZ UDPゴシック" panose="020B0400000000000000" pitchFamily="50" charset="-128"/>
                <a:ea typeface="BIZ UDPゴシック" panose="020B0400000000000000" pitchFamily="50" charset="-128"/>
              </a:rPr>
              <a:t>  研究目的</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en-US" sz="1600" b="1" strike="sngStrike" dirty="0">
                <a:latin typeface="BIZ UDPゴシック" panose="020B0400000000000000" pitchFamily="50" charset="-128"/>
                <a:ea typeface="BIZ UDPゴシック" panose="020B0400000000000000" pitchFamily="50" charset="-128"/>
              </a:rPr>
              <a:t>3.</a:t>
            </a:r>
            <a:r>
              <a:rPr lang="ja-JP" altLang="en-US" sz="1600" b="1" strike="sngStrike" dirty="0">
                <a:latin typeface="BIZ UDPゴシック" panose="020B0400000000000000" pitchFamily="50" charset="-128"/>
                <a:ea typeface="BIZ UDPゴシック" panose="020B0400000000000000" pitchFamily="50" charset="-128"/>
              </a:rPr>
              <a:t>  分析方法</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en-US" sz="1600" b="1" strike="sngStrike" dirty="0">
                <a:latin typeface="BIZ UDPゴシック" panose="020B0400000000000000" pitchFamily="50" charset="-128"/>
                <a:ea typeface="BIZ UDPゴシック" panose="020B0400000000000000" pitchFamily="50" charset="-128"/>
              </a:rPr>
              <a:t>4.</a:t>
            </a:r>
            <a:r>
              <a:rPr lang="ja-JP" altLang="en-US" sz="1600" b="1" strike="sngStrike" dirty="0">
                <a:latin typeface="BIZ UDPゴシック" panose="020B0400000000000000" pitchFamily="50" charset="-128"/>
                <a:ea typeface="BIZ UDPゴシック" panose="020B0400000000000000" pitchFamily="50" charset="-128"/>
              </a:rPr>
              <a:t> </a:t>
            </a:r>
            <a:r>
              <a:rPr lang="en-US" sz="1600" b="1" strike="sngStrike" dirty="0">
                <a:latin typeface="BIZ UDPゴシック" panose="020B0400000000000000" pitchFamily="50" charset="-128"/>
                <a:ea typeface="BIZ UDPゴシック" panose="020B0400000000000000" pitchFamily="50" charset="-128"/>
              </a:rPr>
              <a:t> </a:t>
            </a:r>
            <a:r>
              <a:rPr lang="ja-JP" altLang="en-US" sz="1600" b="1" strike="sngStrike" dirty="0">
                <a:latin typeface="BIZ UDPゴシック" panose="020B0400000000000000" pitchFamily="50" charset="-128"/>
                <a:ea typeface="BIZ UDPゴシック" panose="020B0400000000000000" pitchFamily="50" charset="-128"/>
              </a:rPr>
              <a:t>分析結果（全体傾向と相関分析結果）</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strike="sngStrike" dirty="0">
                <a:latin typeface="BIZ UDPゴシック" panose="020B0400000000000000" pitchFamily="50" charset="-128"/>
                <a:ea typeface="BIZ UDPゴシック" panose="020B0400000000000000" pitchFamily="50" charset="-128"/>
              </a:rPr>
              <a:t>５</a:t>
            </a:r>
            <a:r>
              <a:rPr lang="en-US" altLang="ja-JP" sz="1600" b="1" strike="sngStrike" dirty="0">
                <a:latin typeface="BIZ UDPゴシック" panose="020B0400000000000000" pitchFamily="50" charset="-128"/>
                <a:ea typeface="BIZ UDPゴシック" panose="020B0400000000000000" pitchFamily="50" charset="-128"/>
              </a:rPr>
              <a:t>.</a:t>
            </a:r>
            <a:r>
              <a:rPr lang="ja-JP" altLang="en-US" sz="1600" b="1" strike="sngStrike" dirty="0">
                <a:latin typeface="BIZ UDPゴシック" panose="020B0400000000000000" pitchFamily="50" charset="-128"/>
                <a:ea typeface="BIZ UDPゴシック" panose="020B0400000000000000" pitchFamily="50" charset="-128"/>
              </a:rPr>
              <a:t>  考察</a:t>
            </a:r>
            <a:endParaRPr lang="en-US" altLang="ja-JP" sz="1600" b="1" strike="sngStrike" dirty="0">
              <a:latin typeface="BIZ UDPゴシック" panose="020B0400000000000000" pitchFamily="50" charset="-128"/>
              <a:ea typeface="BIZ UDPゴシック" panose="020B0400000000000000" pitchFamily="50" charset="-128"/>
            </a:endParaRPr>
          </a:p>
          <a:p>
            <a:pPr marL="133350" lvl="0" indent="0">
              <a:buSzPts val="1500"/>
              <a:buNone/>
            </a:pPr>
            <a:r>
              <a:rPr lang="ja-JP" altLang="en-US" sz="1600" b="1" dirty="0">
                <a:latin typeface="BIZ UDPゴシック" panose="020B0400000000000000" pitchFamily="50" charset="-128"/>
                <a:ea typeface="BIZ UDPゴシック" panose="020B0400000000000000" pitchFamily="50" charset="-128"/>
              </a:rPr>
              <a:t>６． 結論 ・ 今後の課題</a:t>
            </a:r>
            <a:endParaRPr lang="en-US" altLang="ja-JP" sz="1600" b="1"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428903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7F45BC61-C5EB-2062-ED50-26E5CF605777}"/>
            </a:ext>
          </a:extLst>
        </p:cNvPr>
        <p:cNvGrpSpPr/>
        <p:nvPr/>
      </p:nvGrpSpPr>
      <p:grpSpPr>
        <a:xfrm>
          <a:off x="0" y="0"/>
          <a:ext cx="0" cy="0"/>
          <a:chOff x="0" y="0"/>
          <a:chExt cx="0" cy="0"/>
        </a:xfrm>
      </p:grpSpPr>
      <p:sp>
        <p:nvSpPr>
          <p:cNvPr id="115" name="Google Shape;115;p20">
            <a:extLst>
              <a:ext uri="{FF2B5EF4-FFF2-40B4-BE49-F238E27FC236}">
                <a16:creationId xmlns:a16="http://schemas.microsoft.com/office/drawing/2014/main" id="{14866CD9-1747-E7B3-6A91-A5B86B67C97F}"/>
              </a:ext>
            </a:extLst>
          </p:cNvPr>
          <p:cNvSpPr txBox="1">
            <a:spLocks noGrp="1"/>
          </p:cNvSpPr>
          <p:nvPr>
            <p:ph type="title"/>
          </p:nvPr>
        </p:nvSpPr>
        <p:spPr>
          <a:xfrm>
            <a:off x="267855" y="575950"/>
            <a:ext cx="8453995" cy="57419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2400" dirty="0">
                <a:latin typeface="BIZ UDPゴシック" panose="020B0400000000000000" pitchFamily="50" charset="-128"/>
                <a:ea typeface="BIZ UDPゴシック" panose="020B0400000000000000" pitchFamily="50" charset="-128"/>
              </a:rPr>
              <a:t>結論 ・ 今後の課題</a:t>
            </a:r>
            <a:endParaRPr sz="2400" dirty="0">
              <a:latin typeface="BIZ UDPゴシック" panose="020B0400000000000000" pitchFamily="50" charset="-128"/>
              <a:ea typeface="BIZ UDPゴシック" panose="020B0400000000000000" pitchFamily="50" charset="-128"/>
            </a:endParaRPr>
          </a:p>
        </p:txBody>
      </p:sp>
      <p:sp>
        <p:nvSpPr>
          <p:cNvPr id="2" name="テキスト プレースホルダー 6">
            <a:extLst>
              <a:ext uri="{FF2B5EF4-FFF2-40B4-BE49-F238E27FC236}">
                <a16:creationId xmlns:a16="http://schemas.microsoft.com/office/drawing/2014/main" id="{78D66C23-59D2-FE78-6F37-F3F8A9EC910E}"/>
              </a:ext>
            </a:extLst>
          </p:cNvPr>
          <p:cNvSpPr txBox="1">
            <a:spLocks/>
          </p:cNvSpPr>
          <p:nvPr/>
        </p:nvSpPr>
        <p:spPr>
          <a:xfrm>
            <a:off x="267855" y="1258617"/>
            <a:ext cx="7845887" cy="14500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Abadi" panose="020B0604020104020204" pitchFamily="34" charset="0"/>
                <a:ea typeface="Lato"/>
                <a:cs typeface="Lato"/>
                <a:sym typeface="Lato"/>
              </a:defRPr>
            </a:lvl1pPr>
            <a:lvl2pPr marL="914400" marR="0" lvl="1"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2pPr>
            <a:lvl3pPr marL="1371600" marR="0" lvl="2"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3pPr>
            <a:lvl4pPr marL="1828800" marR="0" lvl="3"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4pPr>
            <a:lvl5pPr marL="2286000" marR="0" lvl="4"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5pPr>
            <a:lvl6pPr marL="2743200" marR="0" lvl="5"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6pPr>
            <a:lvl7pPr marL="3200400" marR="0" lvl="6"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7pPr>
            <a:lvl8pPr marL="3657600" marR="0" lvl="7"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8pPr>
            <a:lvl9pPr marL="4114800" marR="0" lvl="8" indent="-317500" algn="l" rtl="0">
              <a:lnSpc>
                <a:spcPct val="115000"/>
              </a:lnSpc>
              <a:spcBef>
                <a:spcPts val="1600"/>
              </a:spcBef>
              <a:spcAft>
                <a:spcPts val="1600"/>
              </a:spcAft>
              <a:buClr>
                <a:schemeClr val="dk2"/>
              </a:buClr>
              <a:buSzPts val="1400"/>
              <a:buFont typeface="Lato"/>
              <a:buChar char="■"/>
              <a:defRPr sz="1400" b="0" i="0" u="none" strike="noStrike" cap="none">
                <a:solidFill>
                  <a:schemeClr val="dk2"/>
                </a:solidFill>
                <a:latin typeface="Lato"/>
                <a:ea typeface="Lato"/>
                <a:cs typeface="Lato"/>
                <a:sym typeface="Lato"/>
              </a:defRPr>
            </a:lvl9pPr>
          </a:lstStyle>
          <a:p>
            <a:pPr marL="114300" indent="0">
              <a:buFont typeface="Lato"/>
              <a:buNone/>
            </a:pPr>
            <a:r>
              <a:rPr lang="ja-JP" altLang="en-US" b="1" dirty="0">
                <a:solidFill>
                  <a:schemeClr val="bg2">
                    <a:lumMod val="95000"/>
                    <a:lumOff val="5000"/>
                  </a:schemeClr>
                </a:solidFill>
                <a:latin typeface="BIZ UDPゴシック" panose="020B0400000000000000" pitchFamily="50" charset="-128"/>
                <a:ea typeface="BIZ UDPゴシック" panose="020B0400000000000000" pitchFamily="50" charset="-128"/>
              </a:rPr>
              <a:t>結論</a:t>
            </a:r>
            <a:endParaRPr lang="en-US" altLang="ja-JP" b="1" dirty="0">
              <a:solidFill>
                <a:schemeClr val="bg2">
                  <a:lumMod val="95000"/>
                  <a:lumOff val="5000"/>
                </a:schemeClr>
              </a:solidFill>
              <a:latin typeface="BIZ UDPゴシック" panose="020B0400000000000000" pitchFamily="50" charset="-128"/>
              <a:ea typeface="BIZ UDPゴシック" panose="020B0400000000000000" pitchFamily="50" charset="-128"/>
            </a:endParaRPr>
          </a:p>
          <a:p>
            <a:pPr marL="114300" indent="0">
              <a:buFont typeface="Lato"/>
              <a:buNone/>
            </a:pPr>
            <a:r>
              <a:rPr lang="ja-JP" altLang="en-US" dirty="0">
                <a:solidFill>
                  <a:schemeClr val="bg2">
                    <a:lumMod val="95000"/>
                    <a:lumOff val="5000"/>
                  </a:schemeClr>
                </a:solidFill>
                <a:latin typeface="BIZ UDPゴシック" panose="020B0400000000000000" pitchFamily="50" charset="-128"/>
                <a:ea typeface="BIZ UDPゴシック" panose="020B0400000000000000" pitchFamily="50" charset="-128"/>
              </a:rPr>
              <a:t>・ 翻訳技法は読者の理解を制御する機能を持つ　</a:t>
            </a:r>
            <a:r>
              <a:rPr lang="ja-JP" altLang="en-US" sz="1400" dirty="0">
                <a:solidFill>
                  <a:schemeClr val="tx2">
                    <a:lumMod val="75000"/>
                  </a:schemeClr>
                </a:solidFill>
                <a:latin typeface="BIZ UDPゴシック" panose="020B0400000000000000" pitchFamily="50" charset="-128"/>
                <a:ea typeface="BIZ UDPゴシック" panose="020B0400000000000000" pitchFamily="50" charset="-128"/>
              </a:rPr>
              <a:t>翻訳技法とＤＭＩＳの相関</a:t>
            </a:r>
            <a:endParaRPr lang="en-US" altLang="ja-JP" sz="1400" dirty="0">
              <a:solidFill>
                <a:schemeClr val="tx2">
                  <a:lumMod val="75000"/>
                </a:schemeClr>
              </a:solidFill>
              <a:latin typeface="BIZ UDPゴシック" panose="020B0400000000000000" pitchFamily="50" charset="-128"/>
              <a:ea typeface="BIZ UDPゴシック" panose="020B0400000000000000" pitchFamily="50" charset="-128"/>
            </a:endParaRPr>
          </a:p>
          <a:p>
            <a:pPr marL="114300" indent="0">
              <a:buFont typeface="Lato"/>
              <a:buNone/>
            </a:pPr>
            <a:r>
              <a:rPr lang="ja-JP" altLang="en-US" dirty="0">
                <a:solidFill>
                  <a:schemeClr val="bg2">
                    <a:lumMod val="95000"/>
                    <a:lumOff val="5000"/>
                  </a:schemeClr>
                </a:solidFill>
                <a:latin typeface="BIZ UDPゴシック" panose="020B0400000000000000" pitchFamily="50" charset="-128"/>
                <a:ea typeface="BIZ UDPゴシック" panose="020B0400000000000000" pitchFamily="50" charset="-128"/>
              </a:rPr>
              <a:t>・ 辞書的等価の再考　</a:t>
            </a:r>
            <a:r>
              <a:rPr lang="ja-JP" altLang="en-US" sz="1400" dirty="0">
                <a:solidFill>
                  <a:schemeClr val="tx2">
                    <a:lumMod val="75000"/>
                  </a:schemeClr>
                </a:solidFill>
                <a:latin typeface="BIZ UDPゴシック" panose="020B0400000000000000" pitchFamily="50" charset="-128"/>
                <a:ea typeface="BIZ UDPゴシック" panose="020B0400000000000000" pitchFamily="50" charset="-128"/>
              </a:rPr>
              <a:t>辞書の対訳は同化した理解をもたらす</a:t>
            </a:r>
            <a:endParaRPr lang="en-US" altLang="ja-JP" sz="1400" dirty="0">
              <a:solidFill>
                <a:schemeClr val="tx2">
                  <a:lumMod val="75000"/>
                </a:schemeClr>
              </a:solidFill>
              <a:latin typeface="BIZ UDPゴシック" panose="020B0400000000000000" pitchFamily="50" charset="-128"/>
              <a:ea typeface="BIZ UDPゴシック" panose="020B0400000000000000" pitchFamily="50" charset="-128"/>
            </a:endParaRPr>
          </a:p>
          <a:p>
            <a:pPr marL="114300" indent="0">
              <a:buFont typeface="Lato"/>
              <a:buNone/>
            </a:pPr>
            <a:r>
              <a:rPr lang="ja-JP" altLang="en-US" dirty="0">
                <a:solidFill>
                  <a:schemeClr val="bg2">
                    <a:lumMod val="95000"/>
                    <a:lumOff val="5000"/>
                  </a:schemeClr>
                </a:solidFill>
                <a:latin typeface="BIZ UDPゴシック" panose="020B0400000000000000" pitchFamily="50" charset="-128"/>
                <a:ea typeface="BIZ UDPゴシック" panose="020B0400000000000000" pitchFamily="50" charset="-128"/>
              </a:rPr>
              <a:t>・ 翻訳戦略のトレードオフ　</a:t>
            </a:r>
            <a:r>
              <a:rPr lang="ja-JP" altLang="en-US" sz="1400" dirty="0">
                <a:solidFill>
                  <a:schemeClr val="tx2">
                    <a:lumMod val="75000"/>
                  </a:schemeClr>
                </a:solidFill>
                <a:latin typeface="BIZ UDPゴシック" panose="020B0400000000000000" pitchFamily="50" charset="-128"/>
                <a:ea typeface="BIZ UDPゴシック" panose="020B0400000000000000" pitchFamily="50" charset="-128"/>
              </a:rPr>
              <a:t>「読みやすさ（没入感）」 と 「深い異文化理解」</a:t>
            </a:r>
            <a:br>
              <a:rPr lang="en-US" altLang="ja-JP" sz="1400" dirty="0">
                <a:solidFill>
                  <a:schemeClr val="tx2">
                    <a:lumMod val="75000"/>
                  </a:schemeClr>
                </a:solidFill>
                <a:latin typeface="BIZ UDPゴシック" panose="020B0400000000000000" pitchFamily="50" charset="-128"/>
                <a:ea typeface="BIZ UDPゴシック" panose="020B0400000000000000" pitchFamily="50" charset="-128"/>
              </a:rPr>
            </a:br>
            <a:br>
              <a:rPr lang="en-US" altLang="ja-JP" sz="1400" dirty="0">
                <a:solidFill>
                  <a:schemeClr val="tx2">
                    <a:lumMod val="75000"/>
                  </a:schemeClr>
                </a:solidFill>
                <a:latin typeface="BIZ UDPゴシック" panose="020B0400000000000000" pitchFamily="50" charset="-128"/>
                <a:ea typeface="BIZ UDPゴシック" panose="020B0400000000000000" pitchFamily="50" charset="-128"/>
              </a:rPr>
            </a:br>
            <a:endParaRPr lang="en-US" altLang="ja-JP" sz="1400" dirty="0">
              <a:solidFill>
                <a:schemeClr val="tx2">
                  <a:lumMod val="75000"/>
                </a:schemeClr>
              </a:solidFill>
              <a:latin typeface="BIZ UDPゴシック" panose="020B0400000000000000" pitchFamily="50" charset="-128"/>
              <a:ea typeface="BIZ UDPゴシック" panose="020B0400000000000000" pitchFamily="50" charset="-128"/>
            </a:endParaRPr>
          </a:p>
        </p:txBody>
      </p:sp>
      <p:sp>
        <p:nvSpPr>
          <p:cNvPr id="6" name="テキスト プレースホルダー 6">
            <a:extLst>
              <a:ext uri="{FF2B5EF4-FFF2-40B4-BE49-F238E27FC236}">
                <a16:creationId xmlns:a16="http://schemas.microsoft.com/office/drawing/2014/main" id="{2D0EAC8A-02E8-366C-0507-F8A49A7FEC0F}"/>
              </a:ext>
            </a:extLst>
          </p:cNvPr>
          <p:cNvSpPr txBox="1">
            <a:spLocks/>
          </p:cNvSpPr>
          <p:nvPr/>
        </p:nvSpPr>
        <p:spPr>
          <a:xfrm>
            <a:off x="267855" y="2817167"/>
            <a:ext cx="7845887" cy="10677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Abadi" panose="020B0604020104020204" pitchFamily="34" charset="0"/>
                <a:ea typeface="Lato"/>
                <a:cs typeface="Lato"/>
                <a:sym typeface="Lato"/>
              </a:defRPr>
            </a:lvl1pPr>
            <a:lvl2pPr marL="914400" marR="0" lvl="1"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2pPr>
            <a:lvl3pPr marL="1371600" marR="0" lvl="2"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3pPr>
            <a:lvl4pPr marL="1828800" marR="0" lvl="3"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4pPr>
            <a:lvl5pPr marL="2286000" marR="0" lvl="4"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5pPr>
            <a:lvl6pPr marL="2743200" marR="0" lvl="5"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6pPr>
            <a:lvl7pPr marL="3200400" marR="0" lvl="6"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7pPr>
            <a:lvl8pPr marL="3657600" marR="0" lvl="7" indent="-317500" algn="l" rtl="0">
              <a:lnSpc>
                <a:spcPct val="115000"/>
              </a:lnSpc>
              <a:spcBef>
                <a:spcPts val="160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8pPr>
            <a:lvl9pPr marL="4114800" marR="0" lvl="8" indent="-317500" algn="l" rtl="0">
              <a:lnSpc>
                <a:spcPct val="115000"/>
              </a:lnSpc>
              <a:spcBef>
                <a:spcPts val="1600"/>
              </a:spcBef>
              <a:spcAft>
                <a:spcPts val="1600"/>
              </a:spcAft>
              <a:buClr>
                <a:schemeClr val="dk2"/>
              </a:buClr>
              <a:buSzPts val="1400"/>
              <a:buFont typeface="Lato"/>
              <a:buChar char="■"/>
              <a:defRPr sz="1400" b="0" i="0" u="none" strike="noStrike" cap="none">
                <a:solidFill>
                  <a:schemeClr val="dk2"/>
                </a:solidFill>
                <a:latin typeface="Lato"/>
                <a:ea typeface="Lato"/>
                <a:cs typeface="Lato"/>
                <a:sym typeface="Lato"/>
              </a:defRPr>
            </a:lvl9pPr>
          </a:lstStyle>
          <a:p>
            <a:pPr marL="114300" indent="0">
              <a:buFont typeface="Lato"/>
              <a:buNone/>
            </a:pPr>
            <a:r>
              <a:rPr lang="ja-JP" altLang="en-US" b="1" dirty="0">
                <a:solidFill>
                  <a:schemeClr val="bg2">
                    <a:lumMod val="95000"/>
                    <a:lumOff val="5000"/>
                  </a:schemeClr>
                </a:solidFill>
                <a:latin typeface="BIZ UDPゴシック" panose="020B0400000000000000" pitchFamily="50" charset="-128"/>
                <a:ea typeface="BIZ UDPゴシック" panose="020B0400000000000000" pitchFamily="50" charset="-128"/>
              </a:rPr>
              <a:t>今後の課題</a:t>
            </a:r>
            <a:endParaRPr lang="en-US" altLang="ja-JP" b="1" dirty="0">
              <a:solidFill>
                <a:schemeClr val="bg2">
                  <a:lumMod val="95000"/>
                  <a:lumOff val="5000"/>
                </a:schemeClr>
              </a:solidFill>
              <a:latin typeface="BIZ UDPゴシック" panose="020B0400000000000000" pitchFamily="50" charset="-128"/>
              <a:ea typeface="BIZ UDPゴシック" panose="020B0400000000000000" pitchFamily="50" charset="-128"/>
            </a:endParaRPr>
          </a:p>
          <a:p>
            <a:pPr marL="114300" indent="0">
              <a:buFont typeface="Lato"/>
              <a:buNone/>
            </a:pPr>
            <a:r>
              <a:rPr lang="ja-JP" altLang="en-US" dirty="0">
                <a:solidFill>
                  <a:schemeClr val="bg2">
                    <a:lumMod val="95000"/>
                    <a:lumOff val="5000"/>
                  </a:schemeClr>
                </a:solidFill>
                <a:latin typeface="BIZ UDPゴシック" panose="020B0400000000000000" pitchFamily="50" charset="-128"/>
                <a:ea typeface="BIZ UDPゴシック" panose="020B0400000000000000" pitchFamily="50" charset="-128"/>
              </a:rPr>
              <a:t>・ 実証実験による検証　</a:t>
            </a:r>
            <a:r>
              <a:rPr lang="ja-JP" altLang="en-US" sz="1400" dirty="0">
                <a:solidFill>
                  <a:schemeClr val="tx2">
                    <a:lumMod val="75000"/>
                  </a:schemeClr>
                </a:solidFill>
                <a:latin typeface="BIZ UDPゴシック" panose="020B0400000000000000" pitchFamily="50" charset="-128"/>
                <a:ea typeface="BIZ UDPゴシック" panose="020B0400000000000000" pitchFamily="50" charset="-128"/>
              </a:rPr>
              <a:t>実際の読者を対象としたアンケート等</a:t>
            </a:r>
            <a:endParaRPr lang="en-US" altLang="ja-JP" sz="1400" dirty="0">
              <a:solidFill>
                <a:schemeClr val="tx2">
                  <a:lumMod val="75000"/>
                </a:schemeClr>
              </a:solidFill>
              <a:latin typeface="BIZ UDPゴシック" panose="020B0400000000000000" pitchFamily="50" charset="-128"/>
              <a:ea typeface="BIZ UDPゴシック" panose="020B0400000000000000" pitchFamily="50" charset="-128"/>
            </a:endParaRPr>
          </a:p>
          <a:p>
            <a:pPr marL="114300" indent="0">
              <a:buFont typeface="Lato"/>
              <a:buNone/>
            </a:pPr>
            <a:r>
              <a:rPr lang="ja-JP" altLang="en-US" dirty="0">
                <a:solidFill>
                  <a:schemeClr val="bg2">
                    <a:lumMod val="95000"/>
                    <a:lumOff val="5000"/>
                  </a:schemeClr>
                </a:solidFill>
                <a:latin typeface="BIZ UDPゴシック" panose="020B0400000000000000" pitchFamily="50" charset="-128"/>
                <a:ea typeface="BIZ UDPゴシック" panose="020B0400000000000000" pitchFamily="50" charset="-128"/>
              </a:rPr>
              <a:t>・ ジャンルを横断した分析　</a:t>
            </a:r>
            <a:r>
              <a:rPr lang="ja-JP" altLang="en-US" sz="1400" dirty="0">
                <a:solidFill>
                  <a:schemeClr val="tx2">
                    <a:lumMod val="75000"/>
                  </a:schemeClr>
                </a:solidFill>
                <a:latin typeface="BIZ UDPゴシック" panose="020B0400000000000000" pitchFamily="50" charset="-128"/>
                <a:ea typeface="BIZ UDPゴシック" panose="020B0400000000000000" pitchFamily="50" charset="-128"/>
              </a:rPr>
              <a:t>現代文学や実務文書等でも同様の相関が見られるか？</a:t>
            </a:r>
            <a:br>
              <a:rPr lang="en-US" altLang="ja-JP" sz="1600" dirty="0">
                <a:solidFill>
                  <a:schemeClr val="bg2">
                    <a:lumMod val="95000"/>
                    <a:lumOff val="5000"/>
                  </a:schemeClr>
                </a:solidFill>
                <a:latin typeface="BIZ UDPゴシック" panose="020B0400000000000000" pitchFamily="50" charset="-128"/>
                <a:ea typeface="BIZ UDPゴシック" panose="020B0400000000000000" pitchFamily="50" charset="-128"/>
              </a:rPr>
            </a:br>
            <a:br>
              <a:rPr lang="en-US" altLang="ja-JP" sz="1600" dirty="0">
                <a:solidFill>
                  <a:schemeClr val="tx1"/>
                </a:solidFill>
                <a:latin typeface="BIZ UDPゴシック" panose="020B0400000000000000" pitchFamily="50" charset="-128"/>
                <a:ea typeface="BIZ UDPゴシック" panose="020B0400000000000000" pitchFamily="50" charset="-128"/>
              </a:rPr>
            </a:br>
            <a:endParaRPr lang="en-US" altLang="ja-JP" sz="1600" dirty="0">
              <a:solidFill>
                <a:schemeClr val="tx1"/>
              </a:solidFill>
              <a:latin typeface="BIZ UDPゴシック" panose="020B0400000000000000" pitchFamily="50" charset="-128"/>
              <a:ea typeface="BIZ UDPゴシック" panose="020B0400000000000000" pitchFamily="50" charset="-128"/>
            </a:endParaRPr>
          </a:p>
        </p:txBody>
      </p:sp>
      <p:sp>
        <p:nvSpPr>
          <p:cNvPr id="8" name="Google Shape;115;p20">
            <a:extLst>
              <a:ext uri="{FF2B5EF4-FFF2-40B4-BE49-F238E27FC236}">
                <a16:creationId xmlns:a16="http://schemas.microsoft.com/office/drawing/2014/main" id="{17553C5E-50CB-EF94-FBAC-6B72886E931B}"/>
              </a:ext>
            </a:extLst>
          </p:cNvPr>
          <p:cNvSpPr txBox="1">
            <a:spLocks/>
          </p:cNvSpPr>
          <p:nvPr/>
        </p:nvSpPr>
        <p:spPr>
          <a:xfrm>
            <a:off x="1846488" y="4661995"/>
            <a:ext cx="4485301" cy="57419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Abadi" panose="020B0604020104020204" pitchFamily="34" charset="0"/>
                <a:ea typeface="Raleway"/>
                <a:cs typeface="Raleway"/>
                <a:sym typeface="Raleway"/>
              </a:defRPr>
            </a:lvl1pPr>
            <a:lvl2pPr marR="0" lvl="1"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3000"/>
              <a:buFont typeface="Raleway"/>
              <a:buNone/>
              <a:defRPr sz="3000" b="1" i="0" u="none" strike="noStrike" cap="none">
                <a:solidFill>
                  <a:schemeClr val="dk2"/>
                </a:solidFill>
                <a:latin typeface="Raleway"/>
                <a:ea typeface="Raleway"/>
                <a:cs typeface="Raleway"/>
                <a:sym typeface="Raleway"/>
              </a:defRPr>
            </a:lvl9pPr>
          </a:lstStyle>
          <a:p>
            <a:r>
              <a:rPr lang="ja-JP" altLang="en-US" sz="2400" dirty="0">
                <a:latin typeface="BIZ UDPゴシック" panose="020B0400000000000000" pitchFamily="50" charset="-128"/>
                <a:ea typeface="BIZ UDPゴシック" panose="020B0400000000000000" pitchFamily="50" charset="-128"/>
              </a:rPr>
              <a:t>ご清聴ありがとうございました。</a:t>
            </a:r>
          </a:p>
        </p:txBody>
      </p:sp>
    </p:spTree>
    <p:extLst>
      <p:ext uri="{BB962C8B-B14F-4D97-AF65-F5344CB8AC3E}">
        <p14:creationId xmlns:p14="http://schemas.microsoft.com/office/powerpoint/2010/main" val="3068295118"/>
      </p:ext>
    </p:extLst>
  </p:cSld>
  <p:clrMapOvr>
    <a:masterClrMapping/>
  </p:clrMapOvr>
</p:sld>
</file>

<file path=ppt/theme/theme1.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1453</TotalTime>
  <Words>1892</Words>
  <Application>Microsoft Office PowerPoint</Application>
  <PresentationFormat>画面に合わせる (16:9)</PresentationFormat>
  <Paragraphs>227</Paragraphs>
  <Slides>18</Slides>
  <Notes>18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18</vt:i4>
      </vt:variant>
    </vt:vector>
  </HeadingPairs>
  <TitlesOfParts>
    <vt:vector size="24" baseType="lpstr">
      <vt:lpstr>Abadi</vt:lpstr>
      <vt:lpstr>Arial</vt:lpstr>
      <vt:lpstr>Raleway</vt:lpstr>
      <vt:lpstr>BIZ UDPゴシック</vt:lpstr>
      <vt:lpstr>Lato</vt:lpstr>
      <vt:lpstr>Swiss</vt:lpstr>
      <vt:lpstr>異文化感受性発達モデル（DMIS）と翻訳技法を接続するモデルの構築 ～夏目漱石『こころ』英訳を対象に～</vt:lpstr>
      <vt:lpstr>流れ</vt:lpstr>
      <vt:lpstr>翻訳の例：訳し方で読者の理解は変わる</vt:lpstr>
      <vt:lpstr>研究目的</vt:lpstr>
      <vt:lpstr>流れ</vt:lpstr>
      <vt:lpstr>分析方法①：文化的要素の抽出 （Newmarkの再定義）</vt:lpstr>
      <vt:lpstr>分析方法②：翻訳技法（Molina＆Albirの再定義）</vt:lpstr>
      <vt:lpstr>分析方法③：DMIS（読者の理解度）の分類（Bennetの再定義）</vt:lpstr>
      <vt:lpstr>分析方法④ クロス集計と統計的分析</vt:lpstr>
      <vt:lpstr>流れ</vt:lpstr>
      <vt:lpstr>分析結果①　全体傾向</vt:lpstr>
      <vt:lpstr>分析結果②　技法×DMISの対応関係ー統計的分析結果</vt:lpstr>
      <vt:lpstr>流れ</vt:lpstr>
      <vt:lpstr>考察①：翻訳フレームワーク</vt:lpstr>
      <vt:lpstr>考察②：辞書における「等価の幻想」</vt:lpstr>
      <vt:lpstr>考察③：読みやすさと異文化理解のトレードオフ</vt:lpstr>
      <vt:lpstr>流れ</vt:lpstr>
      <vt:lpstr>結論 ・ 今後の課題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矢沢柊</dc:creator>
  <cp:lastModifiedBy>柊 矢沢</cp:lastModifiedBy>
  <cp:revision>4</cp:revision>
  <dcterms:modified xsi:type="dcterms:W3CDTF">2026-02-10T03:31:21Z</dcterms:modified>
</cp:coreProperties>
</file>